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3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内容依据：</a:t>
            </a:r>
            <a:r>
              <a:rPr lang="en-US" altLang="zh-CN"/>
              <a:t>OPPO_</a:t>
            </a:r>
            <a:r>
              <a:rPr lang="zh-CN" altLang="en-US"/>
              <a:t>技术路线梳理</a:t>
            </a:r>
            <a:r>
              <a:rPr lang="en-US" altLang="zh-CN"/>
              <a:t>.txt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D827FC-13EC-4534-943C-1B6B237D5F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D191A6-740D-4559-932B-C68CD38E3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16" name="日期占位符 15">
            <a:extLst>
              <a:ext uri="{FF2B5EF4-FFF2-40B4-BE49-F238E27FC236}">
                <a16:creationId xmlns:a16="http://schemas.microsoft.com/office/drawing/2014/main" id="{DC92720F-CEDE-462A-9258-2F6F8E4F4E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17" name="页脚占位符 16">
            <a:extLst>
              <a:ext uri="{FF2B5EF4-FFF2-40B4-BE49-F238E27FC236}">
                <a16:creationId xmlns:a16="http://schemas.microsoft.com/office/drawing/2014/main" id="{01FAF7BB-96E7-474F-8E13-2A3F228E59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39F46F67-CF60-41D7-ADA6-BDE73F9616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D75B2-BB23-4948-84C7-EB6CF064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8EE921-E731-43F3-8919-D567B38E7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4B3765-C182-4421-8F29-6A9DEAAEBEA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4729A8-8D35-4E1E-B947-4B029492F6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570143-5261-415B-8113-51EF8007CD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713B2D-E8C6-43F5-A859-87472410D3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buNone/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0B62CB-720E-4D14-9DC8-B279D19AF5F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EBC76B-9044-435D-93B4-E983D6D6ADB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BFBDAA-2CE0-4826-86F9-FC15D559EA0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76A62A-7005-4B8A-8635-DC17485313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08C66C-5979-4AA9-943C-8C2145027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784C1F-6CFA-4FAE-93E9-F41EB3B62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351BE2-C379-4212-AAB9-07437BE792B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551DC6-0261-4DD5-A68A-10D2D8BE37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1E987A-C040-4F0C-BA48-38851B53EC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488445-9CE9-4801-8575-688F822000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CBCE97-C159-4A8D-BB25-D20DBCB4D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84D4FE-8F76-4E37-B3D6-25C02F2E4F3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0EEC01-B1DC-4313-8539-F35516E76EE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2419646-66E0-4D48-AEB8-A9FCE9E4C41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2DFDDD-8310-42F6-8351-27F8F125191F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5D4EB3D-F163-4969-B497-1252F8D718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B107DFD-FD9F-4976-9EF0-B7B55E5907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7F6A92-5D5F-46AE-93BF-527FD6D13D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054DC-D709-49D8-8331-FC6AE8E36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7A751D-BE1B-40DA-9C0F-042E3D798C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AA8944-91D1-428C-A566-F69CEB78A1F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B27E16-828F-41B4-BF2C-1667452C21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68F2686-FB7E-462C-9EC7-DDD4CB5E88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9584A8-757F-48B4-AE1D-54A674B727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044F15-89E6-4327-A0C6-90FEB269C3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BCE772D-D555-41A5-8F20-149C45C8A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>
              <a:buNone/>
            </a:pPr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097360-FF83-4663-8485-4CE379645D0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F748D8-86DC-47F7-A68F-80B4374969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EFD9D74-47D9-4702-A33C-335B63B48DBF}" type="datetimeFigureOut">
              <a:t>2026-09-20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7D1DEA-A29F-4AAD-B7FB-E4FE2D656C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91BC6B-6A01-426B-8DA0-CB9EF19E71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ABC47A4-756D-490B-A52F-7D9E2C9FC05F}" type="slidenum">
              <a:t>‹#›</a:t>
            </a:fld>
            <a:endParaRPr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4F4E188D-011B-4DC6-B48C-D4EDBF5E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170318-5361-428D-8A0E-984E39D20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anchor="ctr">
            <a:normAutofit/>
          </a:bodyPr>
          <a:lstStyle>
            <a:lvl1pPr>
              <a:buNone/>
              <a:defRPr sz="2800"/>
            </a:lvl1pPr>
          </a:lstStyle>
          <a:p>
            <a:pPr>
              <a:buNone/>
            </a:pPr>
            <a:r>
              <a:t>单击此处编辑标题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4CB72-AAF1-4918-A7DB-1CFCEE6D0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5F2C6F-AC8A-469B-BFD9-FE81950669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EF39F2-BB37-4DF8-9772-A1D5E4B106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B431A0-5D32-4443-8514-CB4FBA2656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7C3940-28EF-4142-B7B8-CB87F29165B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386E29-7E6D-4EA5-9C69-93A4C311F3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0BE97B-BDBD-4151-B6AB-2159534455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05B87756-BC33-45BC-894F-164D91CFB15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92C23E-7253-44AB-9397-C800533DCB9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6B64AD8-89D9-43A1-BCEB-C34CB4CAA5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6365B8-68FE-4E57-A954-41410FA3B7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8204CC8-C14D-4A0B-8988-6EDC2CC99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anchor="t">
            <a:normAutofit/>
          </a:bodyPr>
          <a:lstStyle>
            <a:lvl1pPr algn="ctr">
              <a:buNone/>
              <a:defRPr sz="6000"/>
            </a:lvl1pPr>
          </a:lstStyle>
          <a:p>
            <a:pPr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CE75E29-F427-4503-B2EE-1DAE3AFD398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1663FBA5-BDA6-4C8C-B397-D60D211930AE}"/>
              </a:ext>
            </a:extLst>
          </p:cNvPr>
          <p:cNvSpPr>
            <a:spLocks noGrp="1"/>
          </p:cNvSpPr>
          <p:nvPr/>
        </p:nvSpPr>
        <p:spPr>
          <a:xfrm>
            <a:off x="191344" y="737562"/>
            <a:ext cx="11809312" cy="5067699"/>
          </a:xfrm>
          <a:prstGeom prst="rect">
            <a:avLst/>
          </a:prstGeom>
          <a:solidFill>
            <a:srgbClr val="005BAC">
              <a:alpha val="90000"/>
            </a:srgbClr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文本占位符 73">
            <a:extLst>
              <a:ext uri="{FF2B5EF4-FFF2-40B4-BE49-F238E27FC236}">
                <a16:creationId xmlns:a16="http://schemas.microsoft.com/office/drawing/2014/main" id="{1CD044CB-B0D8-448E-B78F-0071202101E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583773" y="4851298"/>
            <a:ext cx="3024188" cy="358941"/>
          </a:xfrm>
        </p:spPr>
        <p:txBody>
          <a:bodyPr anchor="ctr"/>
          <a:lstStyle>
            <a:lvl1pPr algn="ctr">
              <a:buNone/>
              <a:defRPr sz="18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  <a:lvl2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5pPr>
          </a:lstStyle>
          <a:p>
            <a:pPr>
              <a:buNone/>
            </a:pPr>
            <a:r>
              <a:t>单击此处编辑</a:t>
            </a:r>
          </a:p>
        </p:txBody>
      </p:sp>
      <p:sp>
        <p:nvSpPr>
          <p:cNvPr id="76" name="标题 75">
            <a:extLst>
              <a:ext uri="{FF2B5EF4-FFF2-40B4-BE49-F238E27FC236}">
                <a16:creationId xmlns:a16="http://schemas.microsoft.com/office/drawing/2014/main" id="{B7CA6298-7645-4B76-9C7B-5900BAC51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3867" y="2087714"/>
            <a:ext cx="9144000" cy="677108"/>
          </a:xfrm>
        </p:spPr>
        <p:txBody>
          <a:bodyPr/>
          <a:lstStyle>
            <a:lvl1pPr algn="ctr">
              <a:buNone/>
              <a:defRPr sz="4400" b="1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r>
              <a:t>编辑标题样式</a:t>
            </a:r>
          </a:p>
        </p:txBody>
      </p:sp>
      <p:sp>
        <p:nvSpPr>
          <p:cNvPr id="79" name="文本占位符 78">
            <a:extLst>
              <a:ext uri="{FF2B5EF4-FFF2-40B4-BE49-F238E27FC236}">
                <a16:creationId xmlns:a16="http://schemas.microsoft.com/office/drawing/2014/main" id="{7F7BE5F6-56D0-4E82-B9AB-E1E707A00BB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3431248" y="4266698"/>
            <a:ext cx="5329238" cy="440681"/>
          </a:xfrm>
        </p:spPr>
        <p:txBody>
          <a:bodyPr anchor="ctr"/>
          <a:lstStyle>
            <a:lvl1pPr algn="ctr">
              <a:buNone/>
              <a:defRPr sz="20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电子信息与通信学院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733C61-8216-4B81-8E92-D7C6839AC68A}"/>
              </a:ext>
            </a:extLst>
          </p:cNvPr>
          <p:cNvSpPr>
            <a:spLocks noGrp="1"/>
          </p:cNvSpPr>
          <p:nvPr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142FAE4-9786-4A46-BDEF-71076D530B5A}"/>
              </a:ext>
            </a:extLst>
          </p:cNvPr>
          <p:cNvSpPr>
            <a:spLocks noGrp="1"/>
          </p:cNvSpPr>
          <p:nvPr/>
        </p:nvSpPr>
        <p:spPr>
          <a:xfrm flipH="1">
            <a:off x="11664353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A4C046B-35ED-4F4B-B0F4-433B6A3B0A6C}"/>
              </a:ext>
            </a:extLst>
          </p:cNvPr>
          <p:cNvSpPr>
            <a:spLocks noGrp="1"/>
          </p:cNvSpPr>
          <p:nvPr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A3A01FF-2F41-4BDE-96CD-D24A509B8DE8}"/>
              </a:ext>
            </a:extLst>
          </p:cNvPr>
          <p:cNvSpPr>
            <a:spLocks noGrp="1"/>
          </p:cNvSpPr>
          <p:nvPr/>
        </p:nvSpPr>
        <p:spPr>
          <a:xfrm flipH="1">
            <a:off x="11712656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4" name="直接连接符 23"/>
          <p:cNvCxnSpPr>
            <a:stCxn id="14" idx="2"/>
            <a:endCxn id="15" idx="2"/>
          </p:cNvCxnSpPr>
          <p:nvPr/>
        </p:nvCxnSpPr>
        <p:spPr>
          <a:xfrm>
            <a:off x="455647" y="652498"/>
            <a:ext cx="11280706" cy="0"/>
          </a:xfrm>
          <a:prstGeom prst="line">
            <a:avLst/>
          </a:prstGeom>
          <a:ln w="6350" cap="flat">
            <a:solidFill>
              <a:srgbClr val="005BAD"/>
            </a:solidFill>
            <a:prstDash val="solid"/>
            <a:miter/>
          </a:ln>
        </p:spPr>
      </p:cxnSp>
      <p:pic>
        <p:nvPicPr>
          <p:cNvPr id="305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193" y="5877272"/>
            <a:ext cx="1203613" cy="914400"/>
          </a:xfrm>
          <a:prstGeom prst="rect">
            <a:avLst/>
          </a:prstGeom>
        </p:spPr>
      </p:pic>
      <p:sp>
        <p:nvSpPr>
          <p:cNvPr id="21" name="页脚占位符 136">
            <a:extLst>
              <a:ext uri="{FF2B5EF4-FFF2-40B4-BE49-F238E27FC236}">
                <a16:creationId xmlns:a16="http://schemas.microsoft.com/office/drawing/2014/main" id="{8B54C9D5-2C73-4D6E-90F9-33F606667DC9}"/>
              </a:ext>
            </a:extLst>
          </p:cNvPr>
          <p:cNvSpPr>
            <a:spLocks noGrp="1"/>
          </p:cNvSpPr>
          <p:nvPr/>
        </p:nvSpPr>
        <p:spPr>
          <a:xfrm>
            <a:off x="2895600" y="284390"/>
            <a:ext cx="6400800" cy="364987"/>
          </a:xfrm>
          <a:prstGeom prst="rect">
            <a:avLst/>
          </a:prstGeom>
        </p:spPr>
        <p:txBody>
          <a:bodyPr vert="horz" wrap="none" lIns="91440" tIns="45720" rIns="91440" bIns="45720" anchor="ctr"/>
          <a:lstStyle>
            <a:lvl1pPr marL="0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400">
                <a:solidFill>
                  <a:srgbClr val="005BAC"/>
                </a:solidFill>
                <a:latin typeface="微软雅黑"/>
                <a:ea typeface="微软雅黑"/>
                <a:cs typeface="微软雅黑"/>
              </a:rPr>
              <a:t>明德厚学 求是创新</a:t>
            </a:r>
          </a:p>
        </p:txBody>
      </p:sp>
      <p:sp>
        <p:nvSpPr>
          <p:cNvPr id="25" name="文本占位符 78">
            <a:extLst>
              <a:ext uri="{FF2B5EF4-FFF2-40B4-BE49-F238E27FC236}">
                <a16:creationId xmlns:a16="http://schemas.microsoft.com/office/drawing/2014/main" id="{A3195E40-966D-4383-8765-FC401833B07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351451" y="2944162"/>
            <a:ext cx="7488832" cy="440681"/>
          </a:xfrm>
        </p:spPr>
        <p:txBody>
          <a:bodyPr anchor="ctr"/>
          <a:lstStyle>
            <a:lvl1pPr algn="ctr">
              <a:buNone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编辑副标题</a:t>
            </a:r>
          </a:p>
        </p:txBody>
      </p:sp>
      <p:sp>
        <p:nvSpPr>
          <p:cNvPr id="26" name="文本占位符 78">
            <a:extLst>
              <a:ext uri="{FF2B5EF4-FFF2-40B4-BE49-F238E27FC236}">
                <a16:creationId xmlns:a16="http://schemas.microsoft.com/office/drawing/2014/main" id="{FC7891A1-B4C6-46BD-A955-71C3D974ABE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431248" y="3732590"/>
            <a:ext cx="5329238" cy="440681"/>
          </a:xfrm>
        </p:spPr>
        <p:txBody>
          <a:bodyPr anchor="ctr"/>
          <a:lstStyle>
            <a:lvl1pPr algn="ctr">
              <a:buNone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xxx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Straight Arrow Connector 4"/>
          <p:cNvCxnSpPr/>
          <p:nvPr/>
        </p:nvCxnSpPr>
        <p:spPr>
          <a:xfrm>
            <a:off x="-1145117" y="6303964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Arrow Connector 5"/>
          <p:cNvCxnSpPr/>
          <p:nvPr/>
        </p:nvCxnSpPr>
        <p:spPr>
          <a:xfrm>
            <a:off x="4720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Arrow Connector 7"/>
          <p:cNvCxnSpPr/>
          <p:nvPr/>
        </p:nvCxnSpPr>
        <p:spPr>
          <a:xfrm>
            <a:off x="11703051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Arrow Connector 8"/>
          <p:cNvCxnSpPr/>
          <p:nvPr/>
        </p:nvCxnSpPr>
        <p:spPr>
          <a:xfrm>
            <a:off x="-1145117" y="12588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9"/>
          <p:cNvCxnSpPr/>
          <p:nvPr/>
        </p:nvCxnSpPr>
        <p:spPr>
          <a:xfrm>
            <a:off x="-1145117" y="7635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10"/>
          <p:cNvCxnSpPr/>
          <p:nvPr/>
        </p:nvCxnSpPr>
        <p:spPr>
          <a:xfrm>
            <a:off x="58568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Arrow Connector 11"/>
          <p:cNvCxnSpPr/>
          <p:nvPr/>
        </p:nvCxnSpPr>
        <p:spPr>
          <a:xfrm>
            <a:off x="6335184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6">
            <a:extLst>
              <a:ext uri="{FF2B5EF4-FFF2-40B4-BE49-F238E27FC236}">
                <a16:creationId xmlns:a16="http://schemas.microsoft.com/office/drawing/2014/main" id="{960A2AB8-24E5-402F-BD05-4E4F7773E26C}"/>
              </a:ext>
            </a:extLst>
          </p:cNvPr>
          <p:cNvSpPr>
            <a:spLocks noGrp="1"/>
          </p:cNvSpPr>
          <p:nvPr/>
        </p:nvSpPr>
        <p:spPr>
          <a:xfrm>
            <a:off x="-2423583" y="6581776"/>
            <a:ext cx="2239433" cy="2762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White markers indicate position of  Drawing Guides</a:t>
            </a: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816D9D75-5ED9-438D-BAFB-60E52F4EEC7C}"/>
              </a:ext>
            </a:extLst>
          </p:cNvPr>
          <p:cNvSpPr>
            <a:spLocks noGrp="1"/>
          </p:cNvSpPr>
          <p:nvPr/>
        </p:nvSpPr>
        <p:spPr>
          <a:xfrm>
            <a:off x="-1255183" y="896938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7.40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2.91 Inches</a:t>
            </a:r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C72E5887-D42D-4561-8490-9D84415B44D5}"/>
              </a:ext>
            </a:extLst>
          </p:cNvPr>
          <p:cNvSpPr>
            <a:spLocks noGrp="1"/>
          </p:cNvSpPr>
          <p:nvPr/>
        </p:nvSpPr>
        <p:spPr>
          <a:xfrm>
            <a:off x="-1255183" y="15049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6.00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2.36 Inches</a:t>
            </a: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280CC5A8-EF79-4781-8053-815653A129D1}"/>
              </a:ext>
            </a:extLst>
          </p:cNvPr>
          <p:cNvSpPr>
            <a:spLocks noGrp="1"/>
          </p:cNvSpPr>
          <p:nvPr/>
        </p:nvSpPr>
        <p:spPr>
          <a:xfrm>
            <a:off x="-1255183" y="5921375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8.00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3.15 Inches</a:t>
            </a:r>
          </a:p>
        </p:txBody>
      </p:sp>
      <p:sp>
        <p:nvSpPr>
          <p:cNvPr id="17" name="TextBox 20">
            <a:extLst>
              <a:ext uri="{FF2B5EF4-FFF2-40B4-BE49-F238E27FC236}">
                <a16:creationId xmlns:a16="http://schemas.microsoft.com/office/drawing/2014/main" id="{C356099A-FA8D-405D-8BCC-EDFB94BFD4DC}"/>
              </a:ext>
            </a:extLst>
          </p:cNvPr>
          <p:cNvSpPr>
            <a:spLocks noGrp="1"/>
          </p:cNvSpPr>
          <p:nvPr/>
        </p:nvSpPr>
        <p:spPr>
          <a:xfrm>
            <a:off x="478368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11.70 cm</a:t>
            </a:r>
          </a:p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 4.61 inches</a:t>
            </a:r>
          </a:p>
        </p:txBody>
      </p:sp>
      <p:sp>
        <p:nvSpPr>
          <p:cNvPr id="18" name="TextBox 21">
            <a:extLst>
              <a:ext uri="{FF2B5EF4-FFF2-40B4-BE49-F238E27FC236}">
                <a16:creationId xmlns:a16="http://schemas.microsoft.com/office/drawing/2014/main" id="{BB9E398F-52CB-4C46-8B02-3DE0A6B13E08}"/>
              </a:ext>
            </a:extLst>
          </p:cNvPr>
          <p:cNvSpPr>
            <a:spLocks noGrp="1"/>
          </p:cNvSpPr>
          <p:nvPr/>
        </p:nvSpPr>
        <p:spPr>
          <a:xfrm>
            <a:off x="4770968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0.50 cm 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0.2 inches </a:t>
            </a:r>
          </a:p>
        </p:txBody>
      </p:sp>
      <p:sp>
        <p:nvSpPr>
          <p:cNvPr id="19" name="TextBox 22">
            <a:extLst>
              <a:ext uri="{FF2B5EF4-FFF2-40B4-BE49-F238E27FC236}">
                <a16:creationId xmlns:a16="http://schemas.microsoft.com/office/drawing/2014/main" id="{B47805AC-2EF0-441C-97BB-E71FEE2AC1F2}"/>
              </a:ext>
            </a:extLst>
          </p:cNvPr>
          <p:cNvSpPr>
            <a:spLocks noGrp="1"/>
          </p:cNvSpPr>
          <p:nvPr/>
        </p:nvSpPr>
        <p:spPr>
          <a:xfrm>
            <a:off x="6350001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Aft>
                <a:spcPts val="300"/>
              </a:spcAft>
              <a:buChar char="ß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0.50 cm</a:t>
            </a:r>
          </a:p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 0.2 inches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FAE8641A-FC9E-470B-9C29-AE3021BF1275}"/>
              </a:ext>
            </a:extLst>
          </p:cNvPr>
          <p:cNvSpPr>
            <a:spLocks noGrp="1"/>
          </p:cNvSpPr>
          <p:nvPr/>
        </p:nvSpPr>
        <p:spPr>
          <a:xfrm>
            <a:off x="10627785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11.70 cm 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4.61 inches </a:t>
            </a:r>
          </a:p>
        </p:txBody>
      </p:sp>
      <p:cxnSp>
        <p:nvCxnSpPr>
          <p:cNvPr id="479" name="Straight Arrow Connector 20"/>
          <p:cNvCxnSpPr/>
          <p:nvPr/>
        </p:nvCxnSpPr>
        <p:spPr>
          <a:xfrm rot="5400000" flipH="1" flipV="1">
            <a:off x="-296863" y="1308630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Arrow Connector 21"/>
          <p:cNvCxnSpPr/>
          <p:nvPr/>
        </p:nvCxnSpPr>
        <p:spPr>
          <a:xfrm rot="5400000" flipH="1" flipV="1">
            <a:off x="-296863" y="81174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Straight Arrow Connector 22"/>
          <p:cNvCxnSpPr/>
          <p:nvPr/>
        </p:nvCxnSpPr>
        <p:spPr>
          <a:xfrm rot="5400000" flipH="1" flipV="1">
            <a:off x="-296863" y="624099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utoShape 4">
            <a:extLst>
              <a:ext uri="{FF2B5EF4-FFF2-40B4-BE49-F238E27FC236}">
                <a16:creationId xmlns:a16="http://schemas.microsoft.com/office/drawing/2014/main" id="{4CD9ABC4-8223-4F02-ACB0-D63D0B95EECF}"/>
              </a:ext>
            </a:extLst>
          </p:cNvPr>
          <p:cNvSpPr>
            <a:spLocks noGrp="1"/>
          </p:cNvSpPr>
          <p:nvPr/>
        </p:nvSpPr>
        <p:spPr>
          <a:xfrm>
            <a:off x="-2055284" y="0"/>
            <a:ext cx="1871133" cy="692497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>
            <a:spAutoFit/>
          </a:bodyPr>
          <a:lstStyle/>
          <a:p>
            <a:pPr>
              <a:buNone/>
            </a:pPr>
            <a:r>
              <a:rPr sz="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To view  drawing guides:</a:t>
            </a:r>
          </a:p>
          <a:p>
            <a:pPr>
              <a:buNone/>
            </a:pPr>
            <a:endParaRPr sz="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Right-click on slide and select ’Grid and Guides...’</a:t>
            </a: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Check ’Display drawing guides on screen’</a:t>
            </a: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Select ’OK’</a:t>
            </a:r>
          </a:p>
        </p:txBody>
      </p:sp>
      <p:sp>
        <p:nvSpPr>
          <p:cNvPr id="64" name="内容占位符 3">
            <a:extLst>
              <a:ext uri="{FF2B5EF4-FFF2-40B4-BE49-F238E27FC236}">
                <a16:creationId xmlns:a16="http://schemas.microsoft.com/office/drawing/2014/main" id="{D7011FCB-A859-4BFD-83F2-0660B72F7BA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77838" y="1066523"/>
            <a:ext cx="11231562" cy="5317329"/>
          </a:xfrm>
        </p:spPr>
        <p:txBody>
          <a:bodyPr vert="horz" lIns="91440" tIns="45720" rIns="91440" bIns="45720">
            <a:normAutofit/>
          </a:bodyPr>
          <a:lstStyle>
            <a:lvl1pPr marL="0" indent="0" algn="l">
              <a:lnSpc>
                <a:spcPct val="150000"/>
              </a:lnSpc>
              <a:spcBef>
                <a:spcPts val="15"/>
              </a:spcBef>
              <a:buNone/>
              <a:defRPr sz="20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marL="179705" indent="-179705" algn="l">
              <a:lnSpc>
                <a:spcPct val="150000"/>
              </a:lnSpc>
              <a:spcBef>
                <a:spcPts val="400"/>
              </a:spcBef>
              <a:buChar char="n"/>
              <a:defRPr sz="18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2pPr>
            <a:lvl3pPr marL="358775" indent="-179705" algn="l">
              <a:lnSpc>
                <a:spcPct val="150000"/>
              </a:lnSpc>
              <a:spcBef>
                <a:spcPts val="400"/>
              </a:spcBef>
              <a:buChar char="n"/>
              <a:defRPr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3pPr>
            <a:lvl4pPr marL="539750" indent="-179705" algn="l">
              <a:lnSpc>
                <a:spcPct val="150000"/>
              </a:lnSpc>
              <a:spcBef>
                <a:spcPts val="400"/>
              </a:spcBef>
              <a:buChar char="n"/>
              <a:defRPr sz="14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4pPr>
            <a:lvl5pPr marL="2114550" indent="-285750">
              <a:buChar char="n"/>
              <a:defRPr sz="1400" b="0" i="0">
                <a:solidFill>
                  <a:schemeClr val="tx2"/>
                </a:solidFill>
                <a:latin typeface="等线"/>
                <a:ea typeface="等线"/>
                <a:cs typeface="等线"/>
              </a:defRPr>
            </a:lvl5pPr>
          </a:lstStyle>
          <a:p>
            <a:pPr marL="0" indent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单击此处编辑母版文本样式</a:t>
            </a:r>
          </a:p>
          <a:p>
            <a:pPr marL="179705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8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第二级</a:t>
            </a:r>
          </a:p>
          <a:p>
            <a:pPr marL="358775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6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第三级</a:t>
            </a:r>
          </a:p>
          <a:p>
            <a:pPr marL="539750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6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第四级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06F666D-3D77-45CE-9E36-7D43AAB1AFBF}"/>
              </a:ext>
            </a:extLst>
          </p:cNvPr>
          <p:cNvSpPr>
            <a:spLocks noGrp="1"/>
          </p:cNvSpPr>
          <p:nvPr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A9F9444-981D-482B-B1B1-E6B8B90BD969}"/>
              </a:ext>
            </a:extLst>
          </p:cNvPr>
          <p:cNvSpPr>
            <a:spLocks noGrp="1"/>
          </p:cNvSpPr>
          <p:nvPr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日期占位符 135">
            <a:extLst>
              <a:ext uri="{FF2B5EF4-FFF2-40B4-BE49-F238E27FC236}">
                <a16:creationId xmlns:a16="http://schemas.microsoft.com/office/drawing/2014/main" id="{AEAC94EA-4735-4835-8D0B-6AF5E5DBC1BE}"/>
              </a:ext>
            </a:extLst>
          </p:cNvPr>
          <p:cNvSpPr>
            <a:spLocks noGrp="1"/>
          </p:cNvSpPr>
          <p:nvPr/>
        </p:nvSpPr>
        <p:spPr>
          <a:xfrm>
            <a:off x="9048328" y="6555494"/>
            <a:ext cx="2883976" cy="267573"/>
          </a:xfrm>
          <a:prstGeom prst="rect">
            <a:avLst/>
          </a:prstGeom>
        </p:spPr>
        <p:txBody>
          <a:bodyPr anchor="ctr"/>
          <a:lstStyle>
            <a:lvl1pPr marL="0" algn="r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r>
              <a:rPr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华中科技大学电子信息与通信学院</a:t>
            </a:r>
          </a:p>
        </p:txBody>
      </p:sp>
      <p:sp>
        <p:nvSpPr>
          <p:cNvPr id="60" name="页脚占位符 136">
            <a:extLst>
              <a:ext uri="{FF2B5EF4-FFF2-40B4-BE49-F238E27FC236}">
                <a16:creationId xmlns:a16="http://schemas.microsoft.com/office/drawing/2014/main" id="{0E878418-DF82-4DAF-B41B-267BBB6CF5A0}"/>
              </a:ext>
            </a:extLst>
          </p:cNvPr>
          <p:cNvSpPr>
            <a:spLocks noGrp="1"/>
          </p:cNvSpPr>
          <p:nvPr/>
        </p:nvSpPr>
        <p:spPr>
          <a:xfrm>
            <a:off x="187688" y="6552438"/>
            <a:ext cx="2880000" cy="27368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明德厚学 求是创新</a:t>
            </a:r>
          </a:p>
        </p:txBody>
      </p:sp>
      <p:sp>
        <p:nvSpPr>
          <p:cNvPr id="61" name="Slide Number Placeholder 5">
            <a:extLst>
              <a:ext uri="{FF2B5EF4-FFF2-40B4-BE49-F238E27FC236}">
                <a16:creationId xmlns:a16="http://schemas.microsoft.com/office/drawing/2014/main" id="{17029273-9C77-40E6-9DCD-4AEAEAF594B8}"/>
              </a:ext>
            </a:extLst>
          </p:cNvPr>
          <p:cNvSpPr>
            <a:spLocks noGrp="1"/>
          </p:cNvSpPr>
          <p:nvPr/>
        </p:nvSpPr>
        <p:spPr>
          <a:xfrm>
            <a:off x="5853936" y="6626574"/>
            <a:ext cx="480484" cy="125413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 marL="0" algn="l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fld id="{73DA0BB7-265A-403C-9275-D587AB510EDC}" type="slidenum">
              <a:rPr b="0"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‹#›</a:t>
            </a:fld>
            <a:endParaRPr b="0">
              <a:solidFill>
                <a:srgbClr val="005BAD">
                  <a:alpha val="75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直接连接符 23">
            <a:extLst>
              <a:ext uri="{FF2B5EF4-FFF2-40B4-BE49-F238E27FC236}">
                <a16:creationId xmlns:a16="http://schemas.microsoft.com/office/drawing/2014/main" id="{E253B85C-8C1F-412F-9C7F-095F739F2DB1}"/>
              </a:ext>
            </a:extLst>
          </p:cNvPr>
          <p:cNvSpPr>
            <a:spLocks noGrp="1"/>
          </p:cNvSpPr>
          <p:nvPr/>
        </p:nvSpPr>
        <p:spPr>
          <a:xfrm>
            <a:off x="0" y="908720"/>
            <a:ext cx="12192000" cy="12363"/>
          </a:xfrm>
          <a:prstGeom prst="line">
            <a:avLst/>
          </a:prstGeom>
          <a:noFill/>
          <a:ln w="6350">
            <a:solidFill>
              <a:srgbClr val="005BAD">
                <a:alpha val="80000"/>
              </a:srgbClr>
            </a:solidFill>
            <a:prstDash val="solid"/>
          </a:ln>
        </p:spPr>
      </p:sp>
      <p:sp>
        <p:nvSpPr>
          <p:cNvPr id="63" name="直接连接符 23">
            <a:extLst>
              <a:ext uri="{FF2B5EF4-FFF2-40B4-BE49-F238E27FC236}">
                <a16:creationId xmlns:a16="http://schemas.microsoft.com/office/drawing/2014/main" id="{BD997483-1081-451E-8214-A9CE4E2AC154}"/>
              </a:ext>
            </a:extLst>
          </p:cNvPr>
          <p:cNvSpPr>
            <a:spLocks noGrp="1"/>
          </p:cNvSpPr>
          <p:nvPr/>
        </p:nvSpPr>
        <p:spPr>
          <a:xfrm>
            <a:off x="-2381" y="6512981"/>
            <a:ext cx="12192000" cy="12363"/>
          </a:xfrm>
          <a:prstGeom prst="line">
            <a:avLst/>
          </a:prstGeom>
          <a:noFill/>
          <a:ln w="6350">
            <a:solidFill>
              <a:srgbClr val="005BAD">
                <a:alpha val="75000"/>
              </a:srgbClr>
            </a:solidFill>
            <a:prstDash val="solid"/>
          </a:ln>
        </p:spPr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2F6DEA72-91AD-4351-9CAD-117F5BDD4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430887"/>
          </a:xfrm>
        </p:spPr>
        <p:txBody>
          <a:bodyPr lIns="108000"/>
          <a:lstStyle>
            <a:lvl1pPr>
              <a:buNone/>
              <a:defRPr sz="2800" b="1">
                <a:latin typeface="微软雅黑"/>
                <a:ea typeface="微软雅黑"/>
                <a:cs typeface="微软雅黑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492" name="HUST Soli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279400"/>
            <a:ext cx="952500" cy="59482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2F185F6-9137-4DFB-B797-3A9101BB7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3E79E5-3F5F-4ED2-8393-FB980B24A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FE5CCB-59CA-4982-9F85-C811B6D1BA9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t>2026-09-20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3843F2-921C-4A04-A4B2-C0C698A3A29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F50A50-05BE-4F64-9B56-8F57DD8A58E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>
        <a:lnSpc>
          <a:spcPct val="100000"/>
        </a:lnSpc>
        <a:buNone/>
        <a:defRPr sz="3600" b="0" u="none" cap="none" spc="30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130000"/>
        </a:lnSpc>
        <a:spcBef>
          <a:spcPts val="0"/>
        </a:spcBef>
        <a:spcAft>
          <a:spcPts val="1000"/>
        </a:spcAft>
        <a:buChar char="●"/>
        <a:defRPr sz="18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marL="6858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11430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600200" indent="-228600" algn="l">
        <a:lnSpc>
          <a:spcPct val="120000"/>
        </a:lnSpc>
        <a:spcBef>
          <a:spcPts val="0"/>
        </a:spcBef>
        <a:spcAft>
          <a:spcPts val="300"/>
        </a:spcAft>
        <a:buChar char="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2057400" indent="-228600" algn="l">
        <a:lnSpc>
          <a:spcPct val="120000"/>
        </a:lnSpc>
        <a:spcBef>
          <a:spcPts val="0"/>
        </a:spcBef>
        <a:spcAft>
          <a:spcPts val="300"/>
        </a:spcAft>
        <a:buChar char="•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title">
            <a:extLst>
              <a:ext uri="{FF2B5EF4-FFF2-40B4-BE49-F238E27FC236}">
                <a16:creationId xmlns:a16="http://schemas.microsoft.com/office/drawing/2014/main" id="{34FCF1B0-383E-411C-AC5A-4680BA8F2732}"/>
              </a:ext>
            </a:extLst>
          </p:cNvPr>
          <p:cNvSpPr>
            <a:spLocks noGrp="1"/>
          </p:cNvSpPr>
          <p:nvPr/>
        </p:nvSpPr>
        <p:spPr>
          <a:xfrm>
            <a:off x="1524000" y="1764030"/>
            <a:ext cx="9144000" cy="19595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0202" tIns="46958" rIns="90202" bIns="46958" anchor="ctr">
            <a:noAutofit/>
          </a:bodyPr>
          <a:lstStyle/>
          <a:p>
            <a:pPr algn="ctr">
              <a:buNone/>
            </a:pPr>
            <a:r>
              <a:rPr lang="zh-CN" altLang="en-US" sz="31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深度引导的视频虚化</a:t>
            </a:r>
          </a:p>
          <a:p>
            <a:pPr algn="ctr">
              <a:buNone/>
            </a:pPr>
            <a:r>
              <a:rPr lang="zh-CN" altLang="en-US" sz="20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基线方法复现结果</a:t>
            </a:r>
            <a:endParaRPr sz="2000" b="1">
              <a:solidFill>
                <a:srgbClr val="D9EEF9"/>
              </a:solidFill>
              <a:latin typeface="Microsoft YaHei" panose="020B0503020204020204" pitchFamily="34" charset="-122"/>
              <a:ea typeface="Microsoft YaHei"/>
              <a:cs typeface="Microsoft YaHei"/>
            </a:endParaRPr>
          </a:p>
        </p:txBody>
      </p:sp>
      <p:sp>
        <p:nvSpPr>
          <p:cNvPr id="2" name="cover-subtitle">
            <a:extLst>
              <a:ext uri="{FF2B5EF4-FFF2-40B4-BE49-F238E27FC236}">
                <a16:creationId xmlns:a16="http://schemas.microsoft.com/office/drawing/2014/main" id="{9E702C5D-B811-466D-87B9-4469F8E55496}"/>
              </a:ext>
            </a:extLst>
          </p:cNvPr>
          <p:cNvSpPr>
            <a:spLocks noGrp="1"/>
          </p:cNvSpPr>
          <p:nvPr/>
        </p:nvSpPr>
        <p:spPr>
          <a:xfrm>
            <a:off x="3335655" y="4516088"/>
            <a:ext cx="21793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4874CB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3" name="cover-line">
            <a:extLst>
              <a:ext uri="{FF2B5EF4-FFF2-40B4-BE49-F238E27FC236}">
                <a16:creationId xmlns:a16="http://schemas.microsoft.com/office/drawing/2014/main" id="{156E7023-1426-46F1-88A1-85B75EFCF0E6}"/>
              </a:ext>
            </a:extLst>
          </p:cNvPr>
          <p:cNvSpPr>
            <a:spLocks noGrp="1"/>
          </p:cNvSpPr>
          <p:nvPr/>
        </p:nvSpPr>
        <p:spPr>
          <a:xfrm>
            <a:off x="3159728" y="4580287"/>
            <a:ext cx="2531078" cy="4388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0011" tIns="46768" rIns="90011" bIns="46768" anchor="ctr">
            <a:normAutofit/>
          </a:bodyPr>
          <a:lstStyle/>
          <a:p>
            <a:pPr algn="ctr">
              <a:buNone/>
              <a:defRPr sz="200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rPr>
              <a:t>汇报人：孟辰洋</a:t>
            </a:r>
          </a:p>
        </p:txBody>
      </p:sp>
      <p:sp>
        <p:nvSpPr>
          <p:cNvPr id="4" name="cover-meta">
            <a:extLst>
              <a:ext uri="{FF2B5EF4-FFF2-40B4-BE49-F238E27FC236}">
                <a16:creationId xmlns:a16="http://schemas.microsoft.com/office/drawing/2014/main" id="{A9B675D7-E24D-45A9-A92F-1E365CD38FDE}"/>
              </a:ext>
            </a:extLst>
          </p:cNvPr>
          <p:cNvSpPr>
            <a:spLocks noGrp="1"/>
          </p:cNvSpPr>
          <p:nvPr/>
        </p:nvSpPr>
        <p:spPr>
          <a:xfrm>
            <a:off x="6307455" y="4516088"/>
            <a:ext cx="21793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4874CB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D9ECFA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5" name="cover-date">
            <a:extLst>
              <a:ext uri="{FF2B5EF4-FFF2-40B4-BE49-F238E27FC236}">
                <a16:creationId xmlns:a16="http://schemas.microsoft.com/office/drawing/2014/main" id="{B30BD35B-0B78-4147-8308-E7DBA3CFAF23}"/>
              </a:ext>
            </a:extLst>
          </p:cNvPr>
          <p:cNvSpPr>
            <a:spLocks noGrp="1"/>
          </p:cNvSpPr>
          <p:nvPr/>
        </p:nvSpPr>
        <p:spPr>
          <a:xfrm>
            <a:off x="6131528" y="4580287"/>
            <a:ext cx="2531078" cy="4388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tIns="45720" rIns="91440" bIns="4572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000" b="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00" b="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rPr>
              <a:t>时间：2026.09.30</a:t>
            </a:r>
            <a:endParaRPr sz="2000" b="0">
              <a:solidFill>
                <a:srgbClr val="4874CB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58490399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合成数据效果展示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" y="1024128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01F37"/>
                </a:solidFill>
                <a:latin typeface="Arial"/>
                <a:ea typeface="Microsoft YaHei"/>
              </a:rPr>
              <a:t>同一帧：输入、真值与六种方法结果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1600200"/>
            <a:ext cx="10515600" cy="4389120"/>
          </a:xfrm>
          <a:prstGeom prst="rect">
            <a:avLst/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6B7A90"/>
                </a:solidFill>
                <a:latin typeface="Arial"/>
                <a:ea typeface="Microsoft YaHei"/>
              </a:rPr>
              <a:t>效果图待补充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真实视频效果展示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" y="1024128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01F37"/>
                </a:solidFill>
                <a:latin typeface="Arial"/>
                <a:ea typeface="Microsoft YaHei"/>
              </a:rPr>
              <a:t>同一帧：输入与六种方法结果（真实视频无虚化真值）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1600200"/>
            <a:ext cx="10515600" cy="4389120"/>
          </a:xfrm>
          <a:prstGeom prst="rect">
            <a:avLst/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0">
                <a:solidFill>
                  <a:srgbClr val="6B7A90"/>
                </a:solidFill>
                <a:latin typeface="Arial"/>
                <a:ea typeface="Microsoft YaHei"/>
              </a:rPr>
              <a:t>效果图待补充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合成数据定量结果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" y="1024128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01F37"/>
                </a:solidFill>
                <a:latin typeface="Arial"/>
                <a:ea typeface="Microsoft YaHei"/>
              </a:rPr>
              <a:t>200 段合成视频 × 25 帧，1024×576，有虚化真值；上表为本项目复现结果，下表为论文报告值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68679" y="1463040"/>
          <a:ext cx="10332720" cy="22677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本项目复现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PSNR ↑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SSIM ↑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LPIPS ↓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FVD ↓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FD ↓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RM ↓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DeepLens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28.17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0.944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0.063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40.12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0.583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0.0124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Dr.Bokeh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31.59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0.973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0.029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25.86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0.479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0.0084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BokehMe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33.33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0.979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0.025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18.55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0.540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0.0074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MPIB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31.62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0.974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0.028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24.96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0.450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0.0082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BokehDiff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27.06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0.844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0.132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66.00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0.802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0.0216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Any-to-Bokeh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39.71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0.986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0.015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8.94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0.445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0.0056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0D569A"/>
                          </a:solidFill>
                          <a:latin typeface="Arial"/>
                          <a:ea typeface="Microsoft YaHei"/>
                        </a:rPr>
                        <a:t>平均绝对偏差</a:t>
                      </a:r>
                    </a:p>
                  </a:txBody>
                  <a:tcPr anchor="ctr" marL="45720" marR="45720" marT="18288" marB="18288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D569A"/>
                          </a:solidFill>
                          <a:latin typeface="Arial"/>
                          <a:ea typeface="Microsoft YaHei"/>
                        </a:rPr>
                        <a:t>1.79</a:t>
                      </a:r>
                    </a:p>
                  </a:txBody>
                  <a:tcPr anchor="ctr" marL="45720" marR="45720" marT="18288" marB="18288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D569A"/>
                          </a:solidFill>
                          <a:latin typeface="Arial"/>
                          <a:ea typeface="Microsoft YaHei"/>
                        </a:rPr>
                        <a:t>0.040</a:t>
                      </a:r>
                    </a:p>
                  </a:txBody>
                  <a:tcPr anchor="ctr" marL="45720" marR="45720" marT="18288" marB="18288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D569A"/>
                          </a:solidFill>
                          <a:latin typeface="Arial"/>
                          <a:ea typeface="Microsoft YaHei"/>
                        </a:rPr>
                        <a:t>0.032</a:t>
                      </a:r>
                    </a:p>
                  </a:txBody>
                  <a:tcPr anchor="ctr" marL="45720" marR="45720" marT="18288" marB="18288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D569A"/>
                          </a:solidFill>
                          <a:latin typeface="Arial"/>
                          <a:ea typeface="Microsoft YaHei"/>
                        </a:rPr>
                        <a:t>20.64</a:t>
                      </a:r>
                    </a:p>
                  </a:txBody>
                  <a:tcPr anchor="ctr" marL="45720" marR="45720" marT="18288" marB="18288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D569A"/>
                          </a:solidFill>
                          <a:latin typeface="Arial"/>
                          <a:ea typeface="Microsoft YaHei"/>
                        </a:rPr>
                        <a:t>0.136</a:t>
                      </a:r>
                    </a:p>
                  </a:txBody>
                  <a:tcPr anchor="ctr" marL="45720" marR="45720" marT="18288" marB="18288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0D569A"/>
                          </a:solidFill>
                          <a:latin typeface="Arial"/>
                          <a:ea typeface="Microsoft YaHei"/>
                        </a:rPr>
                        <a:t>0.0051</a:t>
                      </a:r>
                    </a:p>
                  </a:txBody>
                  <a:tcPr anchor="ctr" marL="45720" marR="45720" marT="18288" marB="18288">
                    <a:solidFill>
                      <a:srgbClr val="DCE9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68679" y="3840480"/>
          <a:ext cx="10332720" cy="226771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03120"/>
                <a:gridCol w="1371600"/>
                <a:gridCol w="1371600"/>
                <a:gridCol w="1371600"/>
                <a:gridCol w="1371600"/>
                <a:gridCol w="1371600"/>
                <a:gridCol w="1371600"/>
              </a:tblGrid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论文报告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PSNR ↑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SSIM ↑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LPIPS ↓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FVD ↓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FD ↓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RM ↓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DeepLens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24.574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0.819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0.183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125.338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1.162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0.030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Dr.Bokeh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31.273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0.950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0.046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32.710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0.522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0.011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BokehMe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27.992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0.936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0.060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39.102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0.536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0.013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MPIB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31.390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0.950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0.040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35.766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0.481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0.011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BokehDiff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27.525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0.834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0.127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65.678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0.660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0.021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Any-to-Bokeh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38.899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0.974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0.019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9.005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0.431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0.007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6B7A90"/>
                          </a:solidFill>
                          <a:latin typeface="Arial"/>
                          <a:ea typeface="Microsoft YaHei"/>
                        </a:rPr>
                        <a:t>BokehCrafter*</a:t>
                      </a:r>
                    </a:p>
                  </a:txBody>
                  <a:tcPr anchor="ctr" marL="45720" marR="45720" marT="18288" marB="18288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6B7A90"/>
                          </a:solidFill>
                          <a:latin typeface="Arial"/>
                          <a:ea typeface="Microsoft YaHei"/>
                        </a:rPr>
                        <a:t>27.86</a:t>
                      </a:r>
                    </a:p>
                  </a:txBody>
                  <a:tcPr anchor="ctr" marL="45720" marR="45720" marT="18288" marB="18288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6B7A90"/>
                          </a:solidFill>
                          <a:latin typeface="Arial"/>
                          <a:ea typeface="Microsoft YaHei"/>
                        </a:rPr>
                        <a:t>0.886</a:t>
                      </a:r>
                    </a:p>
                  </a:txBody>
                  <a:tcPr anchor="ctr" marL="45720" marR="45720" marT="18288" marB="18288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6B7A90"/>
                          </a:solidFill>
                          <a:latin typeface="Arial"/>
                          <a:ea typeface="Microsoft YaHei"/>
                        </a:rPr>
                        <a:t>0.122</a:t>
                      </a:r>
                    </a:p>
                  </a:txBody>
                  <a:tcPr anchor="ctr" marL="45720" marR="45720" marT="18288" marB="18288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6B7A90"/>
                          </a:solidFill>
                          <a:latin typeface="Arial"/>
                          <a:ea typeface="Microsoft YaHei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6B7A90"/>
                          </a:solidFill>
                          <a:latin typeface="Arial"/>
                          <a:ea typeface="Microsoft YaHei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DCE9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6B7A90"/>
                          </a:solidFill>
                          <a:latin typeface="Arial"/>
                          <a:ea typeface="Microsoft YaHei"/>
                        </a:rPr>
                        <a:t>—</a:t>
                      </a:r>
                    </a:p>
                  </a:txBody>
                  <a:tcPr anchor="ctr" marL="45720" marR="45720" marT="18288" marB="18288">
                    <a:solidFill>
                      <a:srgbClr val="DCE9F5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868679" y="6144768"/>
            <a:ext cx="10332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200" b="0">
                <a:solidFill>
                  <a:srgbClr val="6B7A90"/>
                </a:solidFill>
                <a:latin typeface="Arial"/>
                <a:ea typeface="Microsoft YaHei"/>
              </a:rPr>
              <a:t>* BokehCrafter 未开源，无法复现；数值取自其论文（自建 VBS 数据集，三档虚化平均），数据集不同，仅作参考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真实视频定量结果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" y="1024128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01F37"/>
                </a:solidFill>
                <a:latin typeface="Arial"/>
                <a:ea typeface="Microsoft YaHei"/>
              </a:rPr>
              <a:t>DAVIS 真实视频 50 段 × 25 帧，无虚化真值；VEPI 衡量主体边缘保留程度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1737360" y="1645920"/>
          <a:ext cx="8595360" cy="3520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43200"/>
                <a:gridCol w="2926080"/>
                <a:gridCol w="292608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方法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VEPI ↑（本项目）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VEPI ↑（论文）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DeepLens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0.929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0.715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Dr.Bokeh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0.877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0.863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BokehMe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0.954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0.937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MPIB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0.930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0.921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BokehDiff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0.847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0.859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Any-to-Bokeh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0.950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0.944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模型计算成本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" y="1024128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01F37"/>
                </a:solidFill>
                <a:latin typeface="Arial"/>
                <a:ea typeface="Microsoft YaHei"/>
              </a:rPr>
              <a:t>同一块 GPU（RTX PRO 6000）、1024×576、串行测量；时间只计模型本体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914400" y="1645920"/>
          <a:ext cx="10241280" cy="32918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  <a:gridCol w="256032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方法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单帧时间 (s) ↓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参数量 (M) ↓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峰值显存 (GiB) ↓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Dr.Bokeh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0.288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50.98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2.88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BokehMe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0.015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1.16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1.01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MPIB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0.253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41.53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2.43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BokehDiff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1.104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3493.43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18.37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Any-to-Bokeh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0.505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2457.81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38.47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视频端到端效率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" y="1024128"/>
            <a:ext cx="1051560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0">
                <a:solidFill>
                  <a:srgbClr val="101F37"/>
                </a:solidFill>
                <a:latin typeface="Arial"/>
                <a:ea typeface="Microsoft YaHei"/>
              </a:rPr>
              <a:t>25 帧视频从读入输入到输出结果的总耗时；DeepLens 为 CPU 版本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914400" y="1645920"/>
          <a:ext cx="10241280" cy="35204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377440"/>
                <a:gridCol w="1371600"/>
                <a:gridCol w="2286000"/>
                <a:gridCol w="1828800"/>
                <a:gridCol w="237744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方法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设备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25 帧耗时 (s) ↓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FPS ↑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7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峰值内存 (GiB) ↓</a:t>
                      </a:r>
                    </a:p>
                  </a:txBody>
                  <a:tcPr anchor="ctr" marL="45720" marR="45720" marT="18288" marB="18288">
                    <a:solidFill>
                      <a:srgbClr val="0D569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DeepLens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CPU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26.45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0.95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1.36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Dr.Bokeh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GPU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20.62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1.21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2.88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BokehMe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GPU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1.19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21.08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1.01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MPIB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GPU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7.68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3.25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2.43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BokehDiff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GPU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28.17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0.89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18.34</a:t>
                      </a:r>
                    </a:p>
                  </a:txBody>
                  <a:tcPr anchor="ctr" marL="45720" marR="45720" marT="18288" marB="18288">
                    <a:solidFill>
                      <a:srgbClr val="EEF5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Any-to-Bokeh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GPU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14.08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1.78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38.47</a:t>
                      </a:r>
                    </a:p>
                  </a:txBody>
                  <a:tcPr anchor="ctr"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下一步规划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07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0DB1E63-8F98-56F0-5AD9-E321506A6914}"/>
              </a:ext>
            </a:extLst>
          </p:cNvPr>
          <p:cNvSpPr>
            <a:spLocks noGrp="1"/>
          </p:cNvSpPr>
          <p:nvPr/>
        </p:nvSpPr>
        <p:spPr>
          <a:xfrm>
            <a:off x="777240" y="1234440"/>
            <a:ext cx="18097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新增基线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0248E8E-737C-9BE3-5CB0-2F225DFAD313}"/>
              </a:ext>
            </a:extLst>
          </p:cNvPr>
          <p:cNvSpPr>
            <a:spLocks noGrp="1"/>
          </p:cNvSpPr>
          <p:nvPr/>
        </p:nvSpPr>
        <p:spPr>
          <a:xfrm>
            <a:off x="2926080" y="1234440"/>
            <a:ext cx="832104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600"/>
              </a:spcAft>
              <a:def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计划加入 MagicBokeh：单图输入，自行预测深度并用于虚化</a:t>
            </a:r>
          </a:p>
          <a:p>
            <a:pPr algn="l">
              <a:spcAft>
                <a:spcPts val="600"/>
              </a:spcAft>
              <a:def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与现有六种方法使用同一套数据和指标比较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2286000"/>
            <a:ext cx="10469880" cy="0"/>
          </a:xfrm>
          <a:prstGeom prst="line">
            <a:avLst/>
          </a:prstGeom>
          <a:ln w="9525">
            <a:solidFill>
              <a:srgbClr val="22C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A0DB1E63-8F98-56F0-5AD9-E321506A6914}"/>
              </a:ext>
            </a:extLst>
          </p:cNvPr>
          <p:cNvSpPr>
            <a:spLocks noGrp="1"/>
          </p:cNvSpPr>
          <p:nvPr/>
        </p:nvSpPr>
        <p:spPr>
          <a:xfrm>
            <a:off x="777240" y="2423160"/>
            <a:ext cx="18097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低帧率评价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0248E8E-737C-9BE3-5CB0-2F225DFAD313}"/>
              </a:ext>
            </a:extLst>
          </p:cNvPr>
          <p:cNvSpPr>
            <a:spLocks noGrp="1"/>
          </p:cNvSpPr>
          <p:nvPr/>
        </p:nvSpPr>
        <p:spPr>
          <a:xfrm>
            <a:off x="2926080" y="2423160"/>
            <a:ext cx="832104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600"/>
              </a:spcAft>
              <a:def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深度帧率降到 15 / 10 / 5 / 2 fps，缺失帧用统一的简单方法补齐</a:t>
            </a:r>
          </a:p>
          <a:p>
            <a:pPr algn="l">
              <a:spcAft>
                <a:spcPts val="600"/>
              </a:spcAft>
              <a:def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比较各基线方法随深度帧率下降的变化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77240" y="3474720"/>
            <a:ext cx="10469880" cy="0"/>
          </a:xfrm>
          <a:prstGeom prst="line">
            <a:avLst/>
          </a:prstGeom>
          <a:ln w="9525">
            <a:solidFill>
              <a:srgbClr val="22C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A0DB1E63-8F98-56F0-5AD9-E321506A6914}"/>
              </a:ext>
            </a:extLst>
          </p:cNvPr>
          <p:cNvSpPr>
            <a:spLocks noGrp="1"/>
          </p:cNvSpPr>
          <p:nvPr/>
        </p:nvSpPr>
        <p:spPr>
          <a:xfrm>
            <a:off x="777240" y="3611880"/>
            <a:ext cx="18097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自研方法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0248E8E-737C-9BE3-5CB0-2F225DFAD313}"/>
              </a:ext>
            </a:extLst>
          </p:cNvPr>
          <p:cNvSpPr>
            <a:spLocks noGrp="1"/>
          </p:cNvSpPr>
          <p:nvPr/>
        </p:nvSpPr>
        <p:spPr>
          <a:xfrm>
            <a:off x="2926080" y="3611880"/>
            <a:ext cx="832104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600"/>
              </a:spcAft>
              <a:def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根据基线结果中暴露的问题确定方法设计</a:t>
            </a:r>
          </a:p>
          <a:p>
            <a:pPr algn="l">
              <a:spcAft>
                <a:spcPts val="600"/>
              </a:spcAft>
              <a:def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重点关注低帧率深度补全、主体边界和时序稳定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4663440"/>
            <a:ext cx="10469880" cy="0"/>
          </a:xfrm>
          <a:prstGeom prst="line">
            <a:avLst/>
          </a:prstGeom>
          <a:ln w="9525">
            <a:solidFill>
              <a:srgbClr val="22C7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A0DB1E63-8F98-56F0-5AD9-E321506A6914}"/>
              </a:ext>
            </a:extLst>
          </p:cNvPr>
          <p:cNvSpPr>
            <a:spLocks noGrp="1"/>
          </p:cNvSpPr>
          <p:nvPr/>
        </p:nvSpPr>
        <p:spPr>
          <a:xfrm>
            <a:off x="777240" y="4800600"/>
            <a:ext cx="180975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D569A"/>
                </a:solidFill>
                <a:latin typeface="Microsoft YaHei"/>
                <a:ea typeface="Microsoft YaHei"/>
                <a:cs typeface="Microsoft YaHei"/>
              </a:rPr>
              <a:t>自建数据集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0248E8E-737C-9BE3-5CB0-2F225DFAD313}"/>
              </a:ext>
            </a:extLst>
          </p:cNvPr>
          <p:cNvSpPr>
            <a:spLocks noGrp="1"/>
          </p:cNvSpPr>
          <p:nvPr/>
        </p:nvSpPr>
        <p:spPr>
          <a:xfrm>
            <a:off x="2926080" y="4800600"/>
            <a:ext cx="8321040" cy="914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spcAft>
                <a:spcPts val="600"/>
              </a:spcAft>
              <a:def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构建贴近课题输入的数据：高帧率 RGB + 低帧率粗深度 + 对焦参数</a:t>
            </a:r>
          </a:p>
          <a:p>
            <a:pPr algn="l">
              <a:spcAft>
                <a:spcPts val="600"/>
              </a:spcAft>
              <a:def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所有方法使用相同输入，在独立测试集上检验泛化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1255</Words>
  <Application>Microsoft Office PowerPoint</Application>
  <DocSecurity>0</DocSecurity>
  <PresentationFormat>宽屏</PresentationFormat>
  <Paragraphs>173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等线</vt:lpstr>
      <vt:lpstr>微软雅黑</vt:lpstr>
      <vt:lpstr>微软雅黑</vt:lpstr>
      <vt:lpstr>微软雅黑 Light</vt:lpstr>
      <vt:lpstr>Arial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辰洋 孟</cp:lastModifiedBy>
  <cp:revision>12</cp:revision>
  <dcterms:created xsi:type="dcterms:W3CDTF">2026-08-21T05:34:17Z</dcterms:created>
  <dcterms:modified xsi:type="dcterms:W3CDTF">2026-09-20T07:48:37Z</dcterms:modified>
</cp:coreProperties>
</file>