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33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内容依据：</a:t>
            </a:r>
            <a:r>
              <a:rPr lang="en-US" altLang="zh-CN"/>
              <a:t>OPPO_</a:t>
            </a:r>
            <a:r>
              <a:rPr lang="zh-CN" altLang="en-US"/>
              <a:t>技术路线梳理</a:t>
            </a:r>
            <a:r>
              <a:rPr lang="en-US" altLang="zh-CN"/>
              <a:t>.txt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素材来源：Any-to-Bokeh 官方项目页 https://vivocameraresearch.github.io/any2bokeh/；本地复现：DAVIS v2，Any-to-Bokeh 官方权重，K=16，前25帧。上下两行来自不同视频，只展示效果，不构成相同输入下的官方/本地精度比较。每行输入与输出已合成一个同步视频；放映时点击对应视频播放，循环至停止。本地片段为25帧、20fps、1.25秒循环，循环跳回首帧不代表模型产生时序跳变。真实视频无虚化GT；短片演示不能证明长视频无闪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素材来源：Any-to-Bokeh 官方项目页 https://vivocameraresearch.github.io/any2bokeh/；本地复现：DAVIS v2，Any-to-Bokeh 官方权重，K=16，前25帧。上下两行来自不同视频，只展示效果，不构成相同输入下的官方/本地精度比较。每行输入与输出已合成一个同步视频；放映时点击对应视频播放，循环至停止。本地片段为25帧、20fps、1.25秒循环，循环跳回首帧不代表模型产生时序跳变。真实视频无虚化GT；短片演示不能证明长视频无闪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2026-09-20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5.png"/><Relationship Id="rId5" Type="http://schemas.microsoft.com/office/2007/relationships/media" Target="../media/media4.mp4"/><Relationship Id="rId6" Type="http://schemas.openxmlformats.org/officeDocument/2006/relationships/video" Target="../media/media4.mp4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ver-title">
            <a:extLst>
              <a:ext uri="{FF2B5EF4-FFF2-40B4-BE49-F238E27FC236}">
                <a16:creationId xmlns:a16="http://schemas.microsoft.com/office/drawing/2014/main" id="{34FCF1B0-383E-411C-AC5A-4680BA8F2732}"/>
              </a:ext>
            </a:extLst>
          </p:cNvPr>
          <p:cNvSpPr>
            <a:spLocks noGrp="1"/>
          </p:cNvSpPr>
          <p:nvPr/>
        </p:nvSpPr>
        <p:spPr>
          <a:xfrm>
            <a:off x="1524000" y="1764030"/>
            <a:ext cx="9144000" cy="19595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0202" tIns="46958" rIns="90202" bIns="46958" anchor="ctr">
            <a:noAutofit/>
          </a:bodyPr>
          <a:lstStyle/>
          <a:p>
            <a:pPr algn="ctr">
              <a:buNone/>
            </a:pPr>
            <a:r>
              <a:rPr lang="zh-CN" altLang="en-US" sz="31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深度引导的视频虚化</a:t>
            </a:r>
          </a:p>
          <a:p>
            <a:pPr algn="ctr">
              <a:buNone/>
            </a:pPr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基线方法复现结果</a:t>
            </a:r>
            <a:endParaRPr sz="2000" b="1">
              <a:solidFill>
                <a:srgbClr val="D9EEF9"/>
              </a:solidFill>
              <a:latin typeface="Microsoft YaHei" panose="020B0503020204020204" pitchFamily="34" charset="-122"/>
              <a:ea typeface="Microsoft YaHei"/>
              <a:cs typeface="Microsoft YaHei"/>
            </a:endParaRPr>
          </a:p>
        </p:txBody>
      </p:sp>
      <p:sp>
        <p:nvSpPr>
          <p:cNvPr id="2" name="cover-subtitle">
            <a:extLst>
              <a:ext uri="{FF2B5EF4-FFF2-40B4-BE49-F238E27FC236}">
                <a16:creationId xmlns:a16="http://schemas.microsoft.com/office/drawing/2014/main" id="{9E702C5D-B811-466D-87B9-4469F8E55496}"/>
              </a:ext>
            </a:extLst>
          </p:cNvPr>
          <p:cNvSpPr>
            <a:spLocks noGrp="1"/>
          </p:cNvSpPr>
          <p:nvPr/>
        </p:nvSpPr>
        <p:spPr>
          <a:xfrm>
            <a:off x="33356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cover-line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31597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汇报人：孟辰洋</a:t>
            </a:r>
          </a:p>
        </p:txBody>
      </p:sp>
      <p:sp>
        <p:nvSpPr>
          <p:cNvPr id="4" name="cover-meta">
            <a:extLst>
              <a:ext uri="{FF2B5EF4-FFF2-40B4-BE49-F238E27FC236}">
                <a16:creationId xmlns:a16="http://schemas.microsoft.com/office/drawing/2014/main" id="{A9B675D7-E24D-45A9-A92F-1E365CD38FDE}"/>
              </a:ext>
            </a:extLst>
          </p:cNvPr>
          <p:cNvSpPr>
            <a:spLocks noGrp="1"/>
          </p:cNvSpPr>
          <p:nvPr/>
        </p:nvSpPr>
        <p:spPr>
          <a:xfrm>
            <a:off x="63074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D9ECF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" name="cover-date">
            <a:extLst>
              <a:ext uri="{FF2B5EF4-FFF2-40B4-BE49-F238E27FC236}">
                <a16:creationId xmlns:a16="http://schemas.microsoft.com/office/drawing/2014/main" id="{B30BD35B-0B78-4147-8308-E7DBA3CFAF23}"/>
              </a:ext>
            </a:extLst>
          </p:cNvPr>
          <p:cNvSpPr>
            <a:spLocks noGrp="1"/>
          </p:cNvSpPr>
          <p:nvPr/>
        </p:nvSpPr>
        <p:spPr>
          <a:xfrm>
            <a:off x="61315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1440" tIns="45720" rIns="91440" bIns="4572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0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时间：2026.09.30</a:t>
            </a:r>
            <a:endParaRPr sz="2000" b="0">
              <a:solidFill>
                <a:srgbClr val="4874CB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5849039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主体保留与背景虚化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990088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输入视频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Any-to-Bokeh 输出</a:t>
            </a:r>
          </a:p>
        </p:txBody>
      </p:sp>
      <p:pic>
        <p:nvPicPr>
          <p:cNvPr id="25" name="goa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990088" y="1463040"/>
            <a:ext cx="8101583" cy="2269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86384" y="181051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官方演示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226771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山羊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275234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作者项目页
4.5 秒视频</a:t>
            </a:r>
          </a:p>
        </p:txBody>
      </p:sp>
      <p:pic>
        <p:nvPicPr>
          <p:cNvPr id="29" name="blackswan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990088" y="3840480"/>
            <a:ext cx="8101583" cy="22697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86384" y="418795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本地复现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464515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黑天鹅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512978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DAVIS · 官方权重
K = 16 · 25 帧循环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" y="6245352"/>
            <a:ext cx="61264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01F37"/>
                </a:solidFill>
                <a:latin typeface="Arial"/>
                <a:ea typeface="Microsoft YaHei"/>
              </a:rPr>
              <a:t>观察：背景变虚，主体与细节保留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6245352"/>
            <a:ext cx="42976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B7A90"/>
                </a:solidFill>
                <a:latin typeface="Arial"/>
                <a:ea typeface="Microsoft YaHei"/>
              </a:rPr>
              <a:t>官方来源：vivocameraresearch.github.io/any2bokeh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 repeatCount="indefinite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  <p:video>
              <p:cMediaNode vol="0">
                <p:cTn id="3" fill="hold" display="0" repeatCount="indefinite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运动场景下的视频虚化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990088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输入视频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1024128"/>
            <a:ext cx="40507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0D569A"/>
                </a:solidFill>
                <a:latin typeface="Arial"/>
                <a:ea typeface="Microsoft YaHei"/>
              </a:rPr>
              <a:t>Any-to-Bokeh 输出</a:t>
            </a:r>
          </a:p>
        </p:txBody>
      </p:sp>
      <p:pic>
        <p:nvPicPr>
          <p:cNvPr id="25" name="danc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990088" y="1463040"/>
            <a:ext cx="8101583" cy="226970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86384" y="181051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官方演示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226771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舞蹈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275234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作者项目页
4.5 秒视频</a:t>
            </a:r>
          </a:p>
        </p:txBody>
      </p:sp>
      <p:pic>
        <p:nvPicPr>
          <p:cNvPr id="29" name="breakdance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990088" y="3840480"/>
            <a:ext cx="8101583" cy="22697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86384" y="4187952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0D569A"/>
                </a:solidFill>
                <a:latin typeface="Arial"/>
                <a:ea typeface="Microsoft YaHei"/>
              </a:rPr>
              <a:t>本地复现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" y="4645152"/>
            <a:ext cx="19659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900" b="1">
                <a:solidFill>
                  <a:srgbClr val="101F37"/>
                </a:solidFill>
                <a:latin typeface="Arial"/>
                <a:ea typeface="Microsoft YaHei"/>
              </a:rPr>
              <a:t>街舞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5129784"/>
            <a:ext cx="2084831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A90"/>
                </a:solidFill>
                <a:latin typeface="Arial"/>
                <a:ea typeface="Microsoft YaHei"/>
              </a:rPr>
              <a:t>DAVIS · 官方权重
K = 16 · 25 帧循环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" y="6245352"/>
            <a:ext cx="61264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101F37"/>
                </a:solidFill>
                <a:latin typeface="Arial"/>
                <a:ea typeface="Microsoft YaHei"/>
              </a:rPr>
              <a:t>观察：运动主体、肢体边界与连续帧变化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6245352"/>
            <a:ext cx="429768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B7A90"/>
                </a:solidFill>
                <a:latin typeface="Arial"/>
                <a:ea typeface="Microsoft YaHei"/>
              </a:rPr>
              <a:t>官方来源：vivocameraresearch.github.io/any2bokeh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 repeatCount="indefinite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  <p:video>
              <p:cMediaNode vol="0">
                <p:cTn id="3" fill="hold" display="0" repeatCount="indefinite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合成数据定量结果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200 段合成视频 × 25 帧，1024×576，有虚化真值；上表为本项目复现结果，下表为论文报告值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68679" y="1463040"/>
          <a:ext cx="10332720" cy="22677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本项目复现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28.17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40.12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0.583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0.0124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31.59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25.86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0.479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33.33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0.540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31.62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24.96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27.06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0.132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66.00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39.71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0.986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8.94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0.445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0.0056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平均绝对偏差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1.79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0.040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0.032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20.64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0.136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D569A"/>
                          </a:solidFill>
                          <a:latin typeface="Arial"/>
                          <a:ea typeface="Microsoft YaHei"/>
                        </a:rPr>
                        <a:t>0.0051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868679" y="3840480"/>
          <a:ext cx="10332720" cy="22677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论文报告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24.574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0.819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0.183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125.338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0.030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31.273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0.046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32.710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0.522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27.992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39.102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31.390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0.040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35.766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0.481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27.525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0.834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0.127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65.678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38.899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9.005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0.431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BokehCrafter*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27.86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0.886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0.122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anchor="ctr" marL="45720" marR="45720" marT="18288" marB="18288">
                    <a:solidFill>
                      <a:srgbClr val="DCE9F5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868679" y="6144768"/>
            <a:ext cx="10332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6B7A90"/>
                </a:solidFill>
                <a:latin typeface="Arial"/>
                <a:ea typeface="Microsoft YaHei"/>
              </a:rPr>
              <a:t>* BokehCrafter 未开源，无法复现；数值取自其论文（自建 VBS 数据集，三档虚化平均），数据集不同，仅作参考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真实视频定量结果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DAVIS 真实视频 50 段 × 25 帧，无虚化真值；VEPI 衡量主体边缘保留程度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737360" y="1645920"/>
          <a:ext cx="859536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2926080"/>
                <a:gridCol w="29260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↑（本项目）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↑（论文）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0.715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0.863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0.859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模型计算成本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同一块 GPU（RTX PRO 6000）、1024×576、串行测量；时间只计模型本体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  <a:gridCol w="25603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单帧时间 (s)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参数量 (M)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峰值显存 (GiB)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0.288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50.98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2.88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1.01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0.253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41.53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2.43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1.104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3493.43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18.37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0.505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2457.81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38.47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视频端到端效率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25 帧视频从读入输入到输出结果的总耗时；DeepLens 为 CPU 版本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371600"/>
                <a:gridCol w="2286000"/>
                <a:gridCol w="18288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设备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25 帧耗时 (s)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FPS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峰值内存 (GiB)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26.45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20.62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1.21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2.88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21.08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1.01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7.68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3.25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2.43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28.17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18.34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14.08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1.78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38.47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下一步规划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123444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新增基线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123444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计划加入 MagicBokeh：单图输入，自行预测深度并用于虚化</a:t>
            </a:r>
          </a:p>
          <a:p>
            <a:pPr algn="l">
              <a:spcAft>
                <a:spcPts val="600"/>
              </a:spcAft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与现有六种方法使用同一套数据和指标比较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77240" y="2286000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242316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低帧率评价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242316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深度帧率降到 15 / 10 / 5 / 2 fps，缺失帧用统一的简单方法补齐</a:t>
            </a:r>
          </a:p>
          <a:p>
            <a:pPr algn="l">
              <a:spcAft>
                <a:spcPts val="600"/>
              </a:spcAft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比较各基线方法随深度帧率下降的变化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7240" y="3474720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361188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自研方法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361188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根据基线结果中暴露的问题确定方法设计</a:t>
            </a:r>
          </a:p>
          <a:p>
            <a:pPr algn="l">
              <a:spcAft>
                <a:spcPts val="600"/>
              </a:spcAft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重点关注低帧率深度补全、主体边界和时序稳定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77240" y="4663440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480060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自建数据集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480060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构建贴近课题输入的数据：高帧率 RGB + 低帧率粗深度 + 对焦参数</a:t>
            </a:r>
          </a:p>
          <a:p>
            <a:pPr algn="l">
              <a:spcAft>
                <a:spcPts val="600"/>
              </a:spcAft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所有方法使用相同输入，在独立测试集上检验泛化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1255</Words>
  <Application>Microsoft Office PowerPoint</Application>
  <DocSecurity>0</DocSecurity>
  <PresentationFormat>宽屏</PresentationFormat>
  <Paragraphs>173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7" baseType="lpstr">
      <vt:lpstr>等线</vt:lpstr>
      <vt:lpstr>微软雅黑</vt:lpstr>
      <vt:lpstr>微软雅黑</vt:lpstr>
      <vt:lpstr>微软雅黑 Light</vt:lpstr>
      <vt:lpstr>Arial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12</cp:revision>
  <dcterms:created xsi:type="dcterms:W3CDTF">2026-08-21T05:34:17Z</dcterms:created>
  <dcterms:modified xsi:type="dcterms:W3CDTF">2026-09-20T07:48:37Z</dcterms:modified>
</cp:coreProperties>
</file>