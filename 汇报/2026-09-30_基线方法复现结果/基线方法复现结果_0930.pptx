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33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内容依据：</a:t>
            </a:r>
            <a:r>
              <a:rPr lang="en-US" altLang="zh-CN"/>
              <a:t>OPPO_</a:t>
            </a:r>
            <a:r>
              <a:rPr lang="zh-CN" altLang="en-US"/>
              <a:t>技术路线梳理</a:t>
            </a:r>
            <a:r>
              <a:rPr lang="en-US" altLang="zh-CN"/>
              <a:t>.txt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D827FC-13EC-4534-943C-1B6B237D5F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3D191A6-740D-4559-932B-C68CD38E3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>
            <a:extLst>
              <a:ext uri="{FF2B5EF4-FFF2-40B4-BE49-F238E27FC236}">
                <a16:creationId xmlns:a16="http://schemas.microsoft.com/office/drawing/2014/main" id="{DC92720F-CEDE-462A-9258-2F6F8E4F4E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01FAF7BB-96E7-474F-8E13-2A3F228E59E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39F46F67-CF60-41D7-ADA6-BDE73F9616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1D75B2-BB23-4948-84C7-EB6CF064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8EE921-E731-43F3-8919-D567B38E7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4B3765-C182-4421-8F29-6A9DEAAEBEA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729A8-8D35-4E1E-B947-4B029492F6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70143-5261-415B-8113-51EF8007CD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713B2D-E8C6-43F5-A859-87472410D3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44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0B62CB-720E-4D14-9DC8-B279D19AF5F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EBC76B-9044-435D-93B4-E983D6D6ADB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BFBDAA-2CE0-4826-86F9-FC15D559EA0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776A62A-7005-4B8A-8635-DC17485313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08C66C-5979-4AA9-943C-8C2145027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784C1F-6CFA-4FAE-93E9-F41EB3B62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0351BE2-C379-4212-AAB9-07437BE792B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F551DC6-0261-4DD5-A68A-10D2D8BE37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51E987A-C040-4F0C-BA48-38851B53EC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488445-9CE9-4801-8575-688F822000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CBCE97-C159-4A8D-BB25-D20DBCB4D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84D4FE-8F76-4E37-B3D6-25C02F2E4F3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0EEC01-B1DC-4313-8539-F35516E76EE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2419646-66E0-4D48-AEB8-A9FCE9E4C41A}"/>
              </a:ext>
            </a:extLst>
          </p:cNvPr>
          <p:cNvSpPr>
            <a:spLocks noGrp="1"/>
          </p:cNvSpPr>
          <p:nvPr>
            <p:ph type="body" idx="3" hasCustomPrompt="1"/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D2DFDDD-8310-42F6-8351-27F8F125191F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5D4EB3D-F163-4969-B497-1252F8D7186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B107DFD-FD9F-4976-9EF0-B7B55E5907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B7F6A92-5D5F-46AE-93BF-527FD6D13D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7054DC-D709-49D8-8331-FC6AE8E36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D7A751D-BE1B-40DA-9C0F-042E3D798C1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EAA8944-91D1-428C-A566-F69CEB78A1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2B27E16-828F-41B4-BF2C-1667452C21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68F2686-FB7E-462C-9EC7-DDD4CB5E88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C9584A8-757F-48B4-AE1D-54A674B7270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044F15-89E6-4327-A0C6-90FEB269C3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BCE772D-D555-41A5-8F20-149C45C8AF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097360-FF83-4663-8485-4CE379645D0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5F748D8-86DC-47F7-A68F-80B4374969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EFD9D74-47D9-4702-A33C-335B63B48DBF}" type="datetimeFigureOut">
              <a:t>2026-09-20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7D1DEA-A29F-4AAD-B7FB-E4FE2D656C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291BC6B-6A01-426B-8DA0-CB9EF19E71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ABC47A4-756D-490B-A52F-7D9E2C9FC05F}" type="slidenum">
              <a:t>‹#›</a:t>
            </a:fld>
            <a:endParaRPr/>
          </a:p>
        </p:txBody>
      </p:sp>
      <p:sp>
        <p:nvSpPr>
          <p:cNvPr id="9" name="标题 8">
            <a:extLst>
              <a:ext uri="{FF2B5EF4-FFF2-40B4-BE49-F238E27FC236}">
                <a16:creationId xmlns:a16="http://schemas.microsoft.com/office/drawing/2014/main" id="{4F4E188D-011B-4DC6-B48C-D4EDBF5E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A170318-5361-428D-8A0E-984E39D20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74CB72-AAF1-4918-A7DB-1CFCEE6D0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buNone/>
              <a:defRPr spc="300"/>
            </a:lvl1pPr>
            <a:lvl2pPr marL="685800" indent="-228600">
              <a:buNone/>
              <a:defRPr spc="300"/>
            </a:lvl2pPr>
            <a:lvl3pPr marL="1143000" indent="-228600">
              <a:buNone/>
              <a:defRPr spc="300"/>
            </a:lvl3pPr>
            <a:lvl4pPr marL="1600200" indent="-228600">
              <a:buNone/>
              <a:defRPr spc="300"/>
            </a:lvl4pPr>
            <a:lvl5pPr marL="2057400" indent="-228600">
              <a:buNone/>
              <a:defRPr spc="300"/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5F2C6F-AC8A-469B-BFD9-FE81950669C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EF39F2-BB37-4DF8-9772-A1D5E4B106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B431A0-5D32-4443-8514-CB4FBA2656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27C3940-28EF-4142-B7B8-CB87F29165B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386E29-7E6D-4EA5-9C69-93A4C311F35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60BE97B-BDBD-4151-B6AB-2159534455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05B87756-BC33-45BC-894F-164D91CFB15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992C23E-7253-44AB-9397-C800533DCB9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6B64AD8-89D9-43A1-BCEB-C34CB4CAA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C6365B8-68FE-4E57-A954-41410FA3B7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8204CC8-C14D-4A0B-8988-6EDC2CC99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60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CE75E29-F427-4503-B2EE-1DAE3AFD398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663FBA5-BDA6-4C8C-B397-D60D211930AE}"/>
              </a:ext>
            </a:extLst>
          </p:cNvPr>
          <p:cNvSpPr>
            <a:spLocks noGrp="1"/>
          </p:cNvSpPr>
          <p:nvPr/>
        </p:nvSpPr>
        <p:spPr>
          <a:xfrm>
            <a:off x="191344" y="737562"/>
            <a:ext cx="11809312" cy="5067699"/>
          </a:xfrm>
          <a:prstGeom prst="rect">
            <a:avLst/>
          </a:prstGeom>
          <a:solidFill>
            <a:srgbClr val="005BAC">
              <a:alpha val="90000"/>
            </a:srgbClr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文本占位符 73">
            <a:extLst>
              <a:ext uri="{FF2B5EF4-FFF2-40B4-BE49-F238E27FC236}">
                <a16:creationId xmlns:a16="http://schemas.microsoft.com/office/drawing/2014/main" id="{1CD044CB-B0D8-448E-B78F-0071202101E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83773" y="4851298"/>
            <a:ext cx="3024188" cy="358941"/>
          </a:xfrm>
        </p:spPr>
        <p:txBody>
          <a:bodyPr anchor="ctr"/>
          <a:lstStyle>
            <a:lvl1pPr algn="ctr">
              <a:buNone/>
              <a:defRPr sz="18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  <a:lvl2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2pPr>
            <a:lvl3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3pPr>
            <a:lvl4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4pPr>
            <a:lvl5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5pPr>
          </a:lstStyle>
          <a:p>
            <a:pPr>
              <a:buNone/>
            </a:pPr>
            <a:r>
              <a:t>单击此处编辑</a:t>
            </a:r>
          </a:p>
        </p:txBody>
      </p:sp>
      <p:sp>
        <p:nvSpPr>
          <p:cNvPr id="76" name="标题 75">
            <a:extLst>
              <a:ext uri="{FF2B5EF4-FFF2-40B4-BE49-F238E27FC236}">
                <a16:creationId xmlns:a16="http://schemas.microsoft.com/office/drawing/2014/main" id="{B7CA6298-7645-4B76-9C7B-5900BAC516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3867" y="2087714"/>
            <a:ext cx="9144000" cy="677108"/>
          </a:xfrm>
        </p:spPr>
        <p:txBody>
          <a:bodyPr/>
          <a:lstStyle>
            <a:lvl1pPr algn="ctr">
              <a:buNone/>
              <a:defRPr sz="4400" b="1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r>
              <a:t>编辑标题样式</a:t>
            </a:r>
          </a:p>
        </p:txBody>
      </p:sp>
      <p:sp>
        <p:nvSpPr>
          <p:cNvPr id="79" name="文本占位符 78">
            <a:extLst>
              <a:ext uri="{FF2B5EF4-FFF2-40B4-BE49-F238E27FC236}">
                <a16:creationId xmlns:a16="http://schemas.microsoft.com/office/drawing/2014/main" id="{7F7BE5F6-56D0-4E82-B9AB-E1E707A00BB2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3431248" y="4266698"/>
            <a:ext cx="5329238" cy="440681"/>
          </a:xfrm>
        </p:spPr>
        <p:txBody>
          <a:bodyPr anchor="ctr"/>
          <a:lstStyle>
            <a:lvl1pPr algn="ctr">
              <a:buNone/>
              <a:defRPr sz="20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电子信息与通信学院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2733C61-8216-4B81-8E92-D7C6839AC68A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142FAE4-9786-4A46-BDEF-71076D530B5A}"/>
              </a:ext>
            </a:extLst>
          </p:cNvPr>
          <p:cNvSpPr>
            <a:spLocks noGrp="1"/>
          </p:cNvSpPr>
          <p:nvPr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A4C046B-35ED-4F4B-B0F4-433B6A3B0A6C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A3A01FF-2F41-4BDE-96CD-D24A509B8DE8}"/>
              </a:ext>
            </a:extLst>
          </p:cNvPr>
          <p:cNvSpPr>
            <a:spLocks noGrp="1"/>
          </p:cNvSpPr>
          <p:nvPr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04" name="直接连接符 23"/>
          <p:cNvCxnSpPr>
            <a:stCxn id="14" idx="2"/>
            <a:endCxn id="15" idx="2"/>
          </p:cNvCxnSpPr>
          <p:nvPr/>
        </p:nvCxnSpPr>
        <p:spPr>
          <a:xfrm>
            <a:off x="455647" y="652498"/>
            <a:ext cx="11280706" cy="0"/>
          </a:xfrm>
          <a:prstGeom prst="line">
            <a:avLst/>
          </a:prstGeom>
          <a:ln w="6350" cap="flat">
            <a:solidFill>
              <a:srgbClr val="005BAD"/>
            </a:solidFill>
            <a:prstDash val="solid"/>
            <a:miter/>
          </a:ln>
        </p:spPr>
      </p:cxnSp>
      <p:pic>
        <p:nvPicPr>
          <p:cNvPr id="305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193" y="5877272"/>
            <a:ext cx="1203613" cy="914400"/>
          </a:xfrm>
          <a:prstGeom prst="rect">
            <a:avLst/>
          </a:prstGeom>
        </p:spPr>
      </p:pic>
      <p:sp>
        <p:nvSpPr>
          <p:cNvPr id="21" name="页脚占位符 136">
            <a:extLst>
              <a:ext uri="{FF2B5EF4-FFF2-40B4-BE49-F238E27FC236}">
                <a16:creationId xmlns:a16="http://schemas.microsoft.com/office/drawing/2014/main" id="{8B54C9D5-2C73-4D6E-90F9-33F606667DC9}"/>
              </a:ext>
            </a:extLst>
          </p:cNvPr>
          <p:cNvSpPr>
            <a:spLocks noGrp="1"/>
          </p:cNvSpPr>
          <p:nvPr/>
        </p:nvSpPr>
        <p:spPr>
          <a:xfrm>
            <a:off x="2895600" y="284390"/>
            <a:ext cx="6400800" cy="364987"/>
          </a:xfrm>
          <a:prstGeom prst="rect">
            <a:avLst/>
          </a:prstGeom>
        </p:spPr>
        <p:txBody>
          <a:bodyPr vert="horz" wrap="none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r>
              <a:rPr sz="1400">
                <a:solidFill>
                  <a:srgbClr val="005BAC"/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25" name="文本占位符 78">
            <a:extLst>
              <a:ext uri="{FF2B5EF4-FFF2-40B4-BE49-F238E27FC236}">
                <a16:creationId xmlns:a16="http://schemas.microsoft.com/office/drawing/2014/main" id="{A3195E40-966D-4383-8765-FC401833B0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51451" y="2944162"/>
            <a:ext cx="7488832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编辑副标题</a:t>
            </a:r>
          </a:p>
        </p:txBody>
      </p:sp>
      <p:sp>
        <p:nvSpPr>
          <p:cNvPr id="26" name="文本占位符 78">
            <a:extLst>
              <a:ext uri="{FF2B5EF4-FFF2-40B4-BE49-F238E27FC236}">
                <a16:creationId xmlns:a16="http://schemas.microsoft.com/office/drawing/2014/main" id="{FC7891A1-B4C6-46BD-A955-71C3D974AB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31248" y="3732590"/>
            <a:ext cx="5329238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xxx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4" name="Straight Arrow Connector 4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Straight Arrow Connector 5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Straight Arrow Connector 7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7" name="Straight Arrow Connector 8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Straight Arrow Connector 9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Straight Arrow Connector 10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Straight Arrow Connector 11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6">
            <a:extLst>
              <a:ext uri="{FF2B5EF4-FFF2-40B4-BE49-F238E27FC236}">
                <a16:creationId xmlns:a16="http://schemas.microsoft.com/office/drawing/2014/main" id="{960A2AB8-24E5-402F-BD05-4E4F7773E26C}"/>
              </a:ext>
            </a:extLst>
          </p:cNvPr>
          <p:cNvSpPr>
            <a:spLocks noGrp="1"/>
          </p:cNvSpPr>
          <p:nvPr/>
        </p:nvSpPr>
        <p:spPr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White markers indicate position of  Drawing Guides</a:t>
            </a:r>
          </a:p>
        </p:txBody>
      </p:sp>
      <p:sp>
        <p:nvSpPr>
          <p:cNvPr id="14" name="TextBox 17">
            <a:extLst>
              <a:ext uri="{FF2B5EF4-FFF2-40B4-BE49-F238E27FC236}">
                <a16:creationId xmlns:a16="http://schemas.microsoft.com/office/drawing/2014/main" id="{816D9D75-5ED9-438D-BAFB-60E52F4EEC7C}"/>
              </a:ext>
            </a:extLst>
          </p:cNvPr>
          <p:cNvSpPr>
            <a:spLocks noGrp="1"/>
          </p:cNvSpPr>
          <p:nvPr/>
        </p:nvSpPr>
        <p:spPr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7.40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2.91 Inches</a:t>
            </a:r>
          </a:p>
        </p:txBody>
      </p:sp>
      <p:sp>
        <p:nvSpPr>
          <p:cNvPr id="15" name="TextBox 18">
            <a:extLst>
              <a:ext uri="{FF2B5EF4-FFF2-40B4-BE49-F238E27FC236}">
                <a16:creationId xmlns:a16="http://schemas.microsoft.com/office/drawing/2014/main" id="{C72E5887-D42D-4561-8490-9D84415B44D5}"/>
              </a:ext>
            </a:extLst>
          </p:cNvPr>
          <p:cNvSpPr>
            <a:spLocks noGrp="1"/>
          </p:cNvSpPr>
          <p:nvPr/>
        </p:nvSpPr>
        <p:spPr>
          <a:xfrm>
            <a:off x="-1255183" y="15049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2.36 Inches</a:t>
            </a:r>
          </a:p>
        </p:txBody>
      </p:sp>
      <p:sp>
        <p:nvSpPr>
          <p:cNvPr id="16" name="TextBox 19">
            <a:extLst>
              <a:ext uri="{FF2B5EF4-FFF2-40B4-BE49-F238E27FC236}">
                <a16:creationId xmlns:a16="http://schemas.microsoft.com/office/drawing/2014/main" id="{280CC5A8-EF79-4781-8053-815653A129D1}"/>
              </a:ext>
            </a:extLst>
          </p:cNvPr>
          <p:cNvSpPr>
            <a:spLocks noGrp="1"/>
          </p:cNvSpPr>
          <p:nvPr/>
        </p:nvSpPr>
        <p:spPr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3.15 Inches</a:t>
            </a:r>
          </a:p>
        </p:txBody>
      </p:sp>
      <p:sp>
        <p:nvSpPr>
          <p:cNvPr id="17" name="TextBox 20">
            <a:extLst>
              <a:ext uri="{FF2B5EF4-FFF2-40B4-BE49-F238E27FC236}">
                <a16:creationId xmlns:a16="http://schemas.microsoft.com/office/drawing/2014/main" id="{C356099A-FA8D-405D-8BCC-EDFB94BFD4DC}"/>
              </a:ext>
            </a:extLst>
          </p:cNvPr>
          <p:cNvSpPr>
            <a:spLocks noGrp="1"/>
          </p:cNvSpPr>
          <p:nvPr/>
        </p:nvSpPr>
        <p:spPr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11.70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4.61 inches</a:t>
            </a:r>
          </a:p>
        </p:txBody>
      </p:sp>
      <p:sp>
        <p:nvSpPr>
          <p:cNvPr id="18" name="TextBox 21">
            <a:extLst>
              <a:ext uri="{FF2B5EF4-FFF2-40B4-BE49-F238E27FC236}">
                <a16:creationId xmlns:a16="http://schemas.microsoft.com/office/drawing/2014/main" id="{BB9E398F-52CB-4C46-8B02-3DE0A6B13E08}"/>
              </a:ext>
            </a:extLst>
          </p:cNvPr>
          <p:cNvSpPr>
            <a:spLocks noGrp="1"/>
          </p:cNvSpPr>
          <p:nvPr/>
        </p:nvSpPr>
        <p:spPr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0.2 inches </a:t>
            </a:r>
          </a:p>
        </p:txBody>
      </p:sp>
      <p:sp>
        <p:nvSpPr>
          <p:cNvPr id="19" name="TextBox 22">
            <a:extLst>
              <a:ext uri="{FF2B5EF4-FFF2-40B4-BE49-F238E27FC236}">
                <a16:creationId xmlns:a16="http://schemas.microsoft.com/office/drawing/2014/main" id="{B47805AC-2EF0-441C-97BB-E71FEE2AC1F2}"/>
              </a:ext>
            </a:extLst>
          </p:cNvPr>
          <p:cNvSpPr>
            <a:spLocks noGrp="1"/>
          </p:cNvSpPr>
          <p:nvPr/>
        </p:nvSpPr>
        <p:spPr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Char char="ß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0.2 inches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FAE8641A-FC9E-470B-9C29-AE3021BF1275}"/>
              </a:ext>
            </a:extLst>
          </p:cNvPr>
          <p:cNvSpPr>
            <a:spLocks noGrp="1"/>
          </p:cNvSpPr>
          <p:nvPr/>
        </p:nvSpPr>
        <p:spPr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11.70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4.61 inches </a:t>
            </a:r>
          </a:p>
        </p:txBody>
      </p:sp>
      <p:cxnSp>
        <p:nvCxnSpPr>
          <p:cNvPr id="479" name="Straight Arrow Connector 20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0" name="Straight Arrow Connector 21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1" name="Straight Arrow Connector 22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4">
            <a:extLst>
              <a:ext uri="{FF2B5EF4-FFF2-40B4-BE49-F238E27FC236}">
                <a16:creationId xmlns:a16="http://schemas.microsoft.com/office/drawing/2014/main" id="{4CD9ABC4-8223-4F02-ACB0-D63D0B95EECF}"/>
              </a:ext>
            </a:extLst>
          </p:cNvPr>
          <p:cNvSpPr>
            <a:spLocks noGrp="1"/>
          </p:cNvSpPr>
          <p:nvPr/>
        </p:nvSpPr>
        <p:spPr>
          <a:xfrm>
            <a:off x="-2055284" y="0"/>
            <a:ext cx="1871133" cy="692497"/>
          </a:xfrm>
          <a:prstGeom prst="rect">
            <a:avLst/>
          </a:prstGeom>
          <a:noFill/>
          <a:ln w="12700">
            <a:noFill/>
          </a:ln>
        </p:spPr>
        <p:txBody>
          <a:bodyPr lIns="0" tIns="0" rIns="0" bIns="0">
            <a:spAutoFit/>
          </a:bodyPr>
          <a:lstStyle/>
          <a:p>
            <a:pPr>
              <a:buNone/>
            </a:pPr>
            <a:r>
              <a:rPr sz="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To view  drawing guides:</a:t>
            </a:r>
          </a:p>
          <a:p>
            <a:pPr>
              <a:buNone/>
            </a:pPr>
            <a:endParaRPr sz="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Right-click on slide and select ’Grid and Guides...’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Check ’Display drawing guides on screen’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Select ’OK’</a:t>
            </a:r>
          </a:p>
        </p:txBody>
      </p:sp>
      <p:sp>
        <p:nvSpPr>
          <p:cNvPr id="64" name="内容占位符 3">
            <a:extLst>
              <a:ext uri="{FF2B5EF4-FFF2-40B4-BE49-F238E27FC236}">
                <a16:creationId xmlns:a16="http://schemas.microsoft.com/office/drawing/2014/main" id="{D7011FCB-A859-4BFD-83F2-0660B72F7BA4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77838" y="1066523"/>
            <a:ext cx="11231562" cy="5317329"/>
          </a:xfrm>
        </p:spPr>
        <p:txBody>
          <a:bodyPr vert="horz" lIns="91440" tIns="45720" rIns="91440" bIns="45720">
            <a:normAutofit/>
          </a:bodyPr>
          <a:lstStyle>
            <a:lvl1pPr marL="0" indent="0" algn="l">
              <a:lnSpc>
                <a:spcPct val="150000"/>
              </a:lnSpc>
              <a:spcBef>
                <a:spcPts val="15"/>
              </a:spcBef>
              <a:buNone/>
              <a:defRPr sz="20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1pPr>
            <a:lvl2pPr marL="179705" indent="-179705" algn="l">
              <a:lnSpc>
                <a:spcPct val="150000"/>
              </a:lnSpc>
              <a:spcBef>
                <a:spcPts val="400"/>
              </a:spcBef>
              <a:buChar char="n"/>
              <a:defRPr sz="18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2pPr>
            <a:lvl3pPr marL="358775" indent="-179705" algn="l">
              <a:lnSpc>
                <a:spcPct val="150000"/>
              </a:lnSpc>
              <a:spcBef>
                <a:spcPts val="400"/>
              </a:spcBef>
              <a:buChar char="n"/>
              <a:defRPr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3pPr>
            <a:lvl4pPr marL="539750" indent="-179705" algn="l">
              <a:lnSpc>
                <a:spcPct val="150000"/>
              </a:lnSpc>
              <a:spcBef>
                <a:spcPts val="400"/>
              </a:spcBef>
              <a:buChar char="n"/>
              <a:defRPr sz="14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4pPr>
            <a:lvl5pPr marL="2114550" indent="-285750">
              <a:buChar char="n"/>
              <a:defRPr sz="1400" b="0" i="0">
                <a:solidFill>
                  <a:schemeClr val="tx2"/>
                </a:solidFill>
                <a:latin typeface="等线"/>
                <a:ea typeface="等线"/>
                <a:cs typeface="等线"/>
              </a:defRPr>
            </a:lvl5pPr>
          </a:lstStyle>
          <a:p>
            <a:pPr marL="0" indent="0" algn="l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单击此处编辑母版文本样式</a:t>
            </a:r>
          </a:p>
          <a:p>
            <a:pPr marL="17970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第二级</a:t>
            </a:r>
          </a:p>
          <a:p>
            <a:pPr marL="35877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第三级</a:t>
            </a:r>
          </a:p>
          <a:p>
            <a:pPr marL="539750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第四级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06F666D-3D77-45CE-9E36-7D43AAB1AFBF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A9F9444-981D-482B-B1B1-E6B8B90BD969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日期占位符 135">
            <a:extLst>
              <a:ext uri="{FF2B5EF4-FFF2-40B4-BE49-F238E27FC236}">
                <a16:creationId xmlns:a16="http://schemas.microsoft.com/office/drawing/2014/main" id="{AEAC94EA-4735-4835-8D0B-6AF5E5DBC1BE}"/>
              </a:ext>
            </a:extLst>
          </p:cNvPr>
          <p:cNvSpPr>
            <a:spLocks noGrp="1"/>
          </p:cNvSpPr>
          <p:nvPr/>
        </p:nvSpPr>
        <p:spPr>
          <a:xfrm>
            <a:off x="9048328" y="6555494"/>
            <a:ext cx="2883976" cy="267573"/>
          </a:xfrm>
          <a:prstGeom prst="rect">
            <a:avLst/>
          </a:prstGeom>
        </p:spPr>
        <p:txBody>
          <a:bodyPr anchor="ctr"/>
          <a:lstStyle>
            <a:lvl1pPr marL="0" algn="r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buNone/>
            </a:pPr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华中科技大学电子信息与通信学院</a:t>
            </a:r>
          </a:p>
        </p:txBody>
      </p:sp>
      <p:sp>
        <p:nvSpPr>
          <p:cNvPr id="60" name="页脚占位符 136">
            <a:extLst>
              <a:ext uri="{FF2B5EF4-FFF2-40B4-BE49-F238E27FC236}">
                <a16:creationId xmlns:a16="http://schemas.microsoft.com/office/drawing/2014/main" id="{0E878418-DF82-4DAF-B41B-267BBB6CF5A0}"/>
              </a:ext>
            </a:extLst>
          </p:cNvPr>
          <p:cNvSpPr>
            <a:spLocks noGrp="1"/>
          </p:cNvSpPr>
          <p:nvPr/>
        </p:nvSpPr>
        <p:spPr>
          <a:xfrm>
            <a:off x="187688" y="6552438"/>
            <a:ext cx="2880000" cy="27368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17029273-9C77-40E6-9DCD-4AEAEAF594B8}"/>
              </a:ext>
            </a:extLst>
          </p:cNvPr>
          <p:cNvSpPr>
            <a:spLocks noGrp="1"/>
          </p:cNvSpPr>
          <p:nvPr/>
        </p:nvSpPr>
        <p:spPr>
          <a:xfrm>
            <a:off x="5853936" y="6626574"/>
            <a:ext cx="480484" cy="125413"/>
          </a:xfrm>
          <a:prstGeom prst="rect">
            <a:avLst/>
          </a:prstGeom>
        </p:spPr>
        <p:txBody>
          <a:bodyPr vert="horz" lIns="0" tIns="0" rIns="0" bIns="0" anchor="b">
            <a:noAutofit/>
          </a:bodyPr>
          <a:lstStyle>
            <a:lvl1pPr marL="0" algn="l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fld id="{73DA0BB7-265A-403C-9275-D587AB510EDC}" type="slidenum">
              <a:rPr b="0"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‹#›</a:t>
            </a:fld>
            <a:endParaRPr b="0">
              <a:solidFill>
                <a:srgbClr val="005BAD">
                  <a:alpha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直接连接符 23">
            <a:extLst>
              <a:ext uri="{FF2B5EF4-FFF2-40B4-BE49-F238E27FC236}">
                <a16:creationId xmlns:a16="http://schemas.microsoft.com/office/drawing/2014/main" id="{E253B85C-8C1F-412F-9C7F-095F739F2DB1}"/>
              </a:ext>
            </a:extLst>
          </p:cNvPr>
          <p:cNvSpPr>
            <a:spLocks noGrp="1"/>
          </p:cNvSpPr>
          <p:nvPr/>
        </p:nvSpPr>
        <p:spPr>
          <a:xfrm>
            <a:off x="0" y="908720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80000"/>
              </a:srgbClr>
            </a:solidFill>
            <a:prstDash val="solid"/>
          </a:ln>
        </p:spPr>
      </p:sp>
      <p:sp>
        <p:nvSpPr>
          <p:cNvPr id="63" name="直接连接符 23">
            <a:extLst>
              <a:ext uri="{FF2B5EF4-FFF2-40B4-BE49-F238E27FC236}">
                <a16:creationId xmlns:a16="http://schemas.microsoft.com/office/drawing/2014/main" id="{BD997483-1081-451E-8214-A9CE4E2AC154}"/>
              </a:ext>
            </a:extLst>
          </p:cNvPr>
          <p:cNvSpPr>
            <a:spLocks noGrp="1"/>
          </p:cNvSpPr>
          <p:nvPr/>
        </p:nvSpPr>
        <p:spPr>
          <a:xfrm>
            <a:off x="-2381" y="6512981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75000"/>
              </a:srgbClr>
            </a:solidFill>
            <a:prstDash val="solid"/>
          </a:ln>
        </p:spPr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2F6DEA72-91AD-4351-9CAD-117F5BDD4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647" y="395289"/>
            <a:ext cx="10209277" cy="430887"/>
          </a:xfrm>
        </p:spPr>
        <p:txBody>
          <a:bodyPr lIns="108000"/>
          <a:lstStyle>
            <a:lvl1pPr>
              <a:buNone/>
              <a:defRPr sz="2800" b="1">
                <a:latin typeface="微软雅黑"/>
                <a:ea typeface="微软雅黑"/>
                <a:cs typeface="微软雅黑"/>
              </a:defRPr>
            </a:lvl1pPr>
          </a:lstStyle>
          <a:p>
            <a:r>
              <a:t>单击此处编辑母版标题样式</a:t>
            </a:r>
          </a:p>
        </p:txBody>
      </p:sp>
      <p:pic>
        <p:nvPicPr>
          <p:cNvPr id="492" name="HUST Soli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279400"/>
            <a:ext cx="952500" cy="59482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2F185F6-9137-4DFB-B797-3A9101BB7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3E79E5-3F5F-4ED2-8393-FB980B24A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FE5CCB-59CA-4982-9F85-C811B6D1BA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3843F2-921C-4A04-A4B2-C0C698A3A29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F50A50-05BE-4F64-9B56-8F57DD8A58E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>
        <a:lnSpc>
          <a:spcPct val="100000"/>
        </a:lnSpc>
        <a:buNone/>
        <a:defRPr sz="3600" b="0" u="none" cap="none" spc="30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130000"/>
        </a:lnSpc>
        <a:spcBef>
          <a:spcPts val="0"/>
        </a:spcBef>
        <a:spcAft>
          <a:spcPts val="1000"/>
        </a:spcAft>
        <a:buChar char="●"/>
        <a:defRPr sz="18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6858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11430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600200" indent="-228600" algn="l">
        <a:lnSpc>
          <a:spcPct val="120000"/>
        </a:lnSpc>
        <a:spcBef>
          <a:spcPts val="0"/>
        </a:spcBef>
        <a:spcAft>
          <a:spcPts val="300"/>
        </a:spcAft>
        <a:buChar char="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2057400" indent="-228600" algn="l">
        <a:lnSpc>
          <a:spcPct val="120000"/>
        </a:lnSpc>
        <a:spcBef>
          <a:spcPts val="0"/>
        </a:spcBef>
        <a:spcAft>
          <a:spcPts val="300"/>
        </a:spcAft>
        <a:buChar char="•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ver-title">
            <a:extLst>
              <a:ext uri="{FF2B5EF4-FFF2-40B4-BE49-F238E27FC236}">
                <a16:creationId xmlns:a16="http://schemas.microsoft.com/office/drawing/2014/main" id="{34FCF1B0-383E-411C-AC5A-4680BA8F2732}"/>
              </a:ext>
            </a:extLst>
          </p:cNvPr>
          <p:cNvSpPr>
            <a:spLocks noGrp="1"/>
          </p:cNvSpPr>
          <p:nvPr/>
        </p:nvSpPr>
        <p:spPr>
          <a:xfrm>
            <a:off x="1524000" y="1764030"/>
            <a:ext cx="9144000" cy="195957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0202" tIns="46958" rIns="90202" bIns="46958" anchor="ctr">
            <a:noAutofit/>
          </a:bodyPr>
          <a:lstStyle/>
          <a:p>
            <a:pPr algn="ctr">
              <a:buNone/>
            </a:pPr>
            <a:r>
              <a:rPr lang="zh-CN" altLang="en-US" sz="31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深度引导的视频虚化</a:t>
            </a:r>
          </a:p>
          <a:p>
            <a:pPr algn="ctr">
              <a:buNone/>
            </a:pPr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基线方法复现结果</a:t>
            </a:r>
            <a:endParaRPr sz="2000" b="1">
              <a:solidFill>
                <a:srgbClr val="D9EEF9"/>
              </a:solidFill>
              <a:latin typeface="Microsoft YaHei" panose="020B0503020204020204" pitchFamily="34" charset="-122"/>
              <a:ea typeface="Microsoft YaHei"/>
              <a:cs typeface="Microsoft YaHei"/>
            </a:endParaRPr>
          </a:p>
        </p:txBody>
      </p:sp>
      <p:sp>
        <p:nvSpPr>
          <p:cNvPr id="2" name="cover-subtitle">
            <a:extLst>
              <a:ext uri="{FF2B5EF4-FFF2-40B4-BE49-F238E27FC236}">
                <a16:creationId xmlns:a16="http://schemas.microsoft.com/office/drawing/2014/main" id="{9E702C5D-B811-466D-87B9-4469F8E55496}"/>
              </a:ext>
            </a:extLst>
          </p:cNvPr>
          <p:cNvSpPr>
            <a:spLocks noGrp="1"/>
          </p:cNvSpPr>
          <p:nvPr/>
        </p:nvSpPr>
        <p:spPr>
          <a:xfrm>
            <a:off x="33356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" name="cover-line">
            <a:extLst>
              <a:ext uri="{FF2B5EF4-FFF2-40B4-BE49-F238E27FC236}">
                <a16:creationId xmlns:a16="http://schemas.microsoft.com/office/drawing/2014/main" id="{156E7023-1426-46F1-88A1-85B75EFCF0E6}"/>
              </a:ext>
            </a:extLst>
          </p:cNvPr>
          <p:cNvSpPr>
            <a:spLocks noGrp="1"/>
          </p:cNvSpPr>
          <p:nvPr/>
        </p:nvSpPr>
        <p:spPr>
          <a:xfrm>
            <a:off x="31597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0011" tIns="46768" rIns="90011" bIns="46768" anchor="ctr">
            <a:normAutofit/>
          </a:bodyPr>
          <a:lstStyle/>
          <a:p>
            <a:pPr algn="ctr">
              <a:buNone/>
              <a:def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汇报人：孟辰洋</a:t>
            </a:r>
          </a:p>
        </p:txBody>
      </p:sp>
      <p:sp>
        <p:nvSpPr>
          <p:cNvPr id="4" name="cover-meta">
            <a:extLst>
              <a:ext uri="{FF2B5EF4-FFF2-40B4-BE49-F238E27FC236}">
                <a16:creationId xmlns:a16="http://schemas.microsoft.com/office/drawing/2014/main" id="{A9B675D7-E24D-45A9-A92F-1E365CD38FDE}"/>
              </a:ext>
            </a:extLst>
          </p:cNvPr>
          <p:cNvSpPr>
            <a:spLocks noGrp="1"/>
          </p:cNvSpPr>
          <p:nvPr/>
        </p:nvSpPr>
        <p:spPr>
          <a:xfrm>
            <a:off x="63074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D9ECF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5" name="cover-date">
            <a:extLst>
              <a:ext uri="{FF2B5EF4-FFF2-40B4-BE49-F238E27FC236}">
                <a16:creationId xmlns:a16="http://schemas.microsoft.com/office/drawing/2014/main" id="{B30BD35B-0B78-4147-8308-E7DBA3CFAF23}"/>
              </a:ext>
            </a:extLst>
          </p:cNvPr>
          <p:cNvSpPr>
            <a:spLocks noGrp="1"/>
          </p:cNvSpPr>
          <p:nvPr/>
        </p:nvSpPr>
        <p:spPr>
          <a:xfrm>
            <a:off x="61315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1440" tIns="45720" rIns="91440" bIns="4572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0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0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时间：2026.09.30</a:t>
            </a:r>
            <a:endParaRPr sz="2000" b="0">
              <a:solidFill>
                <a:srgbClr val="4874CB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958490399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合成数据效果展示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01F37"/>
                </a:solidFill>
                <a:latin typeface="Arial"/>
                <a:ea typeface="Microsoft YaHei"/>
              </a:rPr>
              <a:t>同一帧：输入、真值与六种方法结果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1600200"/>
            <a:ext cx="10515600" cy="4389120"/>
          </a:xfrm>
          <a:prstGeom prst="rect">
            <a:avLst/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0">
                <a:solidFill>
                  <a:srgbClr val="6B7A90"/>
                </a:solidFill>
                <a:latin typeface="Arial"/>
                <a:ea typeface="Microsoft YaHei"/>
              </a:rPr>
              <a:t>效果图待补充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真实视频效果展示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01F37"/>
                </a:solidFill>
                <a:latin typeface="Arial"/>
                <a:ea typeface="Microsoft YaHei"/>
              </a:rPr>
              <a:t>同一帧：输入与六种方法结果（真实视频无虚化真值）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1600200"/>
            <a:ext cx="10515600" cy="4389120"/>
          </a:xfrm>
          <a:prstGeom prst="rect">
            <a:avLst/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0">
                <a:solidFill>
                  <a:srgbClr val="6B7A90"/>
                </a:solidFill>
                <a:latin typeface="Arial"/>
                <a:ea typeface="Microsoft YaHei"/>
              </a:rPr>
              <a:t>效果图待补充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合成数据定量结果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01F37"/>
                </a:solidFill>
                <a:latin typeface="Arial"/>
                <a:ea typeface="Microsoft YaHei"/>
              </a:rPr>
              <a:t>200 段合成视频 × 25 帧，1024×576，有虚化真值；每种方法两行：本项目结果 / 论文报告值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60119" y="1554480"/>
          <a:ext cx="10149840" cy="42793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1005840"/>
                <a:gridCol w="1188720"/>
                <a:gridCol w="1188720"/>
                <a:gridCol w="1188720"/>
                <a:gridCol w="1188720"/>
                <a:gridCol w="1188720"/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来源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PSNR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SSIM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LPIPS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FVD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RM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329184">
                <a:tc rowSpan="2"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本项目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28.17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0.944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0.063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40.12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0.583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0.0124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329184">
                <a:tc vMerge="1"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/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论文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24.574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0.819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0.183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125.338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1.162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0.030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329184">
                <a:tc rowSpan="2"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本项目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31.59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25.86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0.479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 vMerge="1"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/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论文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31.273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0.046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32.710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0.522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0.011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 rowSpan="2"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本项目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33.33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18.55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0.540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0.0074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329184">
                <a:tc vMerge="1"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/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论文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27.992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0.936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0.060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39.102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0.536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0.013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329184">
                <a:tc rowSpan="2"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本项目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31.62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24.96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 vMerge="1"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/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论文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31.390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0.040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35.766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0.481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0.011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 rowSpan="2"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本项目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27.06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0.132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66.00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0.0216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329184">
                <a:tc vMerge="1"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/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论文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27.525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0.834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0.127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65.678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0.660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0.021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329184">
                <a:tc rowSpan="2"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本项目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39.71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0.986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8.94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0.445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0.0056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 vMerge="1"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/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论文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38.899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0.974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0.019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9.005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0.431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0.007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真实视频定量结果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01F37"/>
                </a:solidFill>
                <a:latin typeface="Arial"/>
                <a:ea typeface="Microsoft YaHei"/>
              </a:rPr>
              <a:t>DAVIS 真实视频 50 段 × 25 帧，无虚化真值；VEPI 衡量主体边缘保留程度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737360" y="1645920"/>
          <a:ext cx="8595360" cy="3520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43200"/>
                <a:gridCol w="2926080"/>
                <a:gridCol w="292608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VEPI ↑（本项目）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VEPI ↑（论文）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0.715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0.877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0.863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0.859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0.944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模型计算成本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01F37"/>
                </a:solidFill>
                <a:latin typeface="Arial"/>
                <a:ea typeface="Microsoft YaHei"/>
              </a:rPr>
              <a:t>同一块 GPU（RTX PRO 6000）、1024×576、串行测量；时间只计模型本体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645920"/>
          <a:ext cx="10241280" cy="3291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  <a:gridCol w="256032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单帧时间 (s)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参数量 (M)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峰值显存 (GiB)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0.288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50.98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2.88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1.01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0.253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41.53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2.43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1.104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3493.43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18.37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0.505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2457.81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38.47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视频端到端效率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01F37"/>
                </a:solidFill>
                <a:latin typeface="Arial"/>
                <a:ea typeface="Microsoft YaHei"/>
              </a:rPr>
              <a:t>25 帧视频从读入输入到输出结果的总耗时；DeepLens 为 CPU 版本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645920"/>
          <a:ext cx="10241280" cy="3520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371600"/>
                <a:gridCol w="2286000"/>
                <a:gridCol w="18288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设备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25 帧耗时 (s)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FPS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峰值内存 (GiB)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/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/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/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/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/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/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/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/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/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/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/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/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/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/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/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/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/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/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下一步规划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07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0DB1E63-8F98-56F0-5AD9-E321506A6914}"/>
              </a:ext>
            </a:extLst>
          </p:cNvPr>
          <p:cNvSpPr>
            <a:spLocks noGrp="1"/>
          </p:cNvSpPr>
          <p:nvPr/>
        </p:nvSpPr>
        <p:spPr>
          <a:xfrm>
            <a:off x="781050" y="1381125"/>
            <a:ext cx="18097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低帧率评价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248E8E-737C-9BE3-5CB0-2F225DFAD313}"/>
              </a:ext>
            </a:extLst>
          </p:cNvPr>
          <p:cNvSpPr>
            <a:spLocks noGrp="1"/>
          </p:cNvSpPr>
          <p:nvPr/>
        </p:nvSpPr>
        <p:spPr>
          <a:xfrm>
            <a:off x="2724150" y="1381125"/>
            <a:ext cx="8382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深度降到 15/10/5/2 fps，统一补齐缺失帧后比较六种方法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A7E796C-4C77-5D44-04E9-AD4AD9FFD0A4}"/>
              </a:ext>
            </a:extLst>
          </p:cNvPr>
          <p:cNvSpPr>
            <a:spLocks noGrp="1"/>
          </p:cNvSpPr>
          <p:nvPr/>
        </p:nvSpPr>
        <p:spPr>
          <a:xfrm>
            <a:off x="781050" y="2447925"/>
            <a:ext cx="18097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固定基线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798B5B8-0BDB-E4E0-0F4A-05068F4E7B8F}"/>
              </a:ext>
            </a:extLst>
          </p:cNvPr>
          <p:cNvSpPr>
            <a:spLocks noGrp="1"/>
          </p:cNvSpPr>
          <p:nvPr/>
        </p:nvSpPr>
        <p:spPr>
          <a:xfrm>
            <a:off x="2724150" y="2447925"/>
            <a:ext cx="8382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低帧率结果完成后，固定全部基线方法的表格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1DFD6B8-B1E6-47BC-FB17-45A0E4843962}"/>
              </a:ext>
            </a:extLst>
          </p:cNvPr>
          <p:cNvSpPr>
            <a:spLocks noGrp="1"/>
          </p:cNvSpPr>
          <p:nvPr/>
        </p:nvSpPr>
        <p:spPr>
          <a:xfrm>
            <a:off x="781050" y="3514725"/>
            <a:ext cx="18097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自研方法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9CE8295-69D6-D893-0DF7-BDB64CFEAA38}"/>
              </a:ext>
            </a:extLst>
          </p:cNvPr>
          <p:cNvSpPr>
            <a:spLocks noGrp="1"/>
          </p:cNvSpPr>
          <p:nvPr/>
        </p:nvSpPr>
        <p:spPr>
          <a:xfrm>
            <a:off x="2724150" y="3514725"/>
            <a:ext cx="8382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开始实现与训练，结果补入同一套表格比较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1255</Words>
  <Application>Microsoft Office PowerPoint</Application>
  <DocSecurity>0</DocSecurity>
  <PresentationFormat>宽屏</PresentationFormat>
  <Paragraphs>173</Paragraphs>
  <Slides>11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7" baseType="lpstr">
      <vt:lpstr>等线</vt:lpstr>
      <vt:lpstr>微软雅黑</vt:lpstr>
      <vt:lpstr>微软雅黑</vt:lpstr>
      <vt:lpstr>微软雅黑 Light</vt:lpstr>
      <vt:lpstr>Arial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辰洋 孟</cp:lastModifiedBy>
  <cp:revision>12</cp:revision>
  <dcterms:created xsi:type="dcterms:W3CDTF">2026-08-21T05:34:17Z</dcterms:created>
  <dcterms:modified xsi:type="dcterms:W3CDTF">2026-09-20T07:48:37Z</dcterms:modified>
</cp:coreProperties>
</file>