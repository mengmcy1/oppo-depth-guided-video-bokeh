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4" r:id="rId25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视频虚化：基线补充</a:t>
            </a:r>
          </a:p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与 Any-to-Bokeh 效率分析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汇报日期：待定</a:t>
            </a:r>
          </a:p>
        </p:txBody>
      </p:sp>
      <p:sp>
        <p:nvSpPr>
          <p:cNvPr id="100" name="Updated note 100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2926080" y="5257800"/>
            <a:ext cx="6400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下次汇报草稿 · 数据截至 2026.10.01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观察：背景变虚，主体与细节保留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观察：运动主体、肢体边界与连续帧变化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200 段 × 25 帧，1024×576；新增 MagicBokeh；上表为复现，下表为论文外部参考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80" y="1426464"/>
          <a:ext cx="10332720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MagicBokeh†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六法平均偏差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1.79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0.032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20.64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0.136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0.0051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80" y="3840480"/>
          <a:ext cx="10332720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BokehCrafter*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80" y="5961888"/>
            <a:ext cx="103327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†MagicBokeh用GT目标区域辅助选点；Dr.Bokeh用GT alpha。平均偏差仅比较原六法，不含MagicBokeh。</a:t>
            </a:r>
          </a:p>
          <a:p>
            <a:pPr algn="l"/>
            <a:r>
              <a:rPr sz="1050" b="0">
                <a:solidFill>
                  <a:srgbClr val="6B7A90"/>
                </a:solidFill>
                <a:latin typeface="Arial"/>
                <a:ea typeface="Microsoft YaHei"/>
              </a:rPr>
              <a:t>*BokehCrafter为其论文VBS三档均值，异数据集，仅作参考。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当前为原六种方法的冻结结果；MagicBokeh 尚未进入 DAVIS 定量评价。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RTX 4090 D · 1024×576 · 时间按实际输出帧归一，显存为设备采样峰值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4406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只计模型/渲染器，不含外围读取、适配、传输及CPU后处理。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Any-to-Bokeh按视频输出帧归一，不是独立单帧在线延迟。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MagicBokeh包含六个图块生成与GPU拼接，不含估深、目标选点及CPU颜色校正。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的主要成本集中在 VAE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01F37"/>
                </a:solidFill>
                <a:latin typeface="Arial"/>
                <a:ea typeface="Microsoft YaHei"/>
              </a:rPr>
              <a:t>旧RTX PRO 6000模块分析；固定4段，各预热1次/正式2次；新卡未测阶段占比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0"/>
                <a:gridCol w="2286000"/>
                <a:gridCol w="22860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阶段峰值 (GiB)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0.083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2.739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2.516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2.258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 VAE 解码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4.975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4754880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101F37"/>
                </a:solidFill>
                <a:latin typeface="Arial"/>
                <a:ea typeface="Microsoft YaHei"/>
              </a:rPr>
              <a:t>VAE相关阶段约占81%；持续RGB特征缓存6.47 GiB</a:t>
            </a:r>
          </a:p>
        </p:txBody>
      </p:sp>
      <p:sp>
        <p:nvSpPr>
          <p:cNvPr id="101" name="Updated note 101"/>
          <p:cNvSpPr txBox="1"/>
          <p:nvPr/>
        </p:nvSpPr>
        <p:spPr>
          <a:xfrm>
            <a:off x="914400" y="5440680"/>
            <a:ext cx="10241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峰值为Torch allocated，含常驻权重与缓存，不能相加；与旧卡模型成本表的设备采样峰值38.47 GiB口径不同。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25输出帧对应RGB/CoC各48个编码帧槽、32个解码帧槽；不能直接视为可无损删除的计算。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当前只完成归因，尚未验证优化收益或质量等价。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当前进度与下一步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6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23444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模型成本</a:t>
            </a:r>
          </a:p>
        </p:txBody>
      </p:sp>
      <p:sp>
        <p:nvSpPr>
          <p:cNvPr id="7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23444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RTX 4090 D六种GPU方法测量完成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旧卡结果分开保留，参数量及GFLOPs口径沿用</a:t>
            </a:r>
          </a:p>
        </p:txBody>
      </p:sp>
      <p:cxnSp>
        <p:nvCxnSpPr>
          <p:cNvPr id="8" name="Connector 22"/>
          <p:cNvCxnSpPr/>
          <p:nvPr/>
        </p:nvCxnSpPr>
        <p:spPr>
          <a:xfrm>
            <a:off x="777240" y="228600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42316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完整流水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42316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当前服务器的视频端到端效率尚待测量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覆盖六种GPU方法及DeepLens CPU；不以模型时间外推</a:t>
            </a:r>
          </a:p>
        </p:txBody>
      </p:sp>
      <p:cxnSp>
        <p:nvCxnSpPr>
          <p:cNvPr id="11" name="Connector 23"/>
          <p:cNvCxnSpPr/>
          <p:nvPr/>
        </p:nvCxnSpPr>
        <p:spPr>
          <a:xfrm>
            <a:off x="777240" y="347472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3611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评价范围</a:t>
            </a:r>
          </a:p>
        </p:txBody>
      </p:sp>
      <p:sp>
        <p:nvSpPr>
          <p:cNvPr id="13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3611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保留模型计算成本与视频端到端效率两张表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低帧率深度专项继续暂停，已完成质量结果保留</a:t>
            </a:r>
          </a:p>
        </p:txBody>
      </p:sp>
      <p:cxnSp>
        <p:nvCxnSpPr>
          <p:cNvPr id="14" name="Connector 24"/>
          <p:cNvCxnSpPr/>
          <p:nvPr/>
        </p:nvCxnSpPr>
        <p:spPr>
          <a:xfrm>
            <a:off x="777240" y="466344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8006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后续候选</a:t>
            </a: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8006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编码分批、缓存优化和失败分析暂不开展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先完成已确定的性能评价，再讨论后续实验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01F37"/>
                </a:solidFill>
                <a:latin typeface="Arial"/>
                <a:ea typeface="Microsoft YaHei"/>
              </a:rPr>
              <a:t>当前服务器 · 1024×576、25帧 · 完整流水尚待测量，DeepLens使用CPU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730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371600"/>
                <a:gridCol w="2377440"/>
                <a:gridCol w="1645920"/>
                <a:gridCol w="246888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25帧耗时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待测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100" name="Updated note 100"/>
          <p:cNvSpPr txBox="1"/>
          <p:nvPr/>
        </p:nvSpPr>
        <p:spPr>
          <a:xfrm>
            <a:off x="914400" y="55778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从读取给定输入到25帧CPU输出，包含适配、必要方法处理、传输及后处理。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不含模型加载、外部geometry生成、写盘与编码；不使用旧机结果或模型时间外推。</a:t>
            </a:r>
          </a:p>
          <a:p>
            <a:pPr algn="l"/>
            <a:r>
              <a:rPr sz="1250" b="0">
                <a:solidFill>
                  <a:srgbClr val="101F37"/>
                </a:solidFill>
                <a:latin typeface="Arial"/>
                <a:ea typeface="Microsoft YaHei"/>
              </a:rPr>
              <a:t>GPU行报告设备采样显存；DeepLens报告CPU进程内存。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9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