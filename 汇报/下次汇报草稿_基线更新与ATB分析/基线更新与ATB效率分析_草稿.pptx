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67" r:id="rId18"/>
    <p:sldId id="268" r:id="rId19"/>
    <p:sldId id="269" r:id="rId20"/>
    <p:sldId id="270" r:id="rId21"/>
    <p:sldId id="271" r:id="rId22"/>
    <p:sldId id="274" r:id="rId25"/>
    <p:sldId id="272" r:id="rId23"/>
    <p:sldId id="275" r:id="rId12"/>
    <p:sldId id="273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3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内容依据：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5.png"/><Relationship Id="rId5" Type="http://schemas.microsoft.com/office/2007/relationships/media" Target="../media/media4.mp4"/><Relationship Id="rId6" Type="http://schemas.openxmlformats.org/officeDocument/2006/relationships/video" Target="../media/media4.mp4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视频虚化：基线补充</a:t>
            </a:r>
          </a:p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与 Any-to-Bokeh 效率分析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汇报日期：待定</a:t>
            </a:r>
          </a:p>
        </p:txBody>
      </p:sp>
      <p:sp>
        <p:nvSpPr>
          <p:cNvPr id="100" name="Updated note 100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2926080" y="5257800"/>
            <a:ext cx="64008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下次汇报草稿 · 数据截至 2026.10.01</a:t>
            </a: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主体保留与背景虚化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goa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山羊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lackswan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黑天鹅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观察：背景变虚，主体与细节保留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运动场景下的视频虚化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danc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舞蹈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reakdance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街舞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观察：运动主体、肢体边界与连续帧变化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200 段 × 25 帧，1024×576；新增 MagicBokeh；上表为复现，下表为论文外部参考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68680" y="1426464"/>
          <a:ext cx="10332720" cy="23042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本项目复现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MagicBokeh†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六法平均偏差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1.79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0.032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20.64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0.136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0.0051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68680" y="3840480"/>
          <a:ext cx="10332720" cy="20482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论文报告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24.574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0.819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125.338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0.030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31.273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32.710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0.522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27.992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39.102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31.390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35.766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27.525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0.834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0.127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65.678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38.899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9.005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0.431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BokehCrafter*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27.86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0.886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0.122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68680" y="5961888"/>
            <a:ext cx="103327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6B7A90"/>
                </a:solidFill>
                <a:latin typeface="Arial"/>
                <a:ea typeface="Microsoft YaHei"/>
              </a:rPr>
              <a:t>†MagicBokeh用GT目标区域辅助选点；Dr.Bokeh用GT alpha。平均偏差仅比较原六法，不含MagicBokeh。</a:t>
            </a:r>
          </a:p>
          <a:p>
            <a:pPr algn="l"/>
            <a:r>
              <a:rPr sz="1050" b="0">
                <a:solidFill>
                  <a:srgbClr val="6B7A90"/>
                </a:solidFill>
                <a:latin typeface="Arial"/>
                <a:ea typeface="Microsoft YaHei"/>
              </a:rPr>
              <a:t>*BokehCrafter为其论文VBS三档均值，异数据集，仅作参考。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DAVIS 真实视频 50 段 × 25 帧，无虚化真值；VEPI 衡量主体边缘保留程度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737360" y="1645920"/>
          <a:ext cx="859536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↑（本项目）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↑（论文）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0.715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0.859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577840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当前为原六种方法的冻结结果；MagicBokeh 尚未进入 DAVIS 定量评价。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RTX 4090 D · 1024×576 · 时间按实际输出帧归一，显存为设备采样峰值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  <a:gridCol w="25603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0.342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1.269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44068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只计模型/渲染器，不含外围读取、适配、传输及CPU后处理。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Any-to-Bokeh按视频输出帧归一，不是独立单帧在线延迟。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MagicBokeh包含六个图块生成与GPU拼接，不含估深、目标选点及CPU颜色校正。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视频端到端效率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RTX 4090 D · 1024×576、25帧 · 每输入预热1次、正式5次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7307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822960"/>
                <a:gridCol w="1874520"/>
                <a:gridCol w="1874520"/>
                <a:gridCol w="1234440"/>
                <a:gridCol w="2103120"/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Core (s/25帧)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E2E (s/25帧)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峰值内存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46.733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48.789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1.52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8.584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21.789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1.139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21.953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5.956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7.536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3.317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23.151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23.957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32.571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36.570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6.79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21.860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57784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从读取给定输入到25帧CPU uint8 RGB；不含模型加载、外部标注生成、写盘与编码。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†MagicBokeh包含自身估深、GT目标辅助选点与颜色校正；Core为估深网络及生成器GPU段。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GPU行报告设备采样显存；DeepLens为Xeon 8481C / TF1.15 / 8线程，内存列为CPU RSS。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用时集中在编码与解码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RTX 4090 D · 固定4段各25帧 · 阶段耗时带同步插桩，只用于归因</a:t>
            </a:r>
          </a:p>
        </p:txBody>
      </p:sp>
      <p:sp>
        <p:nvSpPr>
          <p:cNvPr id="100" name="Updated note 100"/>
          <p:cNvSpPr txBox="1"/>
          <p:nvPr/>
        </p:nvSpPr>
        <p:spPr>
          <a:xfrm>
            <a:off x="914400" y="4754880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101F37"/>
                </a:solidFill>
                <a:latin typeface="Arial"/>
                <a:ea typeface="Microsoft YaHei"/>
              </a:rPr>
              <a:t>VAE相关阶段合计占80.36%；持续RGB特征缓存6.469 GiB</a:t>
            </a:r>
          </a:p>
        </p:txBody>
      </p:sp>
      <p:sp>
        <p:nvSpPr>
          <p:cNvPr id="101" name="Updated note 101"/>
          <p:cNvSpPr txBox="1"/>
          <p:nvPr/>
        </p:nvSpPr>
        <p:spPr>
          <a:xfrm>
            <a:off x="914400" y="5440680"/>
            <a:ext cx="10241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阶段峰值含常驻权重与缓存，不能相加；与模型成本表的设备采样峰值口径不同。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旧RTX PRO 6000同口径占比81.01%，各阶段约为新卡的1/1.6；两卡分开记录，不混算加速比。</a:t>
            </a: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/>
        </p:nvGraphicFramePr>
        <p:xfrm>
          <a:off x="914400" y="1645920"/>
          <a:ext cx="10241280" cy="2926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/>
                <a:gridCol w="1828800"/>
                <a:gridCol w="173736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占插桩Core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allocated峰值 (GiB)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0.160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0.79%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11.92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4.581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22.71%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3.787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18.78%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3.742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18.55%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重叠拼接与时序解码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7.841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38.87%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未归入上述阶段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0.059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0.29%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完整带插桩 Core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20.171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100%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当前进度与下一步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6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123444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模型成本</a:t>
            </a:r>
          </a:p>
        </p:txBody>
      </p:sp>
      <p:sp>
        <p:nvSpPr>
          <p:cNvPr id="7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123444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RTX 4090 D六种GPU方法测量完成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旧卡结果分开保留，参数量及GFLOPs口径沿用</a:t>
            </a:r>
          </a:p>
        </p:txBody>
      </p:sp>
      <p:cxnSp>
        <p:nvCxnSpPr>
          <p:cNvPr id="8" name="Connector 22"/>
          <p:cNvCxnSpPr/>
          <p:nvPr/>
        </p:nvCxnSpPr>
        <p:spPr>
          <a:xfrm>
            <a:off x="777240" y="228600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242316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完整流水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242316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六种GPU方法及DeepLens CPU完整25帧测量完成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每方法20次正式重复；旧机记录分开保留</a:t>
            </a:r>
          </a:p>
        </p:txBody>
      </p:sp>
      <p:cxnSp>
        <p:nvCxnSpPr>
          <p:cNvPr id="11" name="Connector 23"/>
          <p:cNvCxnSpPr/>
          <p:nvPr/>
        </p:nvCxnSpPr>
        <p:spPr>
          <a:xfrm>
            <a:off x="777240" y="347472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361188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评价范围</a:t>
            </a:r>
          </a:p>
        </p:txBody>
      </p:sp>
      <p:sp>
        <p:nvSpPr>
          <p:cNvPr id="13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361188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保留模型计算成本与视频端到端效率两张表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低帧率深度专项继续暂停，已完成质量结果保留</a:t>
            </a:r>
          </a:p>
        </p:txBody>
      </p:sp>
      <p:cxnSp>
        <p:nvCxnSpPr>
          <p:cNvPr id="14" name="Connector 24"/>
          <p:cNvCxnSpPr/>
          <p:nvPr/>
        </p:nvCxnSpPr>
        <p:spPr>
          <a:xfrm>
            <a:off x="777240" y="466344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480060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后续候选</a:t>
            </a:r>
          </a:p>
        </p:txBody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480060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编码分批、缓存优化和失败分析暂不开展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本轮性能评价已完成，后续等待明确执行任务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显存构成与优化验证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1024128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0">
                <a:solidFill>
                  <a:srgbClr val="101F37"/>
                </a:solidFill>
                <a:latin typeface="Arial"/>
                <a:ea typeface="Microsoft YaHei"/>
              </a:rPr>
              <a:t>RTX 4090 D · 四固定片段 · 候选仅跳过 encoder 中 scale 严格等于1 的除法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/>
                <a:gridCol w="2377440"/>
                <a:gridCol w="2377440"/>
                <a:gridCol w="164592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指标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原版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候选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变化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25帧 Core (s)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20.273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20.049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−1.10%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allocated峰值 (GiB)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34.294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29.797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−13.11%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reserved峰值 (GiB)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41.693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37.193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−10.79%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设备采样峰值 (GiB)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42.116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37.616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−10.68%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14400" y="4069080"/>
          <a:ext cx="10241280" cy="16093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/>
                <a:gridCol w="2377440"/>
                <a:gridCol w="402336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显存构成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大小 (GiB)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保留范围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四级 RGB 特征缓存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6.469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跨 CoC / UNet / 解码，至下次替换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latent cache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0.0003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保留16帧槽底层 storage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编码阶段并发大分配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 × 4.5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入口以上请求增量 22.5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914400" y="5806440"/>
            <a:ext cx="10241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四片段输出逐位/RGB8 差异均为0；设备采样峰值仍高于32 GiB，未在32GB显卡实测。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1255</Words>
  <Application>Microsoft Office PowerPoint</Application>
  <DocSecurity>0</DocSecurity>
  <PresentationFormat>宽屏</PresentationFormat>
  <Paragraphs>173</Paragraphs>
  <Slides>9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微软雅黑</vt:lpstr>
      <vt:lpstr>微软雅黑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12</cp:revision>
  <dcterms:created xsi:type="dcterms:W3CDTF">2026-08-21T05:34:17Z</dcterms:created>
  <dcterms:modified xsi:type="dcterms:W3CDTF">2026-09-20T07:48:37Z</dcterms:modified>
</cp:coreProperties>
</file>