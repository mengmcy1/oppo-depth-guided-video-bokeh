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3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内容依据：</a:t>
            </a:r>
            <a:r>
              <a:rPr lang="en-US" altLang="zh-CN"/>
              <a:t>OPPO_</a:t>
            </a:r>
            <a:r>
              <a:rPr lang="zh-CN" altLang="en-US"/>
              <a:t>技术路线梳理</a:t>
            </a:r>
            <a:r>
              <a:rPr lang="en-US" altLang="zh-CN"/>
              <a:t>.txt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素材来源：Any-to-Bokeh 官方项目页 https://vivocameraresearch.github.io/any2bokeh/；本地复现：DAVIS v2，Any-to-Bokeh 官方权重，K=16，前25帧。上下两行来自不同视频，只展示效果，不构成相同输入下的官方/本地精度比较。每行输入与输出已合成一个同步视频；放映时点击对应视频播放，循环至停止。本地片段为25帧、20fps、1.25秒循环，循环跳回首帧不代表模型产生时序跳变。真实视频无虚化GT；短片演示不能证明长视频无闪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素材来源：Any-to-Bokeh 官方项目页 https://vivocameraresearch.github.io/any2bokeh/；本地复现：DAVIS v2，Any-to-Bokeh 官方权重，K=16，前25帧。上下两行来自不同视频，只展示效果，不构成相同输入下的官方/本地精度比较。每行输入与输出已合成一个同步视频；放映时点击对应视频播放，循环至停止。本地片段为25帧、20fps、1.25秒循环，循环跳回首帧不代表模型产生时序跳变。真实视频无虚化GT；短片演示不能证明长视频无闪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D827FC-13EC-4534-943C-1B6B237D5F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>
            <a:normAutofit/>
          </a:bodyPr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3D191A6-740D-4559-932B-C68CD38E37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16" name="日期占位符 15">
            <a:extLst>
              <a:ext uri="{FF2B5EF4-FFF2-40B4-BE49-F238E27FC236}">
                <a16:creationId xmlns:a16="http://schemas.microsoft.com/office/drawing/2014/main" id="{DC92720F-CEDE-462A-9258-2F6F8E4F4E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2026-09-20</a:t>
            </a:fld>
            <a:endParaRPr/>
          </a:p>
        </p:txBody>
      </p:sp>
      <p:sp>
        <p:nvSpPr>
          <p:cNvPr id="17" name="页脚占位符 16">
            <a:extLst>
              <a:ext uri="{FF2B5EF4-FFF2-40B4-BE49-F238E27FC236}">
                <a16:creationId xmlns:a16="http://schemas.microsoft.com/office/drawing/2014/main" id="{01FAF7BB-96E7-474F-8E13-2A3F228E59E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39F46F67-CF60-41D7-ADA6-BDE73F9616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1D75B2-BB23-4948-84C7-EB6CF064F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8EE921-E731-43F3-8919-D567B38E7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4B3765-C182-4421-8F29-6A9DEAAEBEA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2026-09-20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4729A8-8D35-4E1E-B947-4B029492F6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570143-5261-415B-8113-51EF8007CD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713B2D-E8C6-43F5-A859-87472410D3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>
            <a:normAutofit/>
          </a:bodyPr>
          <a:lstStyle>
            <a:lvl1pPr>
              <a:buNone/>
              <a:defRPr sz="4400"/>
            </a:lvl1pPr>
          </a:lstStyle>
          <a:p>
            <a:r>
              <a:t>单击此处编辑标题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0B62CB-720E-4D14-9DC8-B279D19AF5F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单击此处编辑文本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EBC76B-9044-435D-93B4-E983D6D6ADB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2026-09-20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BFBDAA-2CE0-4826-86F9-FC15D559EA0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76A62A-7005-4B8A-8635-DC17485313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08C66C-5979-4AA9-943C-8C2145027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784C1F-6CFA-4FAE-93E9-F41EB3B62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0351BE2-C379-4212-AAB9-07437BE792B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551DC6-0261-4DD5-A68A-10D2D8BE372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2026-09-20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1E987A-C040-4F0C-BA48-38851B53EC9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488445-9CE9-4801-8575-688F822000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CBCE97-C159-4A8D-BB25-D20DBCB4D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84D4FE-8F76-4E37-B3D6-25C02F2E4F3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单击此处编辑文本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0EEC01-B1DC-4313-8539-F35516E76EE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2419646-66E0-4D48-AEB8-A9FCE9E4C41A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单击此处编辑文本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D2DFDDD-8310-42F6-8351-27F8F125191F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5D4EB3D-F163-4969-B497-1252F8D7186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2026-09-20</a:t>
            </a:fld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B107DFD-FD9F-4976-9EF0-B7B55E59077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B7F6A92-5D5F-46AE-93BF-527FD6D13D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7054DC-D709-49D8-8331-FC6AE8E36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D7A751D-BE1B-40DA-9C0F-042E3D798C1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2026-09-20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AA8944-91D1-428C-A566-F69CEB78A1F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2B27E16-828F-41B4-BF2C-1667452C21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68F2686-FB7E-462C-9EC7-DDD4CB5E88E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2026-09-20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C9584A8-757F-48B4-AE1D-54A674B7270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044F15-89E6-4327-A0C6-90FEB269C3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BCE772D-D555-41A5-8F20-149C45C8AF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>
            <a:normAutofit/>
          </a:bodyPr>
          <a:lstStyle>
            <a:lvl1pPr>
              <a:buNone/>
              <a:defRPr sz="1600"/>
            </a:lvl1pPr>
          </a:lstStyle>
          <a:p>
            <a:pPr>
              <a:buNone/>
            </a:pPr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0097360-FF83-4663-8485-4CE379645D0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>
            <a:normAutofit/>
          </a:bodyPr>
          <a:lstStyle>
            <a:lvl1pPr>
              <a:buNone/>
              <a:defRPr sz="1600"/>
            </a:lvl1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F748D8-86DC-47F7-A68F-80B43749690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EFD9D74-47D9-4702-A33C-335B63B48DBF}" type="datetimeFigureOut">
              <a:t>2026-09-20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7D1DEA-A29F-4AAD-B7FB-E4FE2D656C5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91BC6B-6A01-426B-8DA0-CB9EF19E71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ABC47A4-756D-490B-A52F-7D9E2C9FC05F}" type="slidenum">
              <a:t>‹#›</a:t>
            </a:fld>
            <a:endParaRPr/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4F4E188D-011B-4DC6-B48C-D4EDBF5E1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A170318-5361-428D-8A0E-984E39D201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anchor="ctr">
            <a:normAutofit/>
          </a:bodyPr>
          <a:lstStyle>
            <a:lvl1pPr>
              <a:buNone/>
              <a:defRPr sz="2800"/>
            </a:lvl1pPr>
          </a:lstStyle>
          <a:p>
            <a:pPr>
              <a:buNone/>
            </a:pPr>
            <a:r>
              <a:t>单击此处编辑标题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4CB72-AAF1-4918-A7DB-1CFCEE6D01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buNone/>
              <a:defRPr spc="300"/>
            </a:lvl1pPr>
            <a:lvl2pPr marL="685800" indent="-228600">
              <a:buNone/>
              <a:defRPr spc="300"/>
            </a:lvl2pPr>
            <a:lvl3pPr marL="1143000" indent="-228600">
              <a:buNone/>
              <a:defRPr spc="300"/>
            </a:lvl3pPr>
            <a:lvl4pPr marL="1600200" indent="-228600">
              <a:buNone/>
              <a:defRPr spc="300"/>
            </a:lvl4pPr>
            <a:lvl5pPr marL="2057400" indent="-228600">
              <a:buNone/>
              <a:defRPr spc="300"/>
            </a:lvl5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5F2C6F-AC8A-469B-BFD9-FE81950669C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2026-09-20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EF39F2-BB37-4DF8-9772-A1D5E4B1068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B431A0-5D32-4443-8514-CB4FBA2656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27C3940-28EF-4142-B7B8-CB87F29165B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2026-09-20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386E29-7E6D-4EA5-9C69-93A4C311F35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60BE97B-BDBD-4151-B6AB-2159534455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05B87756-BC33-45BC-894F-164D91CFB15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992C23E-7253-44AB-9397-C800533DCB9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2026-09-20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6B64AD8-89D9-43A1-BCEB-C34CB4CAA5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C6365B8-68FE-4E57-A954-41410FA3B7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8204CC8-C14D-4A0B-8988-6EDC2CC999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anchor="t">
            <a:normAutofit/>
          </a:bodyPr>
          <a:lstStyle>
            <a:lvl1pPr algn="ctr">
              <a:buNone/>
              <a:defRPr sz="6000"/>
            </a:lvl1pPr>
          </a:lstStyle>
          <a:p>
            <a:pPr>
              <a:buNone/>
            </a:pPr>
            <a:r>
              <a:t>单击此处编辑标题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8CE75E29-F427-4503-B2EE-1DAE3AFD398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>
              <a:buNone/>
            </a:pPr>
            <a:r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1663FBA5-BDA6-4C8C-B397-D60D211930AE}"/>
              </a:ext>
            </a:extLst>
          </p:cNvPr>
          <p:cNvSpPr>
            <a:spLocks noGrp="1"/>
          </p:cNvSpPr>
          <p:nvPr/>
        </p:nvSpPr>
        <p:spPr>
          <a:xfrm>
            <a:off x="191344" y="737562"/>
            <a:ext cx="11809312" cy="5067699"/>
          </a:xfrm>
          <a:prstGeom prst="rect">
            <a:avLst/>
          </a:prstGeom>
          <a:solidFill>
            <a:srgbClr val="005BAC">
              <a:alpha val="90000"/>
            </a:srgbClr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文本占位符 73">
            <a:extLst>
              <a:ext uri="{FF2B5EF4-FFF2-40B4-BE49-F238E27FC236}">
                <a16:creationId xmlns:a16="http://schemas.microsoft.com/office/drawing/2014/main" id="{1CD044CB-B0D8-448E-B78F-0071202101E9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4583773" y="4851298"/>
            <a:ext cx="3024188" cy="358941"/>
          </a:xfrm>
        </p:spPr>
        <p:txBody>
          <a:bodyPr anchor="ctr"/>
          <a:lstStyle>
            <a:lvl1pPr algn="ctr">
              <a:buNone/>
              <a:defRPr sz="18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  <a:lvl2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5pPr>
          </a:lstStyle>
          <a:p>
            <a:pPr>
              <a:buNone/>
            </a:pPr>
            <a:r>
              <a:t>单击此处编辑</a:t>
            </a:r>
          </a:p>
        </p:txBody>
      </p:sp>
      <p:sp>
        <p:nvSpPr>
          <p:cNvPr id="76" name="标题 75">
            <a:extLst>
              <a:ext uri="{FF2B5EF4-FFF2-40B4-BE49-F238E27FC236}">
                <a16:creationId xmlns:a16="http://schemas.microsoft.com/office/drawing/2014/main" id="{B7CA6298-7645-4B76-9C7B-5900BAC516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3867" y="2087714"/>
            <a:ext cx="9144000" cy="677108"/>
          </a:xfrm>
        </p:spPr>
        <p:txBody>
          <a:bodyPr/>
          <a:lstStyle>
            <a:lvl1pPr algn="ctr">
              <a:buNone/>
              <a:defRPr sz="4400" b="1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>
            <a:r>
              <a:t>编辑标题样式</a:t>
            </a:r>
          </a:p>
        </p:txBody>
      </p:sp>
      <p:sp>
        <p:nvSpPr>
          <p:cNvPr id="79" name="文本占位符 78">
            <a:extLst>
              <a:ext uri="{FF2B5EF4-FFF2-40B4-BE49-F238E27FC236}">
                <a16:creationId xmlns:a16="http://schemas.microsoft.com/office/drawing/2014/main" id="{7F7BE5F6-56D0-4E82-B9AB-E1E707A00BB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3431248" y="4266698"/>
            <a:ext cx="5329238" cy="440681"/>
          </a:xfrm>
        </p:spPr>
        <p:txBody>
          <a:bodyPr anchor="ctr"/>
          <a:lstStyle>
            <a:lvl1pPr algn="ctr">
              <a:buNone/>
              <a:defRPr sz="20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>
            <a:pPr>
              <a:buNone/>
            </a:pPr>
            <a:r>
              <a:t>电子信息与通信学院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2733C61-8216-4B81-8E92-D7C6839AC68A}"/>
              </a:ext>
            </a:extLst>
          </p:cNvPr>
          <p:cNvSpPr>
            <a:spLocks noGrp="1"/>
          </p:cNvSpPr>
          <p:nvPr/>
        </p:nvSpPr>
        <p:spPr>
          <a:xfrm>
            <a:off x="383647" y="508498"/>
            <a:ext cx="144000" cy="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142FAE4-9786-4A46-BDEF-71076D530B5A}"/>
              </a:ext>
            </a:extLst>
          </p:cNvPr>
          <p:cNvSpPr>
            <a:spLocks noGrp="1"/>
          </p:cNvSpPr>
          <p:nvPr/>
        </p:nvSpPr>
        <p:spPr>
          <a:xfrm flipH="1">
            <a:off x="11664353" y="508498"/>
            <a:ext cx="144000" cy="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A4C046B-35ED-4F4B-B0F4-433B6A3B0A6C}"/>
              </a:ext>
            </a:extLst>
          </p:cNvPr>
          <p:cNvSpPr>
            <a:spLocks noGrp="1"/>
          </p:cNvSpPr>
          <p:nvPr/>
        </p:nvSpPr>
        <p:spPr>
          <a:xfrm>
            <a:off x="191344" y="305562"/>
            <a:ext cx="288000" cy="288000"/>
          </a:xfrm>
          <a:prstGeom prst="rect">
            <a:avLst/>
          </a:prstGeom>
          <a:solidFill>
            <a:srgbClr val="005BAC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A3A01FF-2F41-4BDE-96CD-D24A509B8DE8}"/>
              </a:ext>
            </a:extLst>
          </p:cNvPr>
          <p:cNvSpPr>
            <a:spLocks noGrp="1"/>
          </p:cNvSpPr>
          <p:nvPr/>
        </p:nvSpPr>
        <p:spPr>
          <a:xfrm flipH="1">
            <a:off x="11712656" y="305562"/>
            <a:ext cx="288000" cy="288000"/>
          </a:xfrm>
          <a:prstGeom prst="rect">
            <a:avLst/>
          </a:prstGeom>
          <a:solidFill>
            <a:srgbClr val="005BAC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04" name="直接连接符 23"/>
          <p:cNvCxnSpPr>
            <a:stCxn id="14" idx="2"/>
            <a:endCxn id="15" idx="2"/>
          </p:cNvCxnSpPr>
          <p:nvPr/>
        </p:nvCxnSpPr>
        <p:spPr>
          <a:xfrm>
            <a:off x="455647" y="652498"/>
            <a:ext cx="11280706" cy="0"/>
          </a:xfrm>
          <a:prstGeom prst="line">
            <a:avLst/>
          </a:prstGeom>
          <a:ln w="6350" cap="flat">
            <a:solidFill>
              <a:srgbClr val="005BAD"/>
            </a:solidFill>
            <a:prstDash val="solid"/>
            <a:miter/>
          </a:ln>
        </p:spPr>
      </p:cxnSp>
      <p:pic>
        <p:nvPicPr>
          <p:cNvPr id="305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193" y="5877272"/>
            <a:ext cx="1203613" cy="914400"/>
          </a:xfrm>
          <a:prstGeom prst="rect">
            <a:avLst/>
          </a:prstGeom>
        </p:spPr>
      </p:pic>
      <p:sp>
        <p:nvSpPr>
          <p:cNvPr id="21" name="页脚占位符 136">
            <a:extLst>
              <a:ext uri="{FF2B5EF4-FFF2-40B4-BE49-F238E27FC236}">
                <a16:creationId xmlns:a16="http://schemas.microsoft.com/office/drawing/2014/main" id="{8B54C9D5-2C73-4D6E-90F9-33F606667DC9}"/>
              </a:ext>
            </a:extLst>
          </p:cNvPr>
          <p:cNvSpPr>
            <a:spLocks noGrp="1"/>
          </p:cNvSpPr>
          <p:nvPr/>
        </p:nvSpPr>
        <p:spPr>
          <a:xfrm>
            <a:off x="2895600" y="284390"/>
            <a:ext cx="6400800" cy="364987"/>
          </a:xfrm>
          <a:prstGeom prst="rect">
            <a:avLst/>
          </a:prstGeom>
        </p:spPr>
        <p:txBody>
          <a:bodyPr vert="horz" wrap="none" lIns="91440" tIns="45720" rIns="91440" bIns="45720" anchor="ctr"/>
          <a:lstStyle>
            <a:lvl1pPr marL="0">
              <a:buNone/>
              <a:defRPr sz="10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1400">
                <a:solidFill>
                  <a:srgbClr val="005BAC"/>
                </a:solidFill>
                <a:latin typeface="微软雅黑"/>
                <a:ea typeface="微软雅黑"/>
                <a:cs typeface="微软雅黑"/>
              </a:rPr>
              <a:t>明德厚学 求是创新</a:t>
            </a:r>
          </a:p>
        </p:txBody>
      </p:sp>
      <p:sp>
        <p:nvSpPr>
          <p:cNvPr id="25" name="文本占位符 78">
            <a:extLst>
              <a:ext uri="{FF2B5EF4-FFF2-40B4-BE49-F238E27FC236}">
                <a16:creationId xmlns:a16="http://schemas.microsoft.com/office/drawing/2014/main" id="{A3195E40-966D-4383-8765-FC401833B07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2351451" y="2944162"/>
            <a:ext cx="7488832" cy="440681"/>
          </a:xfrm>
        </p:spPr>
        <p:txBody>
          <a:bodyPr anchor="ctr"/>
          <a:lstStyle>
            <a:lvl1pPr algn="ctr">
              <a:buNone/>
              <a:defRPr sz="24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>
            <a:pPr>
              <a:buNone/>
            </a:pPr>
            <a:r>
              <a:t>编辑副标题</a:t>
            </a:r>
          </a:p>
        </p:txBody>
      </p:sp>
      <p:sp>
        <p:nvSpPr>
          <p:cNvPr id="26" name="文本占位符 78">
            <a:extLst>
              <a:ext uri="{FF2B5EF4-FFF2-40B4-BE49-F238E27FC236}">
                <a16:creationId xmlns:a16="http://schemas.microsoft.com/office/drawing/2014/main" id="{FC7891A1-B4C6-46BD-A955-71C3D974ABE0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3431248" y="3732590"/>
            <a:ext cx="5329238" cy="440681"/>
          </a:xfrm>
        </p:spPr>
        <p:txBody>
          <a:bodyPr anchor="ctr"/>
          <a:lstStyle>
            <a:lvl1pPr algn="ctr">
              <a:buNone/>
              <a:defRPr sz="24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>
            <a:pPr>
              <a:buNone/>
            </a:pPr>
            <a:r>
              <a:t>xxx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4" name="Straight Arrow Connector 4"/>
          <p:cNvCxnSpPr/>
          <p:nvPr/>
        </p:nvCxnSpPr>
        <p:spPr>
          <a:xfrm>
            <a:off x="-1145117" y="6303964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5" name="Straight Arrow Connector 5"/>
          <p:cNvCxnSpPr/>
          <p:nvPr/>
        </p:nvCxnSpPr>
        <p:spPr>
          <a:xfrm>
            <a:off x="472017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" name="Straight Arrow Connector 7"/>
          <p:cNvCxnSpPr/>
          <p:nvPr/>
        </p:nvCxnSpPr>
        <p:spPr>
          <a:xfrm>
            <a:off x="11703051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7" name="Straight Arrow Connector 8"/>
          <p:cNvCxnSpPr/>
          <p:nvPr/>
        </p:nvCxnSpPr>
        <p:spPr>
          <a:xfrm>
            <a:off x="-1145117" y="1258889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9"/>
          <p:cNvCxnSpPr/>
          <p:nvPr/>
        </p:nvCxnSpPr>
        <p:spPr>
          <a:xfrm>
            <a:off x="-1145117" y="763589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10"/>
          <p:cNvCxnSpPr/>
          <p:nvPr/>
        </p:nvCxnSpPr>
        <p:spPr>
          <a:xfrm>
            <a:off x="5856817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Straight Arrow Connector 11"/>
          <p:cNvCxnSpPr/>
          <p:nvPr/>
        </p:nvCxnSpPr>
        <p:spPr>
          <a:xfrm>
            <a:off x="6335184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6">
            <a:extLst>
              <a:ext uri="{FF2B5EF4-FFF2-40B4-BE49-F238E27FC236}">
                <a16:creationId xmlns:a16="http://schemas.microsoft.com/office/drawing/2014/main" id="{960A2AB8-24E5-402F-BD05-4E4F7773E26C}"/>
              </a:ext>
            </a:extLst>
          </p:cNvPr>
          <p:cNvSpPr>
            <a:spLocks noGrp="1"/>
          </p:cNvSpPr>
          <p:nvPr/>
        </p:nvSpPr>
        <p:spPr>
          <a:xfrm>
            <a:off x="-2423583" y="6581776"/>
            <a:ext cx="2239433" cy="2762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9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White markers indicate position of  Drawing Guides</a:t>
            </a:r>
          </a:p>
        </p:txBody>
      </p:sp>
      <p:sp>
        <p:nvSpPr>
          <p:cNvPr id="14" name="TextBox 17">
            <a:extLst>
              <a:ext uri="{FF2B5EF4-FFF2-40B4-BE49-F238E27FC236}">
                <a16:creationId xmlns:a16="http://schemas.microsoft.com/office/drawing/2014/main" id="{816D9D75-5ED9-438D-BAFB-60E52F4EEC7C}"/>
              </a:ext>
            </a:extLst>
          </p:cNvPr>
          <p:cNvSpPr>
            <a:spLocks noGrp="1"/>
          </p:cNvSpPr>
          <p:nvPr/>
        </p:nvSpPr>
        <p:spPr>
          <a:xfrm>
            <a:off x="-1255183" y="896938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7.40 cm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2.91 Inches</a:t>
            </a:r>
          </a:p>
        </p:txBody>
      </p:sp>
      <p:sp>
        <p:nvSpPr>
          <p:cNvPr id="15" name="TextBox 18">
            <a:extLst>
              <a:ext uri="{FF2B5EF4-FFF2-40B4-BE49-F238E27FC236}">
                <a16:creationId xmlns:a16="http://schemas.microsoft.com/office/drawing/2014/main" id="{C72E5887-D42D-4561-8490-9D84415B44D5}"/>
              </a:ext>
            </a:extLst>
          </p:cNvPr>
          <p:cNvSpPr>
            <a:spLocks noGrp="1"/>
          </p:cNvSpPr>
          <p:nvPr/>
        </p:nvSpPr>
        <p:spPr>
          <a:xfrm>
            <a:off x="-1255183" y="15049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6.00 cm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2.36 Inches</a:t>
            </a:r>
          </a:p>
        </p:txBody>
      </p:sp>
      <p:sp>
        <p:nvSpPr>
          <p:cNvPr id="16" name="TextBox 19">
            <a:extLst>
              <a:ext uri="{FF2B5EF4-FFF2-40B4-BE49-F238E27FC236}">
                <a16:creationId xmlns:a16="http://schemas.microsoft.com/office/drawing/2014/main" id="{280CC5A8-EF79-4781-8053-815653A129D1}"/>
              </a:ext>
            </a:extLst>
          </p:cNvPr>
          <p:cNvSpPr>
            <a:spLocks noGrp="1"/>
          </p:cNvSpPr>
          <p:nvPr/>
        </p:nvSpPr>
        <p:spPr>
          <a:xfrm>
            <a:off x="-1255183" y="5921375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8.00 cm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3.15 Inches</a:t>
            </a:r>
          </a:p>
        </p:txBody>
      </p:sp>
      <p:sp>
        <p:nvSpPr>
          <p:cNvPr id="17" name="TextBox 20">
            <a:extLst>
              <a:ext uri="{FF2B5EF4-FFF2-40B4-BE49-F238E27FC236}">
                <a16:creationId xmlns:a16="http://schemas.microsoft.com/office/drawing/2014/main" id="{C356099A-FA8D-405D-8BCC-EDFB94BFD4DC}"/>
              </a:ext>
            </a:extLst>
          </p:cNvPr>
          <p:cNvSpPr>
            <a:spLocks noGrp="1"/>
          </p:cNvSpPr>
          <p:nvPr/>
        </p:nvSpPr>
        <p:spPr>
          <a:xfrm>
            <a:off x="478368" y="70675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11.70 cm</a:t>
            </a:r>
          </a:p>
          <a:p>
            <a:pPr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 4.61 inches</a:t>
            </a:r>
          </a:p>
        </p:txBody>
      </p:sp>
      <p:sp>
        <p:nvSpPr>
          <p:cNvPr id="18" name="TextBox 21">
            <a:extLst>
              <a:ext uri="{FF2B5EF4-FFF2-40B4-BE49-F238E27FC236}">
                <a16:creationId xmlns:a16="http://schemas.microsoft.com/office/drawing/2014/main" id="{BB9E398F-52CB-4C46-8B02-3DE0A6B13E08}"/>
              </a:ext>
            </a:extLst>
          </p:cNvPr>
          <p:cNvSpPr>
            <a:spLocks noGrp="1"/>
          </p:cNvSpPr>
          <p:nvPr/>
        </p:nvSpPr>
        <p:spPr>
          <a:xfrm>
            <a:off x="4770968" y="70675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0.50 cm 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0.2 inches </a:t>
            </a:r>
          </a:p>
        </p:txBody>
      </p:sp>
      <p:sp>
        <p:nvSpPr>
          <p:cNvPr id="19" name="TextBox 22">
            <a:extLst>
              <a:ext uri="{FF2B5EF4-FFF2-40B4-BE49-F238E27FC236}">
                <a16:creationId xmlns:a16="http://schemas.microsoft.com/office/drawing/2014/main" id="{B47805AC-2EF0-441C-97BB-E71FEE2AC1F2}"/>
              </a:ext>
            </a:extLst>
          </p:cNvPr>
          <p:cNvSpPr>
            <a:spLocks noGrp="1"/>
          </p:cNvSpPr>
          <p:nvPr/>
        </p:nvSpPr>
        <p:spPr>
          <a:xfrm>
            <a:off x="6350001" y="70675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Aft>
                <a:spcPts val="300"/>
              </a:spcAft>
              <a:buChar char="ß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0.50 cm</a:t>
            </a:r>
          </a:p>
          <a:p>
            <a:pPr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 0.2 inches</a:t>
            </a:r>
          </a:p>
        </p:txBody>
      </p:sp>
      <p:sp>
        <p:nvSpPr>
          <p:cNvPr id="20" name="TextBox 23">
            <a:extLst>
              <a:ext uri="{FF2B5EF4-FFF2-40B4-BE49-F238E27FC236}">
                <a16:creationId xmlns:a16="http://schemas.microsoft.com/office/drawing/2014/main" id="{FAE8641A-FC9E-470B-9C29-AE3021BF1275}"/>
              </a:ext>
            </a:extLst>
          </p:cNvPr>
          <p:cNvSpPr>
            <a:spLocks noGrp="1"/>
          </p:cNvSpPr>
          <p:nvPr/>
        </p:nvSpPr>
        <p:spPr>
          <a:xfrm>
            <a:off x="10627785" y="70675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11.70 cm 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4.61 inches </a:t>
            </a:r>
          </a:p>
        </p:txBody>
      </p:sp>
      <p:cxnSp>
        <p:nvCxnSpPr>
          <p:cNvPr id="479" name="Straight Arrow Connector 20"/>
          <p:cNvCxnSpPr/>
          <p:nvPr/>
        </p:nvCxnSpPr>
        <p:spPr>
          <a:xfrm rot="5400000" flipH="1" flipV="1">
            <a:off x="-296863" y="1308630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0" name="Straight Arrow Connector 21"/>
          <p:cNvCxnSpPr/>
          <p:nvPr/>
        </p:nvCxnSpPr>
        <p:spPr>
          <a:xfrm rot="5400000" flipH="1" flipV="1">
            <a:off x="-296863" y="811743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1" name="Straight Arrow Connector 22"/>
          <p:cNvCxnSpPr/>
          <p:nvPr/>
        </p:nvCxnSpPr>
        <p:spPr>
          <a:xfrm rot="5400000" flipH="1" flipV="1">
            <a:off x="-296863" y="6240993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utoShape 4">
            <a:extLst>
              <a:ext uri="{FF2B5EF4-FFF2-40B4-BE49-F238E27FC236}">
                <a16:creationId xmlns:a16="http://schemas.microsoft.com/office/drawing/2014/main" id="{4CD9ABC4-8223-4F02-ACB0-D63D0B95EECF}"/>
              </a:ext>
            </a:extLst>
          </p:cNvPr>
          <p:cNvSpPr>
            <a:spLocks noGrp="1"/>
          </p:cNvSpPr>
          <p:nvPr/>
        </p:nvSpPr>
        <p:spPr>
          <a:xfrm>
            <a:off x="-2055284" y="0"/>
            <a:ext cx="1871133" cy="692497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>
            <a:spAutoFit/>
          </a:bodyPr>
          <a:lstStyle/>
          <a:p>
            <a:pPr>
              <a:buNone/>
            </a:pPr>
            <a:r>
              <a:rPr sz="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To view  drawing guides:</a:t>
            </a:r>
          </a:p>
          <a:p>
            <a:pPr>
              <a:buNone/>
            </a:pPr>
            <a:endParaRPr sz="7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marL="180975" indent="-180975">
              <a:buAutoNum type="arabicPeriod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Right-click on slide and select ’Grid and Guides...’</a:t>
            </a:r>
          </a:p>
          <a:p>
            <a:pPr marL="180975" indent="-180975">
              <a:buAutoNum type="arabicPeriod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Check ’Display drawing guides on screen’</a:t>
            </a:r>
          </a:p>
          <a:p>
            <a:pPr marL="180975" indent="-180975">
              <a:buAutoNum type="arabicPeriod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Select ’OK’</a:t>
            </a:r>
          </a:p>
        </p:txBody>
      </p:sp>
      <p:sp>
        <p:nvSpPr>
          <p:cNvPr id="64" name="内容占位符 3">
            <a:extLst>
              <a:ext uri="{FF2B5EF4-FFF2-40B4-BE49-F238E27FC236}">
                <a16:creationId xmlns:a16="http://schemas.microsoft.com/office/drawing/2014/main" id="{D7011FCB-A859-4BFD-83F2-0660B72F7BA4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77838" y="1066523"/>
            <a:ext cx="11231562" cy="5317329"/>
          </a:xfrm>
        </p:spPr>
        <p:txBody>
          <a:bodyPr vert="horz" lIns="91440" tIns="45720" rIns="91440" bIns="45720">
            <a:normAutofit/>
          </a:bodyPr>
          <a:lstStyle>
            <a:lvl1pPr marL="0" indent="0" algn="l">
              <a:lnSpc>
                <a:spcPct val="150000"/>
              </a:lnSpc>
              <a:spcBef>
                <a:spcPts val="15"/>
              </a:spcBef>
              <a:buNone/>
              <a:defRPr sz="2000"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marL="179705" indent="-179705" algn="l">
              <a:lnSpc>
                <a:spcPct val="150000"/>
              </a:lnSpc>
              <a:spcBef>
                <a:spcPts val="400"/>
              </a:spcBef>
              <a:buChar char="n"/>
              <a:defRPr sz="1800"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2pPr>
            <a:lvl3pPr marL="358775" indent="-179705" algn="l">
              <a:lnSpc>
                <a:spcPct val="150000"/>
              </a:lnSpc>
              <a:spcBef>
                <a:spcPts val="400"/>
              </a:spcBef>
              <a:buChar char="n"/>
              <a:defRPr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3pPr>
            <a:lvl4pPr marL="539750" indent="-179705" algn="l">
              <a:lnSpc>
                <a:spcPct val="150000"/>
              </a:lnSpc>
              <a:spcBef>
                <a:spcPts val="400"/>
              </a:spcBef>
              <a:buChar char="n"/>
              <a:defRPr sz="1400"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4pPr>
            <a:lvl5pPr marL="2114550" indent="-285750">
              <a:buChar char="n"/>
              <a:defRPr sz="1400" b="0" i="0">
                <a:solidFill>
                  <a:schemeClr val="tx2"/>
                </a:solidFill>
                <a:latin typeface="等线"/>
                <a:ea typeface="等线"/>
                <a:cs typeface="等线"/>
              </a:defRPr>
            </a:lvl5pPr>
          </a:lstStyle>
          <a:p>
            <a:pPr marL="0" indent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单击此处编辑母版文本样式</a:t>
            </a:r>
          </a:p>
          <a:p>
            <a:pPr marL="179705" indent="-17970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har char="n"/>
            </a:pPr>
            <a:r>
              <a:rPr sz="18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第二级</a:t>
            </a:r>
          </a:p>
          <a:p>
            <a:pPr marL="358775" indent="-17970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har char="n"/>
            </a:pPr>
            <a:r>
              <a:rPr sz="16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第三级</a:t>
            </a:r>
          </a:p>
          <a:p>
            <a:pPr marL="539750" indent="-17970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har char="n"/>
            </a:pPr>
            <a:r>
              <a:rPr sz="16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第四级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06F666D-3D77-45CE-9E36-7D43AAB1AFBF}"/>
              </a:ext>
            </a:extLst>
          </p:cNvPr>
          <p:cNvSpPr>
            <a:spLocks noGrp="1"/>
          </p:cNvSpPr>
          <p:nvPr/>
        </p:nvSpPr>
        <p:spPr>
          <a:xfrm>
            <a:off x="383647" y="508498"/>
            <a:ext cx="144000" cy="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A9F9444-981D-482B-B1B1-E6B8B90BD969}"/>
              </a:ext>
            </a:extLst>
          </p:cNvPr>
          <p:cNvSpPr>
            <a:spLocks noGrp="1"/>
          </p:cNvSpPr>
          <p:nvPr/>
        </p:nvSpPr>
        <p:spPr>
          <a:xfrm>
            <a:off x="191344" y="305562"/>
            <a:ext cx="288000" cy="288000"/>
          </a:xfrm>
          <a:prstGeom prst="rect">
            <a:avLst/>
          </a:prstGeom>
          <a:solidFill>
            <a:srgbClr val="005BAC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日期占位符 135">
            <a:extLst>
              <a:ext uri="{FF2B5EF4-FFF2-40B4-BE49-F238E27FC236}">
                <a16:creationId xmlns:a16="http://schemas.microsoft.com/office/drawing/2014/main" id="{AEAC94EA-4735-4835-8D0B-6AF5E5DBC1BE}"/>
              </a:ext>
            </a:extLst>
          </p:cNvPr>
          <p:cNvSpPr>
            <a:spLocks noGrp="1"/>
          </p:cNvSpPr>
          <p:nvPr/>
        </p:nvSpPr>
        <p:spPr>
          <a:xfrm>
            <a:off x="9048328" y="6555494"/>
            <a:ext cx="2883976" cy="267573"/>
          </a:xfrm>
          <a:prstGeom prst="rect">
            <a:avLst/>
          </a:prstGeom>
        </p:spPr>
        <p:txBody>
          <a:bodyPr anchor="ctr"/>
          <a:lstStyle>
            <a:lvl1pPr marL="0" algn="r">
              <a:buNone/>
              <a:defRPr sz="10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</a:pPr>
            <a:r>
              <a:rPr>
                <a:solidFill>
                  <a:srgbClr val="005BAD">
                    <a:alpha val="75000"/>
                  </a:srgbClr>
                </a:solidFill>
                <a:latin typeface="微软雅黑"/>
                <a:ea typeface="微软雅黑"/>
                <a:cs typeface="微软雅黑"/>
              </a:rPr>
              <a:t>华中科技大学电子信息与通信学院</a:t>
            </a:r>
          </a:p>
        </p:txBody>
      </p:sp>
      <p:sp>
        <p:nvSpPr>
          <p:cNvPr id="60" name="页脚占位符 136">
            <a:extLst>
              <a:ext uri="{FF2B5EF4-FFF2-40B4-BE49-F238E27FC236}">
                <a16:creationId xmlns:a16="http://schemas.microsoft.com/office/drawing/2014/main" id="{0E878418-DF82-4DAF-B41B-267BBB6CF5A0}"/>
              </a:ext>
            </a:extLst>
          </p:cNvPr>
          <p:cNvSpPr>
            <a:spLocks noGrp="1"/>
          </p:cNvSpPr>
          <p:nvPr/>
        </p:nvSpPr>
        <p:spPr>
          <a:xfrm>
            <a:off x="187688" y="6552438"/>
            <a:ext cx="2880000" cy="27368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>
              <a:buNone/>
              <a:defRPr sz="10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>
                <a:solidFill>
                  <a:srgbClr val="005BAD">
                    <a:alpha val="75000"/>
                  </a:srgbClr>
                </a:solidFill>
                <a:latin typeface="微软雅黑"/>
                <a:ea typeface="微软雅黑"/>
                <a:cs typeface="微软雅黑"/>
              </a:rPr>
              <a:t>明德厚学 求是创新</a:t>
            </a:r>
          </a:p>
        </p:txBody>
      </p:sp>
      <p:sp>
        <p:nvSpPr>
          <p:cNvPr id="61" name="Slide Number Placeholder 5">
            <a:extLst>
              <a:ext uri="{FF2B5EF4-FFF2-40B4-BE49-F238E27FC236}">
                <a16:creationId xmlns:a16="http://schemas.microsoft.com/office/drawing/2014/main" id="{17029273-9C77-40E6-9DCD-4AEAEAF594B8}"/>
              </a:ext>
            </a:extLst>
          </p:cNvPr>
          <p:cNvSpPr>
            <a:spLocks noGrp="1"/>
          </p:cNvSpPr>
          <p:nvPr/>
        </p:nvSpPr>
        <p:spPr>
          <a:xfrm>
            <a:off x="5853936" y="6626574"/>
            <a:ext cx="480484" cy="125413"/>
          </a:xfrm>
          <a:prstGeom prst="rect">
            <a:avLst/>
          </a:prstGeom>
        </p:spPr>
        <p:txBody>
          <a:bodyPr vert="horz" lIns="0" tIns="0" rIns="0" bIns="0" anchor="b">
            <a:noAutofit/>
          </a:bodyPr>
          <a:lstStyle>
            <a:lvl1pPr marL="0" algn="l"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fld id="{73DA0BB7-265A-403C-9275-D587AB510EDC}" type="slidenum">
              <a:rPr b="0">
                <a:solidFill>
                  <a:srgbClr val="005BAD">
                    <a:alpha val="75000"/>
                  </a:srgbClr>
                </a:solidFill>
                <a:latin typeface="微软雅黑"/>
                <a:ea typeface="微软雅黑"/>
                <a:cs typeface="微软雅黑"/>
              </a:rPr>
              <a:t>‹#›</a:t>
            </a:fld>
            <a:endParaRPr b="0">
              <a:solidFill>
                <a:srgbClr val="005BAD">
                  <a:alpha val="75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2" name="直接连接符 23">
            <a:extLst>
              <a:ext uri="{FF2B5EF4-FFF2-40B4-BE49-F238E27FC236}">
                <a16:creationId xmlns:a16="http://schemas.microsoft.com/office/drawing/2014/main" id="{E253B85C-8C1F-412F-9C7F-095F739F2DB1}"/>
              </a:ext>
            </a:extLst>
          </p:cNvPr>
          <p:cNvSpPr>
            <a:spLocks noGrp="1"/>
          </p:cNvSpPr>
          <p:nvPr/>
        </p:nvSpPr>
        <p:spPr>
          <a:xfrm>
            <a:off x="0" y="908720"/>
            <a:ext cx="12192000" cy="12363"/>
          </a:xfrm>
          <a:prstGeom prst="line">
            <a:avLst/>
          </a:prstGeom>
          <a:noFill/>
          <a:ln w="6350">
            <a:solidFill>
              <a:srgbClr val="005BAD">
                <a:alpha val="80000"/>
              </a:srgbClr>
            </a:solidFill>
            <a:prstDash val="solid"/>
          </a:ln>
        </p:spPr>
      </p:sp>
      <p:sp>
        <p:nvSpPr>
          <p:cNvPr id="63" name="直接连接符 23">
            <a:extLst>
              <a:ext uri="{FF2B5EF4-FFF2-40B4-BE49-F238E27FC236}">
                <a16:creationId xmlns:a16="http://schemas.microsoft.com/office/drawing/2014/main" id="{BD997483-1081-451E-8214-A9CE4E2AC154}"/>
              </a:ext>
            </a:extLst>
          </p:cNvPr>
          <p:cNvSpPr>
            <a:spLocks noGrp="1"/>
          </p:cNvSpPr>
          <p:nvPr/>
        </p:nvSpPr>
        <p:spPr>
          <a:xfrm>
            <a:off x="-2381" y="6512981"/>
            <a:ext cx="12192000" cy="12363"/>
          </a:xfrm>
          <a:prstGeom prst="line">
            <a:avLst/>
          </a:prstGeom>
          <a:noFill/>
          <a:ln w="6350">
            <a:solidFill>
              <a:srgbClr val="005BAD">
                <a:alpha val="75000"/>
              </a:srgbClr>
            </a:solidFill>
            <a:prstDash val="solid"/>
          </a:ln>
        </p:spPr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2F6DEA72-91AD-4351-9CAD-117F5BDD4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430887"/>
          </a:xfrm>
        </p:spPr>
        <p:txBody>
          <a:bodyPr lIns="108000"/>
          <a:lstStyle>
            <a:lvl1pPr>
              <a:buNone/>
              <a:defRPr sz="2800" b="1">
                <a:latin typeface="微软雅黑"/>
                <a:ea typeface="微软雅黑"/>
                <a:cs typeface="微软雅黑"/>
              </a:defRPr>
            </a:lvl1pPr>
          </a:lstStyle>
          <a:p>
            <a:r>
              <a:t>单击此处编辑母版标题样式</a:t>
            </a:r>
          </a:p>
        </p:txBody>
      </p:sp>
      <p:pic>
        <p:nvPicPr>
          <p:cNvPr id="492" name="HUST Soli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279400"/>
            <a:ext cx="952500" cy="594827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2F185F6-9137-4DFB-B797-3A9101BB7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3E79E5-3F5F-4ED2-8393-FB980B24A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FE5CCB-59CA-4982-9F85-C811B6D1BA90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t>2026-09-20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3843F2-921C-4A04-A4B2-C0C698A3A29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F50A50-05BE-4F64-9B56-8F57DD8A58E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>
        <a:lnSpc>
          <a:spcPct val="100000"/>
        </a:lnSpc>
        <a:buNone/>
        <a:defRPr sz="3600" b="0" u="none" cap="none" spc="300">
          <a:solidFill>
            <a:schemeClr val="tx1">
              <a:lumMod val="85000"/>
              <a:lumOff val="15000"/>
            </a:schemeClr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130000"/>
        </a:lnSpc>
        <a:spcBef>
          <a:spcPts val="0"/>
        </a:spcBef>
        <a:spcAft>
          <a:spcPts val="1000"/>
        </a:spcAft>
        <a:buChar char="●"/>
        <a:defRPr sz="18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marL="685800" indent="-228600" algn="l">
        <a:lnSpc>
          <a:spcPct val="120000"/>
        </a:lnSpc>
        <a:spcBef>
          <a:spcPts val="0"/>
        </a:spcBef>
        <a:spcAft>
          <a:spcPts val="600"/>
        </a:spcAft>
        <a:buChar char="●"/>
        <a:defRPr sz="16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marL="1143000" indent="-228600" algn="l">
        <a:lnSpc>
          <a:spcPct val="120000"/>
        </a:lnSpc>
        <a:spcBef>
          <a:spcPts val="0"/>
        </a:spcBef>
        <a:spcAft>
          <a:spcPts val="600"/>
        </a:spcAft>
        <a:buChar char="●"/>
        <a:defRPr sz="16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marL="1600200" indent="-228600" algn="l">
        <a:lnSpc>
          <a:spcPct val="120000"/>
        </a:lnSpc>
        <a:spcBef>
          <a:spcPts val="0"/>
        </a:spcBef>
        <a:spcAft>
          <a:spcPts val="300"/>
        </a:spcAft>
        <a:buChar char=""/>
        <a:defRPr sz="14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marL="2057400" indent="-228600" algn="l">
        <a:lnSpc>
          <a:spcPct val="120000"/>
        </a:lnSpc>
        <a:spcBef>
          <a:spcPts val="0"/>
        </a:spcBef>
        <a:spcAft>
          <a:spcPts val="300"/>
        </a:spcAft>
        <a:buChar char="•"/>
        <a:defRPr sz="14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3.png"/><Relationship Id="rId5" Type="http://schemas.microsoft.com/office/2007/relationships/media" Target="../media/media2.mp4"/><Relationship Id="rId6" Type="http://schemas.openxmlformats.org/officeDocument/2006/relationships/video" Target="../media/media2.mp4"/><Relationship Id="rId7" Type="http://schemas.openxmlformats.org/officeDocument/2006/relationships/image" Target="../media/image4.png"/><Relationship Id="rId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5.png"/><Relationship Id="rId5" Type="http://schemas.microsoft.com/office/2007/relationships/media" Target="../media/media4.mp4"/><Relationship Id="rId6" Type="http://schemas.openxmlformats.org/officeDocument/2006/relationships/video" Target="../media/media4.mp4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ver-title">
            <a:extLst>
              <a:ext uri="{FF2B5EF4-FFF2-40B4-BE49-F238E27FC236}">
                <a16:creationId xmlns:a16="http://schemas.microsoft.com/office/drawing/2014/main" id="{34FCF1B0-383E-411C-AC5A-4680BA8F2732}"/>
              </a:ext>
            </a:extLst>
          </p:cNvPr>
          <p:cNvSpPr>
            <a:spLocks noGrp="1"/>
          </p:cNvSpPr>
          <p:nvPr/>
        </p:nvSpPr>
        <p:spPr>
          <a:xfrm>
            <a:off x="1524000" y="1764030"/>
            <a:ext cx="9144000" cy="19595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0202" tIns="46958" rIns="90202" bIns="46958" anchor="ctr">
            <a:noAutofit/>
          </a:bodyPr>
          <a:lstStyle/>
          <a:p>
            <a:pPr algn="ctr">
              <a:buNone/>
            </a:pPr>
            <a:r>
              <a:rPr lang="zh-CN" altLang="en-US" sz="3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/>
                <a:cs typeface="Microsoft YaHei"/>
              </a:rPr>
              <a:t>视频虚化：基线补充</a:t>
            </a:r>
          </a:p>
          <a:p>
            <a:pPr algn="ctr">
              <a:buNone/>
            </a:pPr>
            <a:r>
              <a:rPr lang="zh-CN" altLang="en-US" sz="3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/>
                <a:cs typeface="Microsoft YaHei"/>
              </a:rPr>
              <a:t>与 Any-to-Bokeh 效率分析</a:t>
            </a:r>
          </a:p>
        </p:txBody>
      </p:sp>
      <p:sp>
        <p:nvSpPr>
          <p:cNvPr id="2" name="cover-subtitle">
            <a:extLst>
              <a:ext uri="{FF2B5EF4-FFF2-40B4-BE49-F238E27FC236}">
                <a16:creationId xmlns:a16="http://schemas.microsoft.com/office/drawing/2014/main" id="{9E702C5D-B811-466D-87B9-4469F8E55496}"/>
              </a:ext>
            </a:extLst>
          </p:cNvPr>
          <p:cNvSpPr>
            <a:spLocks noGrp="1"/>
          </p:cNvSpPr>
          <p:nvPr/>
        </p:nvSpPr>
        <p:spPr>
          <a:xfrm>
            <a:off x="3335655" y="4516088"/>
            <a:ext cx="21793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383">
            <a:solidFill>
              <a:srgbClr val="4874CB"/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3" name="cover-line">
            <a:extLst>
              <a:ext uri="{FF2B5EF4-FFF2-40B4-BE49-F238E27FC236}">
                <a16:creationId xmlns:a16="http://schemas.microsoft.com/office/drawing/2014/main" id="{156E7023-1426-46F1-88A1-85B75EFCF0E6}"/>
              </a:ext>
            </a:extLst>
          </p:cNvPr>
          <p:cNvSpPr>
            <a:spLocks noGrp="1"/>
          </p:cNvSpPr>
          <p:nvPr/>
        </p:nvSpPr>
        <p:spPr>
          <a:xfrm>
            <a:off x="3159728" y="4580287"/>
            <a:ext cx="2531078" cy="4388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0011" tIns="46768" rIns="90011" bIns="46768" anchor="ctr">
            <a:normAutofit/>
          </a:bodyPr>
          <a:lstStyle/>
          <a:p>
            <a:pPr algn="ctr">
              <a:buNone/>
              <a:defRPr sz="2000">
                <a:solidFill>
                  <a:srgbClr val="4874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>
                <a:solidFill>
                  <a:srgbClr val="4874CB"/>
                </a:solidFill>
                <a:latin typeface="Microsoft YaHei"/>
                <a:ea typeface="Microsoft YaHei"/>
                <a:cs typeface="Microsoft YaHei"/>
              </a:rPr>
              <a:t>汇报人：孟辰洋</a:t>
            </a:r>
          </a:p>
        </p:txBody>
      </p:sp>
      <p:sp>
        <p:nvSpPr>
          <p:cNvPr id="4" name="cover-meta">
            <a:extLst>
              <a:ext uri="{FF2B5EF4-FFF2-40B4-BE49-F238E27FC236}">
                <a16:creationId xmlns:a16="http://schemas.microsoft.com/office/drawing/2014/main" id="{A9B675D7-E24D-45A9-A92F-1E365CD38FDE}"/>
              </a:ext>
            </a:extLst>
          </p:cNvPr>
          <p:cNvSpPr>
            <a:spLocks noGrp="1"/>
          </p:cNvSpPr>
          <p:nvPr/>
        </p:nvSpPr>
        <p:spPr>
          <a:xfrm>
            <a:off x="6307455" y="4516088"/>
            <a:ext cx="21793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383">
            <a:solidFill>
              <a:srgbClr val="4874CB"/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0">
                <a:solidFill>
                  <a:srgbClr val="D9ECFA"/>
                </a:solidFill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5" name="cover-date">
            <a:extLst>
              <a:ext uri="{FF2B5EF4-FFF2-40B4-BE49-F238E27FC236}">
                <a16:creationId xmlns:a16="http://schemas.microsoft.com/office/drawing/2014/main" id="{B30BD35B-0B78-4147-8308-E7DBA3CFAF23}"/>
              </a:ext>
            </a:extLst>
          </p:cNvPr>
          <p:cNvSpPr>
            <a:spLocks noGrp="1"/>
          </p:cNvSpPr>
          <p:nvPr/>
        </p:nvSpPr>
        <p:spPr>
          <a:xfrm>
            <a:off x="6131528" y="4580287"/>
            <a:ext cx="2531078" cy="4388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tIns="45720" rIns="91440" bIns="4572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00" b="0">
                <a:solidFill>
                  <a:srgbClr val="4874C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00" b="0">
                <a:solidFill>
                  <a:srgbClr val="4874CB"/>
                </a:solidFill>
                <a:latin typeface="Microsoft YaHei"/>
                <a:ea typeface="Microsoft YaHei"/>
                <a:cs typeface="Microsoft YaHei"/>
              </a:rPr>
              <a:t>汇报日期：待定</a:t>
            </a:r>
          </a:p>
        </p:txBody>
      </p:sp>
      <p:sp>
        <p:nvSpPr>
          <p:cNvPr id="100" name="Updated note 100">
            <a:extLst>
              <a:ext uri="{FF2B5EF4-FFF2-40B4-BE49-F238E27FC236}">
                <a16:creationId xmlns:a16="http://schemas.microsoft.com/office/drawing/2014/main" id="{156E7023-1426-46F1-88A1-85B75EFCF0E6}"/>
              </a:ext>
            </a:extLst>
          </p:cNvPr>
          <p:cNvSpPr>
            <a:spLocks noGrp="1"/>
          </p:cNvSpPr>
          <p:nvPr/>
        </p:nvSpPr>
        <p:spPr>
          <a:xfrm>
            <a:off x="2926080" y="5257800"/>
            <a:ext cx="6400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0011" tIns="46768" rIns="90011" bIns="46768" anchor="ctr">
            <a:normAutofit/>
          </a:bodyPr>
          <a:lstStyle/>
          <a:p>
            <a:pPr algn="ctr">
              <a:buNone/>
              <a:defRPr sz="15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下次汇报草稿 · 数据截至 2026.10.01</a:t>
            </a:r>
          </a:p>
        </p:txBody>
      </p:sp>
    </p:spTree>
    <p:extLst>
      <p:ext uri="{BB962C8B-B14F-4D97-AF65-F5344CB8AC3E}">
        <p14:creationId xmlns:p14="http://schemas.microsoft.com/office/powerpoint/2010/main" val="958490399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2" name="title-1">
            <a:extLst>
              <a:ext uri="{FF2B5EF4-FFF2-40B4-BE49-F238E27FC236}">
                <a16:creationId xmlns:a16="http://schemas.microsoft.com/office/drawing/2014/main" id="{33E4F7E3-0ECF-47D1-B36B-CB979572AC6C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主体保留与背景虚化</a:t>
            </a:r>
            <a:endParaRPr sz="2850" b="1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page-1">
            <a:extLst>
              <a:ext uri="{FF2B5EF4-FFF2-40B4-BE49-F238E27FC236}">
                <a16:creationId xmlns:a16="http://schemas.microsoft.com/office/drawing/2014/main" id="{BFFD0FF9-9FAE-46B4-A60A-3AF6342E5A88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  <a:endParaRPr sz="10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990088" y="1024128"/>
            <a:ext cx="405079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D569A"/>
                </a:solidFill>
                <a:latin typeface="Arial"/>
                <a:ea typeface="Microsoft YaHei"/>
              </a:rPr>
              <a:t>输入视频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79" y="1024128"/>
            <a:ext cx="405079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D569A"/>
                </a:solidFill>
                <a:latin typeface="Arial"/>
                <a:ea typeface="Microsoft YaHei"/>
              </a:rPr>
              <a:t>Any-to-Bokeh 输出</a:t>
            </a:r>
          </a:p>
        </p:txBody>
      </p:sp>
      <p:pic>
        <p:nvPicPr>
          <p:cNvPr id="25" name="goat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990088" y="1463040"/>
            <a:ext cx="8101583" cy="226970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86384" y="1810512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D569A"/>
                </a:solidFill>
                <a:latin typeface="Arial"/>
                <a:ea typeface="Microsoft YaHei"/>
              </a:rPr>
              <a:t>官方演示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" y="2267712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101F37"/>
                </a:solidFill>
                <a:latin typeface="Arial"/>
                <a:ea typeface="Microsoft YaHei"/>
              </a:rPr>
              <a:t>山羊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" y="2752344"/>
            <a:ext cx="2084831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6B7A90"/>
                </a:solidFill>
                <a:latin typeface="Arial"/>
                <a:ea typeface="Microsoft YaHei"/>
              </a:rPr>
              <a:t>作者项目页
4.5 秒视频</a:t>
            </a:r>
          </a:p>
        </p:txBody>
      </p:sp>
      <p:pic>
        <p:nvPicPr>
          <p:cNvPr id="29" name="blackswan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990088" y="3840480"/>
            <a:ext cx="8101583" cy="226970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86384" y="4187952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D569A"/>
                </a:solidFill>
                <a:latin typeface="Arial"/>
                <a:ea typeface="Microsoft YaHei"/>
              </a:rPr>
              <a:t>本地复现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4645152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101F37"/>
                </a:solidFill>
                <a:latin typeface="Arial"/>
                <a:ea typeface="Microsoft YaHei"/>
              </a:rPr>
              <a:t>黑天鹅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5129784"/>
            <a:ext cx="2084831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6B7A90"/>
                </a:solidFill>
                <a:latin typeface="Arial"/>
                <a:ea typeface="Microsoft YaHei"/>
              </a:rPr>
              <a:t>DAVIS · 官方权重
K = 16 · 25 帧循环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" y="6245352"/>
            <a:ext cx="612648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01F37"/>
                </a:solidFill>
                <a:latin typeface="Arial"/>
                <a:ea typeface="Microsoft YaHei"/>
              </a:rPr>
              <a:t>观察：背景变虚，主体与细节保留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6245352"/>
            <a:ext cx="429768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B7A90"/>
                </a:solidFill>
                <a:latin typeface="Arial"/>
                <a:ea typeface="Microsoft YaHei"/>
              </a:rPr>
              <a:t>官方来源：vivocameraresearch.github.io/any2bokeh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0">
                <p:cTn id="2" fill="hold" display="0" repeatCount="indefinite">
                  <p:stCondLst>
                    <p:cond delay="indefinite"/>
                  </p:stCondLst>
                </p:cTn>
                <p:tgtEl>
                  <p:spTgt spid="25"/>
                </p:tgtEl>
              </p:cMediaNode>
            </p:video>
            <p:video>
              <p:cMediaNode vol="0">
                <p:cTn id="3" fill="hold" display="0" repeatCount="indefinite">
                  <p:stCondLst>
                    <p:cond delay="indefinite"/>
                  </p:stCondLst>
                </p:cTn>
                <p:tgtEl>
                  <p:spTgt spid="29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2" name="title-1">
            <a:extLst>
              <a:ext uri="{FF2B5EF4-FFF2-40B4-BE49-F238E27FC236}">
                <a16:creationId xmlns:a16="http://schemas.microsoft.com/office/drawing/2014/main" id="{33E4F7E3-0ECF-47D1-B36B-CB979572AC6C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运动场景下的视频虚化</a:t>
            </a:r>
            <a:endParaRPr sz="2850" b="1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page-1">
            <a:extLst>
              <a:ext uri="{FF2B5EF4-FFF2-40B4-BE49-F238E27FC236}">
                <a16:creationId xmlns:a16="http://schemas.microsoft.com/office/drawing/2014/main" id="{BFFD0FF9-9FAE-46B4-A60A-3AF6342E5A88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sz="10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990088" y="1024128"/>
            <a:ext cx="405079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D569A"/>
                </a:solidFill>
                <a:latin typeface="Arial"/>
                <a:ea typeface="Microsoft YaHei"/>
              </a:rPr>
              <a:t>输入视频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79" y="1024128"/>
            <a:ext cx="405079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D569A"/>
                </a:solidFill>
                <a:latin typeface="Arial"/>
                <a:ea typeface="Microsoft YaHei"/>
              </a:rPr>
              <a:t>Any-to-Bokeh 输出</a:t>
            </a:r>
          </a:p>
        </p:txBody>
      </p:sp>
      <p:pic>
        <p:nvPicPr>
          <p:cNvPr id="25" name="danc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990088" y="1463040"/>
            <a:ext cx="8101583" cy="226970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86384" y="1810512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D569A"/>
                </a:solidFill>
                <a:latin typeface="Arial"/>
                <a:ea typeface="Microsoft YaHei"/>
              </a:rPr>
              <a:t>官方演示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" y="2267712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101F37"/>
                </a:solidFill>
                <a:latin typeface="Arial"/>
                <a:ea typeface="Microsoft YaHei"/>
              </a:rPr>
              <a:t>舞蹈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" y="2752344"/>
            <a:ext cx="2084831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6B7A90"/>
                </a:solidFill>
                <a:latin typeface="Arial"/>
                <a:ea typeface="Microsoft YaHei"/>
              </a:rPr>
              <a:t>作者项目页
4.5 秒视频</a:t>
            </a:r>
          </a:p>
        </p:txBody>
      </p:sp>
      <p:pic>
        <p:nvPicPr>
          <p:cNvPr id="29" name="breakdance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990088" y="3840480"/>
            <a:ext cx="8101583" cy="226970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86384" y="4187952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D569A"/>
                </a:solidFill>
                <a:latin typeface="Arial"/>
                <a:ea typeface="Microsoft YaHei"/>
              </a:rPr>
              <a:t>本地复现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4645152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101F37"/>
                </a:solidFill>
                <a:latin typeface="Arial"/>
                <a:ea typeface="Microsoft YaHei"/>
              </a:rPr>
              <a:t>街舞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5129784"/>
            <a:ext cx="2084831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6B7A90"/>
                </a:solidFill>
                <a:latin typeface="Arial"/>
                <a:ea typeface="Microsoft YaHei"/>
              </a:rPr>
              <a:t>DAVIS · 官方权重
K = 16 · 25 帧循环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" y="6245352"/>
            <a:ext cx="612648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01F37"/>
                </a:solidFill>
                <a:latin typeface="Arial"/>
                <a:ea typeface="Microsoft YaHei"/>
              </a:rPr>
              <a:t>观察：运动主体、肢体边界与连续帧变化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6245352"/>
            <a:ext cx="429768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B7A90"/>
                </a:solidFill>
                <a:latin typeface="Arial"/>
                <a:ea typeface="Microsoft YaHei"/>
              </a:rPr>
              <a:t>官方来源：vivocameraresearch.github.io/any2bokeh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0">
                <p:cTn id="2" fill="hold" display="0" repeatCount="indefinite">
                  <p:stCondLst>
                    <p:cond delay="indefinite"/>
                  </p:stCondLst>
                </p:cTn>
                <p:tgtEl>
                  <p:spTgt spid="25"/>
                </p:tgtEl>
              </p:cMediaNode>
            </p:video>
            <p:video>
              <p:cMediaNode vol="0">
                <p:cTn id="3" fill="hold" display="0" repeatCount="indefinite">
                  <p:stCondLst>
                    <p:cond delay="indefinite"/>
                  </p:stCondLst>
                </p:cTn>
                <p:tgtEl>
                  <p:spTgt spid="29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2" name="title-1">
            <a:extLst>
              <a:ext uri="{FF2B5EF4-FFF2-40B4-BE49-F238E27FC236}">
                <a16:creationId xmlns:a16="http://schemas.microsoft.com/office/drawing/2014/main" id="{33E4F7E3-0ECF-47D1-B36B-CB979572AC6C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合成数据定量结果</a:t>
            </a:r>
            <a:endParaRPr sz="2850" b="1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page-1">
            <a:extLst>
              <a:ext uri="{FF2B5EF4-FFF2-40B4-BE49-F238E27FC236}">
                <a16:creationId xmlns:a16="http://schemas.microsoft.com/office/drawing/2014/main" id="{BFFD0FF9-9FAE-46B4-A60A-3AF6342E5A88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sz="10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77240" y="1024128"/>
            <a:ext cx="10515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01F37"/>
                </a:solidFill>
                <a:latin typeface="Arial"/>
                <a:ea typeface="Microsoft YaHei"/>
              </a:rPr>
              <a:t>200 段 × 25 帧，1024×576；新增 MagicBokeh B；上表为复现，下表为论文外部参考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68680" y="1426464"/>
          <a:ext cx="10332720" cy="23042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0312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本项目复现</a:t>
                      </a:r>
                    </a:p>
                  </a:txBody>
                  <a:tcPr anchor="ctr" marL="45720" marR="45720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PSNR ↑</a:t>
                      </a:r>
                    </a:p>
                  </a:txBody>
                  <a:tcPr anchor="ctr" marL="45720" marR="45720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SSIM ↑</a:t>
                      </a:r>
                    </a:p>
                  </a:txBody>
                  <a:tcPr anchor="ctr" marL="45720" marR="45720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LPIPS ↓</a:t>
                      </a:r>
                    </a:p>
                  </a:txBody>
                  <a:tcPr anchor="ctr" marL="45720" marR="45720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FVD ↓</a:t>
                      </a:r>
                    </a:p>
                  </a:txBody>
                  <a:tcPr anchor="ctr" marL="45720" marR="45720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FD ↓</a:t>
                      </a:r>
                    </a:p>
                  </a:txBody>
                  <a:tcPr anchor="ctr" marL="45720" marR="45720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RM ↓</a:t>
                      </a:r>
                    </a:p>
                  </a:txBody>
                  <a:tcPr anchor="ctr" marL="45720" marR="45720" marT="18288" marB="18288">
                    <a:solidFill>
                      <a:srgbClr val="0D569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DeepLens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28.17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0.944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0.063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40.12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0.583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0.0124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Dr.Bokeh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31.59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0.973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0.029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25.86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0.479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0.0084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BokehMe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33.33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0.979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0.025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18.55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0.540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0.0074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MPIB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31.62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0.974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0.028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24.96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0.450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0.0082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BokehDiff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27.06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0.844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0.132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66.00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0.802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0.0216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Any-to-Bokeh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39.71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0.986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0.015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8.94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0.445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0.0056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MagicBokeh B†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25.12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0.800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0.198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97.79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0.871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0.0268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D569A"/>
                          </a:solidFill>
                          <a:latin typeface="Arial"/>
                          <a:ea typeface="Microsoft YaHei"/>
                        </a:rPr>
                        <a:t>六法平均偏差</a:t>
                      </a:r>
                    </a:p>
                  </a:txBody>
                  <a:tcPr anchor="ctr" marL="45720" marR="45720" marT="18288" marB="18288"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D569A"/>
                          </a:solidFill>
                          <a:latin typeface="Arial"/>
                          <a:ea typeface="Microsoft YaHei"/>
                        </a:rPr>
                        <a:t>1.79</a:t>
                      </a:r>
                    </a:p>
                  </a:txBody>
                  <a:tcPr anchor="ctr" marL="45720" marR="45720" marT="18288" marB="18288"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D569A"/>
                          </a:solidFill>
                          <a:latin typeface="Arial"/>
                          <a:ea typeface="Microsoft YaHei"/>
                        </a:rPr>
                        <a:t>0.040</a:t>
                      </a:r>
                    </a:p>
                  </a:txBody>
                  <a:tcPr anchor="ctr" marL="45720" marR="45720" marT="18288" marB="18288"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D569A"/>
                          </a:solidFill>
                          <a:latin typeface="Arial"/>
                          <a:ea typeface="Microsoft YaHei"/>
                        </a:rPr>
                        <a:t>0.032</a:t>
                      </a:r>
                    </a:p>
                  </a:txBody>
                  <a:tcPr anchor="ctr" marL="45720" marR="45720" marT="18288" marB="18288"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D569A"/>
                          </a:solidFill>
                          <a:latin typeface="Arial"/>
                          <a:ea typeface="Microsoft YaHei"/>
                        </a:rPr>
                        <a:t>20.64</a:t>
                      </a:r>
                    </a:p>
                  </a:txBody>
                  <a:tcPr anchor="ctr" marL="45720" marR="45720" marT="18288" marB="18288"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D569A"/>
                          </a:solidFill>
                          <a:latin typeface="Arial"/>
                          <a:ea typeface="Microsoft YaHei"/>
                        </a:rPr>
                        <a:t>0.136</a:t>
                      </a:r>
                    </a:p>
                  </a:txBody>
                  <a:tcPr anchor="ctr" marL="45720" marR="45720" marT="18288" marB="18288"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D569A"/>
                          </a:solidFill>
                          <a:latin typeface="Arial"/>
                          <a:ea typeface="Microsoft YaHei"/>
                        </a:rPr>
                        <a:t>0.0051</a:t>
                      </a:r>
                    </a:p>
                  </a:txBody>
                  <a:tcPr anchor="ctr" marL="45720" marR="45720" marT="18288" marB="18288">
                    <a:solidFill>
                      <a:srgbClr val="DCE9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868680" y="3840480"/>
          <a:ext cx="10332720" cy="20482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0312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论文报告</a:t>
                      </a:r>
                    </a:p>
                  </a:txBody>
                  <a:tcPr anchor="ctr" marL="45720" marR="45720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PSNR ↑</a:t>
                      </a:r>
                    </a:p>
                  </a:txBody>
                  <a:tcPr anchor="ctr" marL="45720" marR="45720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SSIM ↑</a:t>
                      </a:r>
                    </a:p>
                  </a:txBody>
                  <a:tcPr anchor="ctr" marL="45720" marR="45720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LPIPS ↓</a:t>
                      </a:r>
                    </a:p>
                  </a:txBody>
                  <a:tcPr anchor="ctr" marL="45720" marR="45720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FVD ↓</a:t>
                      </a:r>
                    </a:p>
                  </a:txBody>
                  <a:tcPr anchor="ctr" marL="45720" marR="45720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FD ↓</a:t>
                      </a:r>
                    </a:p>
                  </a:txBody>
                  <a:tcPr anchor="ctr" marL="45720" marR="45720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RM ↓</a:t>
                      </a:r>
                    </a:p>
                  </a:txBody>
                  <a:tcPr anchor="ctr" marL="45720" marR="45720" marT="18288" marB="18288">
                    <a:solidFill>
                      <a:srgbClr val="0D569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DeepLens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24.574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0.819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0.183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125.338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1.162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0.030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Dr.Bokeh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31.273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0.950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0.046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32.710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0.522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0.011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BokehMe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27.992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0.936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0.060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39.102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0.536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0.013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MPIB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31.390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0.950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0.040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35.766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0.481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0.011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BokehDiff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27.525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0.834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0.127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65.678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0.660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0.021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Any-to-Bokeh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38.899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0.974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0.019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9.005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0.431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0.007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6B7A90"/>
                          </a:solidFill>
                          <a:latin typeface="Arial"/>
                          <a:ea typeface="Microsoft YaHei"/>
                        </a:rPr>
                        <a:t>BokehCrafter*</a:t>
                      </a:r>
                    </a:p>
                  </a:txBody>
                  <a:tcPr anchor="ctr" marL="45720" marR="45720" marT="18288" marB="18288"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6B7A90"/>
                          </a:solidFill>
                          <a:latin typeface="Arial"/>
                          <a:ea typeface="Microsoft YaHei"/>
                        </a:rPr>
                        <a:t>27.86</a:t>
                      </a:r>
                    </a:p>
                  </a:txBody>
                  <a:tcPr anchor="ctr" marL="45720" marR="45720" marT="18288" marB="18288"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6B7A90"/>
                          </a:solidFill>
                          <a:latin typeface="Arial"/>
                          <a:ea typeface="Microsoft YaHei"/>
                        </a:rPr>
                        <a:t>0.886</a:t>
                      </a:r>
                    </a:p>
                  </a:txBody>
                  <a:tcPr anchor="ctr" marL="45720" marR="45720" marT="18288" marB="18288"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6B7A90"/>
                          </a:solidFill>
                          <a:latin typeface="Arial"/>
                          <a:ea typeface="Microsoft YaHei"/>
                        </a:rPr>
                        <a:t>0.122</a:t>
                      </a:r>
                    </a:p>
                  </a:txBody>
                  <a:tcPr anchor="ctr" marL="45720" marR="45720" marT="18288" marB="18288"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6B7A90"/>
                          </a:solidFill>
                          <a:latin typeface="Arial"/>
                          <a:ea typeface="Microsoft YaHei"/>
                        </a:rP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6B7A90"/>
                          </a:solidFill>
                          <a:latin typeface="Arial"/>
                          <a:ea typeface="Microsoft YaHei"/>
                        </a:rP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6B7A90"/>
                          </a:solidFill>
                          <a:latin typeface="Arial"/>
                          <a:ea typeface="Microsoft YaHei"/>
                        </a:rP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DCE9F5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868680" y="5961888"/>
            <a:ext cx="103327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6B7A90"/>
                </a:solidFill>
                <a:latin typeface="Arial"/>
                <a:ea typeface="Microsoft YaHei"/>
              </a:rPr>
              <a:t>†MagicBokeh B用GT目标区域辅助选点；Dr.Bokeh用GT alpha。平均偏差仅比较原六法，不含MagicBokeh。</a:t>
            </a:r>
          </a:p>
          <a:p>
            <a:pPr algn="l"/>
            <a:r>
              <a:rPr sz="1050" b="0">
                <a:solidFill>
                  <a:srgbClr val="6B7A90"/>
                </a:solidFill>
                <a:latin typeface="Arial"/>
                <a:ea typeface="Microsoft YaHei"/>
              </a:rPr>
              <a:t>*BokehCrafter为其论文VBS三档均值，异数据集，仅作参考。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2" name="title-1">
            <a:extLst>
              <a:ext uri="{FF2B5EF4-FFF2-40B4-BE49-F238E27FC236}">
                <a16:creationId xmlns:a16="http://schemas.microsoft.com/office/drawing/2014/main" id="{33E4F7E3-0ECF-47D1-B36B-CB979572AC6C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真实视频定量结果</a:t>
            </a:r>
            <a:endParaRPr sz="2850" b="1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page-1">
            <a:extLst>
              <a:ext uri="{FF2B5EF4-FFF2-40B4-BE49-F238E27FC236}">
                <a16:creationId xmlns:a16="http://schemas.microsoft.com/office/drawing/2014/main" id="{BFFD0FF9-9FAE-46B4-A60A-3AF6342E5A88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  <a:endParaRPr sz="10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77240" y="1024128"/>
            <a:ext cx="10515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01F37"/>
                </a:solidFill>
                <a:latin typeface="Arial"/>
                <a:ea typeface="Microsoft YaHei"/>
              </a:rPr>
              <a:t>DAVIS 真实视频 50 段 × 25 帧，无虚化真值；VEPI 衡量主体边缘保留程度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1737360" y="1645920"/>
          <a:ext cx="8595360" cy="3520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3200"/>
                <a:gridCol w="2926080"/>
                <a:gridCol w="292608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方法</a:t>
                      </a:r>
                    </a:p>
                  </a:txBody>
                  <a:tcPr anchor="ctr" marL="45720" marR="45720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VEPI ↑（本项目）</a:t>
                      </a:r>
                    </a:p>
                  </a:txBody>
                  <a:tcPr anchor="ctr" marL="45720" marR="45720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VEPI ↑（论文）</a:t>
                      </a:r>
                    </a:p>
                  </a:txBody>
                  <a:tcPr anchor="ctr" marL="45720" marR="45720" marT="18288" marB="18288">
                    <a:solidFill>
                      <a:srgbClr val="0D569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DeepLens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0.929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0.715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Dr.Bokeh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0.877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0.863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BokehMe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0.954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0.937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MPIB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0.930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0.921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BokehDiff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0.847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0.859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Any-to-Bokeh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0.950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0.944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0" name="Updated note 100"/>
          <p:cNvSpPr txBox="1"/>
          <p:nvPr/>
        </p:nvSpPr>
        <p:spPr>
          <a:xfrm>
            <a:off x="914400" y="5577840"/>
            <a:ext cx="10241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01F37"/>
                </a:solidFill>
                <a:latin typeface="Arial"/>
                <a:ea typeface="Microsoft YaHei"/>
              </a:rPr>
              <a:t>当前为原六种方法的冻结结果；MagicBokeh 尚未进入 DAVIS 定量评价。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2" name="title-1">
            <a:extLst>
              <a:ext uri="{FF2B5EF4-FFF2-40B4-BE49-F238E27FC236}">
                <a16:creationId xmlns:a16="http://schemas.microsoft.com/office/drawing/2014/main" id="{33E4F7E3-0ECF-47D1-B36B-CB979572AC6C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60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模型与端到端效率 · Table 3A / 3B</a:t>
            </a:r>
          </a:p>
        </p:txBody>
      </p:sp>
      <p:sp>
        <p:nvSpPr>
          <p:cNvPr id="3" name="page-1">
            <a:extLst>
              <a:ext uri="{FF2B5EF4-FFF2-40B4-BE49-F238E27FC236}">
                <a16:creationId xmlns:a16="http://schemas.microsoft.com/office/drawing/2014/main" id="{BFFD0FF9-9FAE-46B4-A60A-3AF6342E5A88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  <a:endParaRPr sz="10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77240" y="1024128"/>
            <a:ext cx="10515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01F37"/>
                </a:solidFill>
                <a:latin typeface="Arial"/>
                <a:ea typeface="Microsoft YaHei"/>
              </a:rPr>
              <a:t>RTX 4090 D · 1024×576 · 3A已测 / 3B待测；DeepLens另列CPU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86384" y="1627632"/>
          <a:ext cx="10607040" cy="37398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48840"/>
                <a:gridCol w="1508760"/>
                <a:gridCol w="1508760"/>
                <a:gridCol w="1417320"/>
                <a:gridCol w="1508760"/>
                <a:gridCol w="1051560"/>
                <a:gridCol w="1463040"/>
              </a:tblGrid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方法</a:t>
                      </a:r>
                    </a:p>
                  </a:txBody>
                  <a:tcPr anchor="ctr" marL="45720" marR="45720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3A时间</a:t>
                      </a:r>
                    </a:p>
                    <a:p>
                      <a:pPr algn="ctr"/>
                      <a:r>
                        <a:rPr sz="14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(s/输出帧)</a:t>
                      </a:r>
                    </a:p>
                  </a:txBody>
                  <a:tcPr anchor="ctr" marL="45720" marR="45720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Params</a:t>
                      </a:r>
                    </a:p>
                    <a:p>
                      <a:pPr algn="ctr"/>
                      <a:r>
                        <a:rPr sz="14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(M)</a:t>
                      </a:r>
                    </a:p>
                  </a:txBody>
                  <a:tcPr anchor="ctr" marL="45720" marR="45720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3A显存</a:t>
                      </a:r>
                    </a:p>
                    <a:p>
                      <a:pPr algn="ctr"/>
                      <a:r>
                        <a:rPr sz="14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(GiB)</a:t>
                      </a:r>
                    </a:p>
                  </a:txBody>
                  <a:tcPr anchor="ctr" marL="45720" marR="45720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3B E2E</a:t>
                      </a:r>
                    </a:p>
                    <a:p>
                      <a:pPr algn="ctr"/>
                      <a:r>
                        <a:rPr sz="14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(s/25帧)</a:t>
                      </a:r>
                    </a:p>
                  </a:txBody>
                  <a:tcPr anchor="ctr" marL="45720" marR="45720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3B FPS</a:t>
                      </a:r>
                    </a:p>
                  </a:txBody>
                  <a:tcPr anchor="ctr" marL="45720" marR="45720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3B内存</a:t>
                      </a:r>
                    </a:p>
                    <a:p>
                      <a:pPr algn="ctr"/>
                      <a:r>
                        <a:rPr sz="14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(GiB)</a:t>
                      </a:r>
                    </a:p>
                  </a:txBody>
                  <a:tcPr anchor="ctr" marL="45720" marR="45720" marT="18288" marB="18288">
                    <a:solidFill>
                      <a:srgbClr val="0D569A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DeepLens (CPU)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待测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待测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待测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Dr.Bokeh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0.342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50.98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2.63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待测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待测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待测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BokehMe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0.013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1.16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0.75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待测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待测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待测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MPIB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0.236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41.53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2.18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待测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待测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待测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BokehDiff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0.921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3493.43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17.57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待测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待测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待测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MagicBokeh 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1.269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1398.55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5.13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待测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待测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待测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Any-to-Bokeh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0.803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2457.81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42.14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待测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待测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待测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</a:tr>
            </a:tbl>
          </a:graphicData>
        </a:graphic>
      </p:graphicFrame>
      <p:sp>
        <p:nvSpPr>
          <p:cNvPr id="100" name="Updated note 100"/>
          <p:cNvSpPr txBox="1"/>
          <p:nvPr/>
        </p:nvSpPr>
        <p:spPr>
          <a:xfrm>
            <a:off x="868680" y="5504688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101F37"/>
                </a:solidFill>
                <a:latin typeface="Arial"/>
                <a:ea typeface="Microsoft YaHei"/>
              </a:rPr>
              <a:t>3A计模型/渲染器；ATB按视频输出帧归一，MagicBokeh计6图块及拼接，均排除外围处理。</a:t>
            </a:r>
          </a:p>
          <a:p>
            <a:pPr algn="l"/>
            <a:r>
              <a:rPr sz="1250" b="0">
                <a:solidFill>
                  <a:srgbClr val="101F37"/>
                </a:solidFill>
                <a:latin typeface="Arial"/>
                <a:ea typeface="Microsoft YaHei"/>
              </a:rPr>
              <a:t>3B从读入给定输入到25帧CPU输出；不含加载、外部geometry生成、写盘及编码。</a:t>
            </a:r>
          </a:p>
          <a:p>
            <a:pPr algn="l"/>
            <a:r>
              <a:rPr sz="1250" b="0">
                <a:solidFill>
                  <a:srgbClr val="101F37"/>
                </a:solidFill>
                <a:latin typeface="Arial"/>
                <a:ea typeface="Microsoft YaHei"/>
              </a:rPr>
              <a:t>DeepLens为CPU：3A不适用，3B记录RSS；GPU行记录显存。新机3B均待测，不混用旧机数据。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2" name="title-1">
            <a:extLst>
              <a:ext uri="{FF2B5EF4-FFF2-40B4-BE49-F238E27FC236}">
                <a16:creationId xmlns:a16="http://schemas.microsoft.com/office/drawing/2014/main" id="{33E4F7E3-0ECF-47D1-B36B-CB979572AC6C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0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0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ATB 的主要成本集中在 VAE</a:t>
            </a:r>
          </a:p>
        </p:txBody>
      </p:sp>
      <p:sp>
        <p:nvSpPr>
          <p:cNvPr id="3" name="page-1">
            <a:extLst>
              <a:ext uri="{FF2B5EF4-FFF2-40B4-BE49-F238E27FC236}">
                <a16:creationId xmlns:a16="http://schemas.microsoft.com/office/drawing/2014/main" id="{BFFD0FF9-9FAE-46B4-A60A-3AF6342E5A88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1024128"/>
            <a:ext cx="10515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01F37"/>
                </a:solidFill>
                <a:latin typeface="Arial"/>
                <a:ea typeface="Microsoft YaHei"/>
              </a:rPr>
              <a:t>旧RTX PRO 6000模块分析；固定4段，各预热1次/正式2次；新卡未测阶段占比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914400" y="1645920"/>
          <a:ext cx="10241280" cy="28529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669280"/>
                <a:gridCol w="2286000"/>
                <a:gridCol w="22860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阶段</a:t>
                      </a:r>
                    </a:p>
                  </a:txBody>
                  <a:tcPr anchor="ctr" marL="45720" marR="45720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耗时 (s/25帧)</a:t>
                      </a:r>
                    </a:p>
                  </a:txBody>
                  <a:tcPr anchor="ctr" marL="45720" marR="45720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阶段峰值 (GiB)</a:t>
                      </a:r>
                    </a:p>
                  </a:txBody>
                  <a:tcPr anchor="ctr" marL="45720" marR="45720" marT="18288" marB="18288">
                    <a:solidFill>
                      <a:srgbClr val="0D569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CLIP 图像编码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0.083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11.93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RGB VAE 编码与缓存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2.739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34.29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CoC VAE 编码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2.516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34.29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UNet 时空条件处理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2.258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14.39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重叠拼接与时序 VAE 解码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4.975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29.65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0" name="Updated note 100"/>
          <p:cNvSpPr txBox="1"/>
          <p:nvPr/>
        </p:nvSpPr>
        <p:spPr>
          <a:xfrm>
            <a:off x="914400" y="4754880"/>
            <a:ext cx="10241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01F37"/>
                </a:solidFill>
                <a:latin typeface="Arial"/>
                <a:ea typeface="Microsoft YaHei"/>
              </a:rPr>
              <a:t>VAE相关阶段约占81%；持续RGB特征缓存6.47 GiB</a:t>
            </a:r>
          </a:p>
        </p:txBody>
      </p:sp>
      <p:sp>
        <p:nvSpPr>
          <p:cNvPr id="101" name="Updated note 101"/>
          <p:cNvSpPr txBox="1"/>
          <p:nvPr/>
        </p:nvSpPr>
        <p:spPr>
          <a:xfrm>
            <a:off x="914400" y="5440680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101F37"/>
                </a:solidFill>
                <a:latin typeface="Arial"/>
                <a:ea typeface="Microsoft YaHei"/>
              </a:rPr>
              <a:t>峰值为Torch allocated，含常驻权重与缓存，不能相加；与旧卡Table 3A设备采样峰值38.47 GiB口径不同。</a:t>
            </a:r>
          </a:p>
          <a:p>
            <a:pPr algn="l"/>
            <a:r>
              <a:rPr sz="1250" b="0">
                <a:solidFill>
                  <a:srgbClr val="101F37"/>
                </a:solidFill>
                <a:latin typeface="Arial"/>
                <a:ea typeface="Microsoft YaHei"/>
              </a:rPr>
              <a:t>25输出帧对应RGB/CoC各48个编码帧槽、32个解码帧槽；不能直接视为可无损删除的计算。</a:t>
            </a:r>
          </a:p>
          <a:p>
            <a:pPr algn="l"/>
            <a:r>
              <a:rPr sz="1250" b="0">
                <a:solidFill>
                  <a:srgbClr val="101F37"/>
                </a:solidFill>
                <a:latin typeface="Arial"/>
                <a:ea typeface="Microsoft YaHei"/>
              </a:rPr>
              <a:t>当前只完成归因，尚未验证优化收益或质量等价。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4" name="title-1">
            <a:extLst>
              <a:ext uri="{FF2B5EF4-FFF2-40B4-BE49-F238E27FC236}">
                <a16:creationId xmlns:a16="http://schemas.microsoft.com/office/drawing/2014/main" id="{33E4F7E3-0ECF-47D1-B36B-CB979572AC6C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0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性能评价状态与待测项</a:t>
            </a:r>
          </a:p>
        </p:txBody>
      </p:sp>
      <p:sp>
        <p:nvSpPr>
          <p:cNvPr id="5" name="page-1">
            <a:extLst>
              <a:ext uri="{FF2B5EF4-FFF2-40B4-BE49-F238E27FC236}">
                <a16:creationId xmlns:a16="http://schemas.microsoft.com/office/drawing/2014/main" id="{BFFD0FF9-9FAE-46B4-A60A-3AF6342E5A88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矩形 8">
            <a:extLst>
              <a:ext uri="{FF2B5EF4-FFF2-40B4-BE49-F238E27FC236}">
                <a16:creationId xmlns:a16="http://schemas.microsoft.com/office/drawing/2014/main" id="{A0DB1E63-8F98-56F0-5AD9-E321506A6914}"/>
              </a:ext>
            </a:extLst>
          </p:cNvPr>
          <p:cNvSpPr>
            <a:spLocks noGrp="1"/>
          </p:cNvSpPr>
          <p:nvPr/>
        </p:nvSpPr>
        <p:spPr>
          <a:xfrm>
            <a:off x="777240" y="1234440"/>
            <a:ext cx="18097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3A 已完成</a:t>
            </a:r>
          </a:p>
        </p:txBody>
      </p:sp>
      <p:sp>
        <p:nvSpPr>
          <p:cNvPr id="7" name="矩形 9">
            <a:extLst>
              <a:ext uri="{FF2B5EF4-FFF2-40B4-BE49-F238E27FC236}">
                <a16:creationId xmlns:a16="http://schemas.microsoft.com/office/drawing/2014/main" id="{50248E8E-737C-9BE3-5CB0-2F225DFAD313}"/>
              </a:ext>
            </a:extLst>
          </p:cNvPr>
          <p:cNvSpPr>
            <a:spLocks noGrp="1"/>
          </p:cNvSpPr>
          <p:nvPr/>
        </p:nvSpPr>
        <p:spPr>
          <a:xfrm>
            <a:off x="2926080" y="1234440"/>
            <a:ext cx="832104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600"/>
              </a:spcAft>
              <a:defRPr sz="19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4090 D六GPU方法模型成本复测完成</a:t>
            </a:r>
          </a:p>
          <a:p>
            <a:pPr algn="l">
              <a:spcAft>
                <a:spcPts val="600"/>
              </a:spcAft>
              <a:defRPr sz="19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旧卡结果分开保留，参数量及GFLOPs口径沿用</a:t>
            </a:r>
          </a:p>
        </p:txBody>
      </p:sp>
      <p:cxnSp>
        <p:nvCxnSpPr>
          <p:cNvPr id="8" name="Connector 22"/>
          <p:cNvCxnSpPr/>
          <p:nvPr/>
        </p:nvCxnSpPr>
        <p:spPr>
          <a:xfrm>
            <a:off x="777240" y="2286000"/>
            <a:ext cx="10469880" cy="0"/>
          </a:xfrm>
          <a:prstGeom prst="line">
            <a:avLst/>
          </a:prstGeom>
          <a:ln w="9525">
            <a:solidFill>
              <a:srgbClr val="22C7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A0DB1E63-8F98-56F0-5AD9-E321506A6914}"/>
              </a:ext>
            </a:extLst>
          </p:cNvPr>
          <p:cNvSpPr>
            <a:spLocks noGrp="1"/>
          </p:cNvSpPr>
          <p:nvPr/>
        </p:nvSpPr>
        <p:spPr>
          <a:xfrm>
            <a:off x="777240" y="2423160"/>
            <a:ext cx="18097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3B 正式保留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0248E8E-737C-9BE3-5CB0-2F225DFAD313}"/>
              </a:ext>
            </a:extLst>
          </p:cNvPr>
          <p:cNvSpPr>
            <a:spLocks noGrp="1"/>
          </p:cNvSpPr>
          <p:nvPr/>
        </p:nvSpPr>
        <p:spPr>
          <a:xfrm>
            <a:off x="2926080" y="2423160"/>
            <a:ext cx="832104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600"/>
              </a:spcAft>
              <a:defRPr sz="19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旧机六方法（含DeepLens CPU）已有25帧E2E实测</a:t>
            </a:r>
          </a:p>
          <a:p>
            <a:pPr algn="l">
              <a:spcAft>
                <a:spcPts val="600"/>
              </a:spcAft>
              <a:defRPr sz="19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新4090 D及MagicBokeh B的3B待测，不用模型时间外推</a:t>
            </a:r>
          </a:p>
        </p:txBody>
      </p:sp>
      <p:cxnSp>
        <p:nvCxnSpPr>
          <p:cNvPr id="11" name="Connector 23"/>
          <p:cNvCxnSpPr/>
          <p:nvPr/>
        </p:nvCxnSpPr>
        <p:spPr>
          <a:xfrm>
            <a:off x="777240" y="3474720"/>
            <a:ext cx="10469880" cy="0"/>
          </a:xfrm>
          <a:prstGeom prst="line">
            <a:avLst/>
          </a:prstGeom>
          <a:ln w="9525">
            <a:solidFill>
              <a:srgbClr val="22C7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矩形 8">
            <a:extLst>
              <a:ext uri="{FF2B5EF4-FFF2-40B4-BE49-F238E27FC236}">
                <a16:creationId xmlns:a16="http://schemas.microsoft.com/office/drawing/2014/main" id="{A0DB1E63-8F98-56F0-5AD9-E321506A6914}"/>
              </a:ext>
            </a:extLst>
          </p:cNvPr>
          <p:cNvSpPr>
            <a:spLocks noGrp="1"/>
          </p:cNvSpPr>
          <p:nvPr/>
        </p:nvSpPr>
        <p:spPr>
          <a:xfrm>
            <a:off x="777240" y="3611880"/>
            <a:ext cx="18097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边界区分</a:t>
            </a:r>
          </a:p>
        </p:txBody>
      </p:sp>
      <p:sp>
        <p:nvSpPr>
          <p:cNvPr id="13" name="矩形 9">
            <a:extLst>
              <a:ext uri="{FF2B5EF4-FFF2-40B4-BE49-F238E27FC236}">
                <a16:creationId xmlns:a16="http://schemas.microsoft.com/office/drawing/2014/main" id="{50248E8E-737C-9BE3-5CB0-2F225DFAD313}"/>
              </a:ext>
            </a:extLst>
          </p:cNvPr>
          <p:cNvSpPr>
            <a:spLocks noGrp="1"/>
          </p:cNvSpPr>
          <p:nvPr/>
        </p:nvSpPr>
        <p:spPr>
          <a:xfrm>
            <a:off x="2926080" y="3611880"/>
            <a:ext cx="832104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600"/>
              </a:spcAft>
              <a:defRPr sz="19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Track B是低帧率几何；Table 3B是端到端效率</a:t>
            </a:r>
          </a:p>
          <a:p>
            <a:pPr algn="l">
              <a:spcAft>
                <a:spcPts val="600"/>
              </a:spcAft>
              <a:defRPr sz="19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低帧率路线继续暂停，不影响两张效率表</a:t>
            </a:r>
          </a:p>
        </p:txBody>
      </p:sp>
      <p:cxnSp>
        <p:nvCxnSpPr>
          <p:cNvPr id="14" name="Connector 24"/>
          <p:cNvCxnSpPr/>
          <p:nvPr/>
        </p:nvCxnSpPr>
        <p:spPr>
          <a:xfrm>
            <a:off x="777240" y="4663440"/>
            <a:ext cx="10469880" cy="0"/>
          </a:xfrm>
          <a:prstGeom prst="line">
            <a:avLst/>
          </a:prstGeom>
          <a:ln w="9525">
            <a:solidFill>
              <a:srgbClr val="22C7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矩形 8">
            <a:extLst>
              <a:ext uri="{FF2B5EF4-FFF2-40B4-BE49-F238E27FC236}">
                <a16:creationId xmlns:a16="http://schemas.microsoft.com/office/drawing/2014/main" id="{A0DB1E63-8F98-56F0-5AD9-E321506A6914}"/>
              </a:ext>
            </a:extLst>
          </p:cNvPr>
          <p:cNvSpPr>
            <a:spLocks noGrp="1"/>
          </p:cNvSpPr>
          <p:nvPr/>
        </p:nvSpPr>
        <p:spPr>
          <a:xfrm>
            <a:off x="777240" y="4800600"/>
            <a:ext cx="18097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后续候选</a:t>
            </a:r>
          </a:p>
        </p:txBody>
      </p:sp>
      <p:sp>
        <p:nvSpPr>
          <p:cNvPr id="16" name="矩形 9">
            <a:extLst>
              <a:ext uri="{FF2B5EF4-FFF2-40B4-BE49-F238E27FC236}">
                <a16:creationId xmlns:a16="http://schemas.microsoft.com/office/drawing/2014/main" id="{50248E8E-737C-9BE3-5CB0-2F225DFAD313}"/>
              </a:ext>
            </a:extLst>
          </p:cNvPr>
          <p:cNvSpPr>
            <a:spLocks noGrp="1"/>
          </p:cNvSpPr>
          <p:nvPr/>
        </p:nvSpPr>
        <p:spPr>
          <a:xfrm>
            <a:off x="2926080" y="4800600"/>
            <a:ext cx="832104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600"/>
              </a:spcAft>
              <a:defRPr sz="19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编码分批、缓存优化和失败分析暂不开展</a:t>
            </a:r>
          </a:p>
          <a:p>
            <a:pPr algn="l">
              <a:spcAft>
                <a:spcPts val="600"/>
              </a:spcAft>
              <a:defRPr sz="19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本次仅恢复表格；补测与其他实验按后续明确任务执行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1255</Words>
  <Application>Microsoft Office PowerPoint</Application>
  <DocSecurity>0</DocSecurity>
  <PresentationFormat>宽屏</PresentationFormat>
  <Paragraphs>173</Paragraphs>
  <Slides>8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等线</vt:lpstr>
      <vt:lpstr>微软雅黑</vt:lpstr>
      <vt:lpstr>微软雅黑</vt:lpstr>
      <vt:lpstr>微软雅黑 Light</vt:lpstr>
      <vt:lpstr>Arial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辰洋 孟</cp:lastModifiedBy>
  <cp:revision>12</cp:revision>
  <dcterms:created xsi:type="dcterms:W3CDTF">2026-08-21T05:34:17Z</dcterms:created>
  <dcterms:modified xsi:type="dcterms:W3CDTF">2026-09-20T07:48:37Z</dcterms:modified>
</cp:coreProperties>
</file>