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依据：</a:t>
            </a:r>
            <a:r>
              <a:rPr lang="en-US" altLang="zh-CN"/>
              <a:t>OPPO</a:t>
            </a:r>
            <a:r>
              <a:rPr lang="zh-CN" altLang="en-US"/>
              <a:t>影像课题提报模板</a:t>
            </a:r>
            <a:r>
              <a:rPr lang="en-US" altLang="zh-CN"/>
              <a:t>_</a:t>
            </a:r>
            <a:r>
              <a:rPr lang="zh-CN" altLang="en-US"/>
              <a:t>给学生</a:t>
            </a:r>
            <a:r>
              <a:rPr lang="en-US" altLang="zh-CN"/>
              <a:t>.pdf </a:t>
            </a:r>
            <a:r>
              <a:rPr lang="zh-CN" altLang="en-US"/>
              <a:t>第</a:t>
            </a:r>
            <a:r>
              <a:rPr lang="en-US" altLang="zh-CN"/>
              <a:t>3–4</a:t>
            </a:r>
            <a:r>
              <a:rPr lang="zh-CN" altLang="en-US"/>
              <a:t>页；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r>
              <a:rPr lang="zh-CN" altLang="en-US"/>
              <a:t>。展示提案中的设计思路，不代表已验证结果。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依据：</a:t>
            </a:r>
            <a:r>
              <a:rPr lang="en-US" altLang="zh-CN"/>
              <a:t>OPPO</a:t>
            </a:r>
            <a:r>
              <a:rPr lang="zh-CN" altLang="en-US"/>
              <a:t>影像课题提报模板</a:t>
            </a:r>
            <a:r>
              <a:rPr lang="en-US" altLang="zh-CN"/>
              <a:t>_</a:t>
            </a:r>
            <a:r>
              <a:rPr lang="zh-CN" altLang="en-US"/>
              <a:t>给学生</a:t>
            </a:r>
            <a:r>
              <a:rPr lang="en-US" altLang="zh-CN"/>
              <a:t>.pdf </a:t>
            </a:r>
            <a:r>
              <a:rPr lang="zh-CN" altLang="en-US"/>
              <a:t>第</a:t>
            </a:r>
            <a:r>
              <a:rPr lang="en-US" altLang="zh-CN"/>
              <a:t>3–4</a:t>
            </a:r>
            <a:r>
              <a:rPr lang="zh-CN" altLang="en-US"/>
              <a:t>页；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r>
              <a:rPr lang="zh-CN" altLang="en-US"/>
              <a:t>。展示提案中的设计思路，不代表已验证结果。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依据：</a:t>
            </a:r>
            <a:r>
              <a:rPr lang="en-US" altLang="zh-CN"/>
              <a:t>OPPO</a:t>
            </a:r>
            <a:r>
              <a:rPr lang="zh-CN" altLang="en-US"/>
              <a:t>影像课题提报模板</a:t>
            </a:r>
            <a:r>
              <a:rPr lang="en-US" altLang="zh-CN"/>
              <a:t>_</a:t>
            </a:r>
            <a:r>
              <a:rPr lang="zh-CN" altLang="en-US"/>
              <a:t>给学生</a:t>
            </a:r>
            <a:r>
              <a:rPr lang="en-US" altLang="zh-CN"/>
              <a:t>.pdf </a:t>
            </a:r>
            <a:r>
              <a:rPr lang="zh-CN" altLang="en-US"/>
              <a:t>第</a:t>
            </a:r>
            <a:r>
              <a:rPr lang="en-US" altLang="zh-CN"/>
              <a:t>3–4</a:t>
            </a:r>
            <a:r>
              <a:rPr lang="zh-CN" altLang="en-US"/>
              <a:t>页；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r>
              <a:rPr lang="zh-CN" altLang="en-US"/>
              <a:t>。展示提案中的设计思路，不代表已验证结果。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依据：</a:t>
            </a:r>
            <a:r>
              <a:rPr lang="en-US" altLang="zh-CN"/>
              <a:t>OPPO</a:t>
            </a:r>
            <a:r>
              <a:rPr lang="zh-CN" altLang="en-US"/>
              <a:t>影像课题提报模板</a:t>
            </a:r>
            <a:r>
              <a:rPr lang="en-US" altLang="zh-CN"/>
              <a:t>_</a:t>
            </a:r>
            <a:r>
              <a:rPr lang="zh-CN" altLang="en-US"/>
              <a:t>给学生</a:t>
            </a:r>
            <a:r>
              <a:rPr lang="en-US" altLang="zh-CN"/>
              <a:t>.pdf </a:t>
            </a:r>
            <a:r>
              <a:rPr lang="zh-CN" altLang="en-US"/>
              <a:t>第</a:t>
            </a:r>
            <a:r>
              <a:rPr lang="en-US" altLang="zh-CN"/>
              <a:t>3–4</a:t>
            </a:r>
            <a:r>
              <a:rPr lang="zh-CN" altLang="en-US"/>
              <a:t>页；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r>
              <a:rPr lang="zh-CN" altLang="en-US"/>
              <a:t>。展示提案中的设计思路，不代表已验证结果。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依据：</a:t>
            </a:r>
            <a:r>
              <a:rPr lang="en-US" altLang="zh-CN"/>
              <a:t>OPPO</a:t>
            </a:r>
            <a:r>
              <a:rPr lang="zh-CN" altLang="en-US"/>
              <a:t>影像课题提报模板</a:t>
            </a:r>
            <a:r>
              <a:rPr lang="en-US" altLang="zh-CN"/>
              <a:t>_</a:t>
            </a:r>
            <a:r>
              <a:rPr lang="zh-CN" altLang="en-US"/>
              <a:t>给学生</a:t>
            </a:r>
            <a:r>
              <a:rPr lang="en-US" altLang="zh-CN"/>
              <a:t>.pdf </a:t>
            </a:r>
            <a:r>
              <a:rPr lang="zh-CN" altLang="en-US"/>
              <a:t>第</a:t>
            </a:r>
            <a:r>
              <a:rPr lang="en-US" altLang="zh-CN"/>
              <a:t>3–4</a:t>
            </a:r>
            <a:r>
              <a:rPr lang="zh-CN" altLang="en-US"/>
              <a:t>页；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r>
              <a:rPr lang="zh-CN" altLang="en-US"/>
              <a:t>。展示提案中的设计思路，不代表已验证结果。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2026-09-20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深度引导的视频虚化</a:t>
            </a:r>
          </a:p>
          <a:p>
            <a:pPr algn="ctr">
              <a:buNone/>
            </a:pP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技术路线梳理</a:t>
            </a:r>
            <a:endParaRPr sz="2000" b="1">
              <a:solidFill>
                <a:srgbClr val="D9EEF9"/>
              </a:solidFill>
              <a:latin typeface="Microsoft YaHei" panose="020B0503020204020204" pitchFamily="34" charset="-122"/>
              <a:ea typeface="Microsoft YaHei"/>
              <a:cs typeface="Microsoft YaHei"/>
            </a:endParaRP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时间：</a:t>
            </a:r>
            <a:r>
              <a:rPr lang="en-US" altLang="zh-CN"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2026.09.20</a:t>
            </a:r>
            <a:endParaRPr sz="2000" b="0">
              <a:solidFill>
                <a:srgbClr val="4874C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整体思路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724150" y="1381125"/>
            <a:ext cx="838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高帧率彩色视频 + 低帧率粗深度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7E796C-4C77-5D44-04E9-AD4AD9FFD0A4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98B5B8-0BDB-E4E0-0F4A-05068F4E7B8F}"/>
              </a:ext>
            </a:extLst>
          </p:cNvPr>
          <p:cNvSpPr>
            <a:spLocks noGrp="1"/>
          </p:cNvSpPr>
          <p:nvPr/>
        </p:nvSpPr>
        <p:spPr>
          <a:xfrm>
            <a:off x="2724150" y="2447925"/>
            <a:ext cx="838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对齐时间，融合颜色与深度，学习视频中的变化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DFD6B8-B1E6-47BC-FB17-45A0E4843962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CE8295-69D6-D893-0DF7-BDB64CFEAA38}"/>
              </a:ext>
            </a:extLst>
          </p:cNvPr>
          <p:cNvSpPr>
            <a:spLocks noGrp="1"/>
          </p:cNvSpPr>
          <p:nvPr/>
        </p:nvSpPr>
        <p:spPr>
          <a:xfrm>
            <a:off x="2724150" y="3514725"/>
            <a:ext cx="838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深度、边界覆盖比例，以及虚化修正量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2AFD45-F7C3-33DA-5A7A-A4FCA41CA1B2}"/>
              </a:ext>
            </a:extLst>
          </p:cNvPr>
          <p:cNvSpPr>
            <a:spLocks noGrp="1"/>
          </p:cNvSpPr>
          <p:nvPr/>
        </p:nvSpPr>
        <p:spPr>
          <a:xfrm>
            <a:off x="781050" y="45815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594485-FC11-D4DC-2222-52B73416A6A5}"/>
              </a:ext>
            </a:extLst>
          </p:cNvPr>
          <p:cNvSpPr>
            <a:spLocks noGrp="1"/>
          </p:cNvSpPr>
          <p:nvPr/>
        </p:nvSpPr>
        <p:spPr>
          <a:xfrm>
            <a:off x="2724150" y="4581525"/>
            <a:ext cx="8382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结合物理渲染，得到可控制虚化程度的视频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-2">
            <a:extLst>
              <a:ext uri="{FF2B5EF4-FFF2-40B4-BE49-F238E27FC236}">
                <a16:creationId xmlns:a16="http://schemas.microsoft.com/office/drawing/2014/main" id="{B642C0F7-4374-45AB-81B2-58ED5F54DA10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输入信息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78A0A383-0C9C-4653-B2D2-75F467C50AD7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753BF9-BF33-8E8B-B94D-39C4FC05E4E7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668000" cy="736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高帧率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RGB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G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）提供颜色与运动</a:t>
            </a:r>
          </a:p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低帧率深度输入（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D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M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lang="zh-CN" altLang="en-US" sz="19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）提供距离、有效性和置信度</a:t>
            </a:r>
            <a:endParaRPr sz="19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4211B4-A545-2943-CD5C-3F57A011A504}"/>
              </a:ext>
            </a:extLst>
          </p:cNvPr>
          <p:cNvSpPr>
            <a:spLocks noGrp="1"/>
          </p:cNvSpPr>
          <p:nvPr/>
        </p:nvSpPr>
        <p:spPr>
          <a:xfrm>
            <a:off x="781050" y="1819275"/>
            <a:ext cx="2238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D：深度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E7140D-EADB-5B6F-6927-C9EFCF6BA94F}"/>
              </a:ext>
            </a:extLst>
          </p:cNvPr>
          <p:cNvSpPr>
            <a:spLocks noGrp="1"/>
          </p:cNvSpPr>
          <p:nvPr/>
        </p:nvSpPr>
        <p:spPr>
          <a:xfrm>
            <a:off x="3209925" y="1819275"/>
            <a:ext cx="80486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手机双目系统提供的粗深度</a:t>
            </a:r>
            <a:endParaRPr sz="1875" b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1B63FC-1CEB-D290-9C49-F2093B0E0521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2238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M：有效性标记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AC1DE8-3097-23BC-5C02-07540426861B}"/>
              </a:ext>
            </a:extLst>
          </p:cNvPr>
          <p:cNvSpPr>
            <a:spLocks noGrp="1"/>
          </p:cNvSpPr>
          <p:nvPr/>
        </p:nvSpPr>
        <p:spPr>
          <a:xfrm>
            <a:off x="3209925" y="2857500"/>
            <a:ext cx="80486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标记深度是否有效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可依据匹配结果、遮挡和空洞信息生成</a:t>
            </a:r>
            <a:endParaRPr sz="1875" b="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663234-2B9D-4B3E-7651-573999E05223}"/>
              </a:ext>
            </a:extLst>
          </p:cNvPr>
          <p:cNvSpPr>
            <a:spLocks noGrp="1"/>
          </p:cNvSpPr>
          <p:nvPr/>
        </p:nvSpPr>
        <p:spPr>
          <a:xfrm>
            <a:off x="781050" y="3895725"/>
            <a:ext cx="223837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C：置信度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17C52C-A78D-8A1A-E10A-A8AE3047C4C5}"/>
              </a:ext>
            </a:extLst>
          </p:cNvPr>
          <p:cNvSpPr>
            <a:spLocks noGrp="1"/>
          </p:cNvSpPr>
          <p:nvPr/>
        </p:nvSpPr>
        <p:spPr>
          <a:xfrm>
            <a:off x="3209925" y="3895725"/>
            <a:ext cx="8048625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表示深度的可信程度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可来自双目算法、左右一致性、重投影误差或真机误差统计</a:t>
            </a:r>
            <a:endParaRPr sz="1875" b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3">
            <a:extLst>
              <a:ext uri="{FF2B5EF4-FFF2-40B4-BE49-F238E27FC236}">
                <a16:creationId xmlns:a16="http://schemas.microsoft.com/office/drawing/2014/main" id="{E33257B2-AE39-4363-9EA4-DDEB12B8263B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时间对齐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98A7F91B-8D95-4405-8E58-CAC88B4F383A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C9DEFD-2708-B4C8-D6BC-4FEEDEA81D15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初步对齐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A0678-9105-4DBC-CDBE-D6F62EB913DC}"/>
              </a:ext>
            </a:extLst>
          </p:cNvPr>
          <p:cNvSpPr>
            <a:spLocks noGrp="1"/>
          </p:cNvSpPr>
          <p:nvPr/>
        </p:nvSpPr>
        <p:spPr>
          <a:xfrm>
            <a:off x="2724150" y="1381125"/>
            <a:ext cx="8382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通过时间戳、插值或平滑</a:t>
            </a:r>
          </a:p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把低帧率深度补到RGB的时间轴上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C22C54C-4CBE-E2AF-BEFB-D520272CCBD2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时间示例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6F65371-2DA0-97E0-99E0-F428E9BD18F8}"/>
              </a:ext>
            </a:extLst>
          </p:cNvPr>
          <p:cNvSpPr>
            <a:spLocks noGrp="1"/>
          </p:cNvSpPr>
          <p:nvPr/>
        </p:nvSpPr>
        <p:spPr>
          <a:xfrm>
            <a:off x="2724150" y="2743200"/>
            <a:ext cx="8382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原有深度：</a:t>
            </a:r>
            <a:r>
              <a:rPr lang="en-US" altLang="zh-CN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D1</a:t>
            </a:r>
            <a:r>
              <a:rPr lang="zh-CN" altLang="en-US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D4</a:t>
            </a:r>
          </a:p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补充估计：</a:t>
            </a:r>
            <a:r>
              <a:rPr lang="en-US" altLang="zh-CN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D2′</a:t>
            </a:r>
            <a:r>
              <a:rPr lang="zh-CN" altLang="en-US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D3′</a:t>
            </a:r>
            <a:endParaRPr sz="2025" b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2D735AA-FC26-1D29-8A63-589D9115E7FE}"/>
              </a:ext>
            </a:extLst>
          </p:cNvPr>
          <p:cNvSpPr>
            <a:spLocks noGrp="1"/>
          </p:cNvSpPr>
          <p:nvPr/>
        </p:nvSpPr>
        <p:spPr>
          <a:xfrm>
            <a:off x="781050" y="410527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后续处理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D1E1E3A-210F-CA4D-4EA7-C2F98E548FDB}"/>
              </a:ext>
            </a:extLst>
          </p:cNvPr>
          <p:cNvSpPr>
            <a:spLocks noGrp="1"/>
          </p:cNvSpPr>
          <p:nvPr/>
        </p:nvSpPr>
        <p:spPr>
          <a:xfrm>
            <a:off x="2724150" y="4105275"/>
            <a:ext cx="8382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D2′、D3′是补出的估计</a:t>
            </a:r>
          </a:p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人物运动和遮挡关系由后续传播继续处理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4">
            <a:extLst>
              <a:ext uri="{FF2B5EF4-FFF2-40B4-BE49-F238E27FC236}">
                <a16:creationId xmlns:a16="http://schemas.microsoft.com/office/drawing/2014/main" id="{938B6A25-3D80-4006-A269-6058A85AD78A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特征编码与融合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551FE5FE-5C3A-4DB9-A720-60D47D344019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8F9098-FCC0-7EA5-1B8D-F2099A9B5868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分别编码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1D8647-8D2A-C1C4-A93E-32C22274D046}"/>
              </a:ext>
            </a:extLst>
          </p:cNvPr>
          <p:cNvSpPr>
            <a:spLocks noGrp="1"/>
          </p:cNvSpPr>
          <p:nvPr/>
        </p:nvSpPr>
        <p:spPr>
          <a:xfrm>
            <a:off x="2724150" y="1381125"/>
            <a:ext cx="8382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RGB和深度分别转成特征单元（Token）</a:t>
            </a:r>
          </a:p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每个单元记录局部区域的信息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517803-F387-844A-0731-7592DF1B5FB9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统一维度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149B74B-C9F6-2367-66EB-2D051BF35775}"/>
              </a:ext>
            </a:extLst>
          </p:cNvPr>
          <p:cNvSpPr>
            <a:spLocks noGrp="1"/>
          </p:cNvSpPr>
          <p:nvPr/>
        </p:nvSpPr>
        <p:spPr>
          <a:xfrm>
            <a:off x="2724150" y="2743200"/>
            <a:ext cx="8382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图像尺寸相同，特征维度仍可能不同</a:t>
            </a:r>
          </a:p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小型投影网络把两类特征转换到统一维度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6665F1-C1F9-D8BB-AAEA-3CAEFFD250DF}"/>
              </a:ext>
            </a:extLst>
          </p:cNvPr>
          <p:cNvSpPr>
            <a:spLocks noGrp="1"/>
          </p:cNvSpPr>
          <p:nvPr/>
        </p:nvSpPr>
        <p:spPr>
          <a:xfrm>
            <a:off x="781050" y="410527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加入位置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191098-0AA5-10A2-D998-CAF0316D084E}"/>
              </a:ext>
            </a:extLst>
          </p:cNvPr>
          <p:cNvSpPr>
            <a:spLocks noGrp="1"/>
          </p:cNvSpPr>
          <p:nvPr/>
        </p:nvSpPr>
        <p:spPr>
          <a:xfrm>
            <a:off x="2724150" y="4105275"/>
            <a:ext cx="8382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记录横向位置x、纵向位置y和时间t</a:t>
            </a:r>
          </a:p>
          <a:p>
            <a:pPr algn="l"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再结合颜色与深度信息进行融合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-5">
            <a:extLst>
              <a:ext uri="{FF2B5EF4-FFF2-40B4-BE49-F238E27FC236}">
                <a16:creationId xmlns:a16="http://schemas.microsoft.com/office/drawing/2014/main" id="{47F3AEE5-DEAD-462E-893D-E16863B2870A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深度传播与特征合并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C3FB6A32-5DB2-43F5-A841-4127796B9A0D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D04185-C683-9FBA-3B43-BECC3AA745A9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Token Merging：深度传播与特征压缩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32B06-AC1F-4BDB-BE5F-420EDAD2F7AC}"/>
              </a:ext>
            </a:extLst>
          </p:cNvPr>
          <p:cNvSpPr>
            <a:spLocks noGrp="1"/>
          </p:cNvSpPr>
          <p:nvPr/>
        </p:nvSpPr>
        <p:spPr>
          <a:xfrm>
            <a:off x="781050" y="1704975"/>
            <a:ext cx="223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7456A6-33D6-39F9-52BC-8479E1A8EFAB}"/>
              </a:ext>
            </a:extLst>
          </p:cNvPr>
          <p:cNvSpPr>
            <a:spLocks noGrp="1"/>
          </p:cNvSpPr>
          <p:nvPr/>
        </p:nvSpPr>
        <p:spPr>
          <a:xfrm>
            <a:off x="3209925" y="170497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已对齐的RGB与深度特征单元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包含位置信息、有效性标记和置信度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680644-1883-47E8-68BA-046F6F54E060}"/>
              </a:ext>
            </a:extLst>
          </p:cNvPr>
          <p:cNvSpPr>
            <a:spLocks noGrp="1"/>
          </p:cNvSpPr>
          <p:nvPr/>
        </p:nvSpPr>
        <p:spPr>
          <a:xfrm>
            <a:off x="781050" y="2638425"/>
            <a:ext cx="223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作用一：深度传播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55D4E4-99F5-B8D0-9F79-CBB7E174A336}"/>
              </a:ext>
            </a:extLst>
          </p:cNvPr>
          <p:cNvSpPr>
            <a:spLocks noGrp="1"/>
          </p:cNvSpPr>
          <p:nvPr/>
        </p:nvSpPr>
        <p:spPr>
          <a:xfrm>
            <a:off x="3209925" y="263842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借助时间戳和光流，将已有深度传播到缺失帧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光流描述像素在前后帧之间的移动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0CE64E-88C6-A835-AB7A-C49C52BEC774}"/>
              </a:ext>
            </a:extLst>
          </p:cNvPr>
          <p:cNvSpPr>
            <a:spLocks noGrp="1"/>
          </p:cNvSpPr>
          <p:nvPr/>
        </p:nvSpPr>
        <p:spPr>
          <a:xfrm>
            <a:off x="781050" y="3571875"/>
            <a:ext cx="223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作用二：特征压缩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C6D131-CC42-3FFF-0987-65403E1C1BB1}"/>
              </a:ext>
            </a:extLst>
          </p:cNvPr>
          <p:cNvSpPr>
            <a:spLocks noGrp="1"/>
          </p:cNvSpPr>
          <p:nvPr/>
        </p:nvSpPr>
        <p:spPr>
          <a:xfrm>
            <a:off x="3209925" y="357187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合并平坦背景中相似的特征单元，减少计算量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人物边缘、头发和深度突变处保留细节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1E981A-9172-159F-7776-CD119CA65469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2383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B3C2E0-CCC1-B833-2264-B16FFF564B56}"/>
              </a:ext>
            </a:extLst>
          </p:cNvPr>
          <p:cNvSpPr>
            <a:spLocks noGrp="1"/>
          </p:cNvSpPr>
          <p:nvPr/>
        </p:nvSpPr>
        <p:spPr>
          <a:xfrm>
            <a:off x="3209925" y="4591050"/>
            <a:ext cx="8048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融合后的多帧特征序列，送入视频主干网络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38863E-1E40-C641-C84E-F27D2AB2638A}"/>
              </a:ext>
            </a:extLst>
          </p:cNvPr>
          <p:cNvSpPr>
            <a:spLocks noGrp="1"/>
          </p:cNvSpPr>
          <p:nvPr/>
        </p:nvSpPr>
        <p:spPr>
          <a:xfrm>
            <a:off x="781050" y="56864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在特征层补充几何信息，同时减少重复特征。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-6">
            <a:extLst>
              <a:ext uri="{FF2B5EF4-FFF2-40B4-BE49-F238E27FC236}">
                <a16:creationId xmlns:a16="http://schemas.microsoft.com/office/drawing/2014/main" id="{6948E8E6-9BC3-451E-891A-DBBFBBF872E6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视频时空建模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806B0BBF-2F8F-4D4D-939C-1DD6E37C9301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1D8484-6ED7-7D51-5D17-D685362E1985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Video </a:t>
            </a:r>
            <a:r>
              <a:rPr sz="21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Transformer作为主干网络（Backbone</a:t>
            </a:r>
            <a:r>
              <a:rPr sz="21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520787-63E3-2E06-8706-E09665B8B0A5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2238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0AA0B2-2EE6-98E7-217F-AB9EDBE821C0}"/>
              </a:ext>
            </a:extLst>
          </p:cNvPr>
          <p:cNvSpPr>
            <a:spLocks noGrp="1"/>
          </p:cNvSpPr>
          <p:nvPr/>
        </p:nvSpPr>
        <p:spPr>
          <a:xfrm>
            <a:off x="3209925" y="1676400"/>
            <a:ext cx="8048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Token Merging输出的多帧融合特征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822CF7-F1B3-3594-2DA6-E869BC204E55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2238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单帧内部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B18249-6DD6-AFA6-4740-0AC960F3AD29}"/>
              </a:ext>
            </a:extLst>
          </p:cNvPr>
          <p:cNvSpPr>
            <a:spLocks noGrp="1"/>
          </p:cNvSpPr>
          <p:nvPr/>
        </p:nvSpPr>
        <p:spPr>
          <a:xfrm>
            <a:off x="3209925" y="2295525"/>
            <a:ext cx="8048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在局部窗口内关联人物、背景和边缘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采用帧内窗口空间注意力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8104F9-71A5-9BBA-592C-A853C5D85944}"/>
              </a:ext>
            </a:extLst>
          </p:cNvPr>
          <p:cNvSpPr>
            <a:spLocks noGrp="1"/>
          </p:cNvSpPr>
          <p:nvPr/>
        </p:nvSpPr>
        <p:spPr>
          <a:xfrm>
            <a:off x="781050" y="3076575"/>
            <a:ext cx="2238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不同帧之间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317DFD-45DE-0432-67B6-D27DD7A0CB7F}"/>
              </a:ext>
            </a:extLst>
          </p:cNvPr>
          <p:cNvSpPr>
            <a:spLocks noGrp="1"/>
          </p:cNvSpPr>
          <p:nvPr/>
        </p:nvSpPr>
        <p:spPr>
          <a:xfrm>
            <a:off x="3209925" y="3076575"/>
            <a:ext cx="8048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采用帧间时间注意力，结合前后帧的变化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用滑动窗口处理视频，控制显存和计算量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882E48-D338-9D18-3CA1-58DC19B9698C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2238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2BA879-8F66-88CB-296A-382E14EC2A64}"/>
              </a:ext>
            </a:extLst>
          </p:cNvPr>
          <p:cNvSpPr>
            <a:spLocks noGrp="1"/>
          </p:cNvSpPr>
          <p:nvPr/>
        </p:nvSpPr>
        <p:spPr>
          <a:xfrm>
            <a:off x="3209925" y="3857625"/>
            <a:ext cx="8048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三任务共用的时空特征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分别进入深度头、Alpha头和虚化头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CB5EAB-4905-AFD5-A742-68545448C3E1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0668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训练约束：将前后帧输出按光流对齐，约束深度、Alpha和虚化的差异。</a:t>
            </a:r>
          </a:p>
          <a:p>
            <a:pPr algn="l">
              <a:def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同时惩罚虚化边缘的抖动，约束作用于输出并回传到网络。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-7">
            <a:extLst>
              <a:ext uri="{FF2B5EF4-FFF2-40B4-BE49-F238E27FC236}">
                <a16:creationId xmlns:a16="http://schemas.microsoft.com/office/drawing/2014/main" id="{218DEF6B-1AFA-482C-8FCE-1BCC01F5F486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三个输出头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E506EAC1-4B01-4C23-92AB-C642A47F2232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079B95-A670-3F4C-CDF4-472FCA489522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输入：Video Transformer输出的共享时空特征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9006CB-ABC6-8EC0-4982-2E6D0437770C}"/>
              </a:ext>
            </a:extLst>
          </p:cNvPr>
          <p:cNvSpPr>
            <a:spLocks noGrp="1"/>
          </p:cNvSpPr>
          <p:nvPr/>
        </p:nvSpPr>
        <p:spPr>
          <a:xfrm>
            <a:off x="781050" y="17335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输出头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64C90D-D2EF-8AFA-7018-C41FCBC10E6B}"/>
              </a:ext>
            </a:extLst>
          </p:cNvPr>
          <p:cNvSpPr>
            <a:spLocks noGrp="1"/>
          </p:cNvSpPr>
          <p:nvPr/>
        </p:nvSpPr>
        <p:spPr>
          <a:xfrm>
            <a:off x="3028950" y="1733550"/>
            <a:ext cx="3762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输出及作用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10E1FA-1722-9EE4-C6C1-35C00B74A458}"/>
              </a:ext>
            </a:extLst>
          </p:cNvPr>
          <p:cNvSpPr>
            <a:spLocks noGrp="1"/>
          </p:cNvSpPr>
          <p:nvPr/>
        </p:nvSpPr>
        <p:spPr>
          <a:xfrm>
            <a:off x="7124700" y="1733550"/>
            <a:ext cx="414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训练约束</a:t>
            </a:r>
            <a:endParaRPr sz="1875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C2B57E-D57D-ED9C-4A71-9F9212262E83}"/>
              </a:ext>
            </a:extLst>
          </p:cNvPr>
          <p:cNvSpPr>
            <a:spLocks noGrp="1"/>
          </p:cNvSpPr>
          <p:nvPr/>
        </p:nvSpPr>
        <p:spPr>
          <a:xfrm>
            <a:off x="781050" y="2371725"/>
            <a:ext cx="20002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深度头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0FD17D-C6E6-148E-3DBE-424499D82FCE}"/>
              </a:ext>
            </a:extLst>
          </p:cNvPr>
          <p:cNvSpPr>
            <a:spLocks noGrp="1"/>
          </p:cNvSpPr>
          <p:nvPr/>
        </p:nvSpPr>
        <p:spPr>
          <a:xfrm>
            <a:off x="3028950" y="2371725"/>
            <a:ext cx="3810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与RGB帧率一致的稠密深度</a:t>
            </a:r>
          </a:p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供渲染计算模糊程度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0C9325-7EC6-0C3A-601F-B2137FAA4220}"/>
              </a:ext>
            </a:extLst>
          </p:cNvPr>
          <p:cNvSpPr>
            <a:spLocks noGrp="1"/>
          </p:cNvSpPr>
          <p:nvPr/>
        </p:nvSpPr>
        <p:spPr>
          <a:xfrm>
            <a:off x="7124700" y="2371725"/>
            <a:ext cx="4191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参考深度监督 </a:t>
            </a:r>
            <a:r>
              <a:rPr lang="en-US" altLang="zh-CN"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lang="zh-CN" altLang="en-US"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边缘感知损失</a:t>
            </a:r>
            <a:endParaRPr sz="1800" b="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705504-1CEC-CE86-4DC6-C72773617F05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20002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Alpha头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14216E-BDA9-2AE8-4C05-3CC59DD28F24}"/>
              </a:ext>
            </a:extLst>
          </p:cNvPr>
          <p:cNvSpPr>
            <a:spLocks noGrp="1"/>
          </p:cNvSpPr>
          <p:nvPr/>
        </p:nvSpPr>
        <p:spPr>
          <a:xfrm>
            <a:off x="3028950" y="3429000"/>
            <a:ext cx="3810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逐帧前景覆盖比例</a:t>
            </a:r>
          </a:p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供边界处进行软合成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41C2E5-5D70-41A0-9429-83D247846D7B}"/>
              </a:ext>
            </a:extLst>
          </p:cNvPr>
          <p:cNvSpPr>
            <a:spLocks noGrp="1"/>
          </p:cNvSpPr>
          <p:nvPr/>
        </p:nvSpPr>
        <p:spPr>
          <a:xfrm>
            <a:off x="7124700" y="3429000"/>
            <a:ext cx="4191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L1 + </a:t>
            </a:r>
            <a:r>
              <a:rPr lang="zh-CN" altLang="en-US"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拉普拉斯边缘损失</a:t>
            </a:r>
            <a:endParaRPr sz="1800" b="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1E40E7-5273-333A-D11F-42C5A6F61E7C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20002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虚化头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4CF7B5-BADA-4185-81B0-944B7437EE06}"/>
              </a:ext>
            </a:extLst>
          </p:cNvPr>
          <p:cNvSpPr>
            <a:spLocks noGrp="1"/>
          </p:cNvSpPr>
          <p:nvPr/>
        </p:nvSpPr>
        <p:spPr>
          <a:xfrm>
            <a:off x="3028950" y="4486275"/>
            <a:ext cx="3810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神经虚化修正量ΔB</a:t>
            </a:r>
          </a:p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补充基础物理渲染结果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3C4926-51DD-EA19-BAC8-7DE3C4648948}"/>
              </a:ext>
            </a:extLst>
          </p:cNvPr>
          <p:cNvSpPr>
            <a:spLocks noGrp="1"/>
          </p:cNvSpPr>
          <p:nvPr/>
        </p:nvSpPr>
        <p:spPr>
          <a:xfrm>
            <a:off x="7124700" y="4486275"/>
            <a:ext cx="41910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最终渲染损失</a:t>
            </a:r>
            <a:endParaRPr sz="1800" b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8">
            <a:extLst>
              <a:ext uri="{FF2B5EF4-FFF2-40B4-BE49-F238E27FC236}">
                <a16:creationId xmlns:a16="http://schemas.microsoft.com/office/drawing/2014/main" id="{4FF2AAEA-0E1C-465C-90A7-F4B2C575893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虚化渲染与修正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E79C7C1D-C4D3-4291-B7A4-80F9798594D3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CC9307-7D7F-0B96-F534-235EF1F5A90A}"/>
              </a:ext>
            </a:extLst>
          </p:cNvPr>
          <p:cNvSpPr>
            <a:spLocks noGrp="1"/>
          </p:cNvSpPr>
          <p:nvPr/>
        </p:nvSpPr>
        <p:spPr>
          <a:xfrm>
            <a:off x="781050" y="1304925"/>
            <a:ext cx="223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渲染输入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035F65-3C3D-64B3-6B70-D9455B620837}"/>
              </a:ext>
            </a:extLst>
          </p:cNvPr>
          <p:cNvSpPr>
            <a:spLocks noGrp="1"/>
          </p:cNvSpPr>
          <p:nvPr/>
        </p:nvSpPr>
        <p:spPr>
          <a:xfrm>
            <a:off x="3209925" y="130492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原始RGB + 深度头输出 + Alpha头输出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结合光圈、焦距和对焦距离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B35680-15ED-F3EE-6519-DD54321EDD52}"/>
              </a:ext>
            </a:extLst>
          </p:cNvPr>
          <p:cNvSpPr>
            <a:spLocks noGrp="1"/>
          </p:cNvSpPr>
          <p:nvPr/>
        </p:nvSpPr>
        <p:spPr>
          <a:xfrm>
            <a:off x="781050" y="2257425"/>
            <a:ext cx="223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基础虚化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040808-AE69-7440-1A77-A9899CC3582A}"/>
              </a:ext>
            </a:extLst>
          </p:cNvPr>
          <p:cNvSpPr>
            <a:spLocks noGrp="1"/>
          </p:cNvSpPr>
          <p:nvPr/>
        </p:nvSpPr>
        <p:spPr>
          <a:xfrm>
            <a:off x="3209925" y="225742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深度结合镜头参数，确定模糊范围与光斑形状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Alpha</a:t>
            </a:r>
            <a:r>
              <a:rPr lang="zh-CN" altLang="en-US"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用于前后景软合成与边缘融合</a:t>
            </a:r>
            <a:endParaRPr sz="1875" b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BD560C-1B3A-C05B-1DD7-54E78E387B95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223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网络修正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733BB4-F029-DD21-160A-5E81A4833CD7}"/>
              </a:ext>
            </a:extLst>
          </p:cNvPr>
          <p:cNvSpPr>
            <a:spLocks noGrp="1"/>
          </p:cNvSpPr>
          <p:nvPr/>
        </p:nvSpPr>
        <p:spPr>
          <a:xfrm>
            <a:off x="3209925" y="320992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加入虚化头输出的ΔB</a:t>
            </a:r>
          </a:p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补偿高光、光斑和边缘过渡中的近似误差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55E1D6-B4F7-6980-973A-9EF77E1BDC46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10668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最终虚化 = 基础物理渲染 + 神经修正量ΔB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18FB97-A7FB-CC77-EDD6-3D7E0F811E7A}"/>
              </a:ext>
            </a:extLst>
          </p:cNvPr>
          <p:cNvSpPr>
            <a:spLocks noGrp="1"/>
          </p:cNvSpPr>
          <p:nvPr/>
        </p:nvSpPr>
        <p:spPr>
          <a:xfrm>
            <a:off x="781050" y="520065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训练顺序：先预训练深度与Alpha，再用配套标签联合训练，最后整体微调。</a:t>
            </a:r>
          </a:p>
          <a:p>
            <a:pPr algn="l">
              <a:def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渲染约束：平滑模糊参数的时间变化，减少虚化强度忽大忽小。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-9">
            <a:extLst>
              <a:ext uri="{FF2B5EF4-FFF2-40B4-BE49-F238E27FC236}">
                <a16:creationId xmlns:a16="http://schemas.microsoft.com/office/drawing/2014/main" id="{2256B31A-25B3-40DF-8C68-DA84C813DB41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后续文献调研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9">
            <a:extLst>
              <a:ext uri="{FF2B5EF4-FFF2-40B4-BE49-F238E27FC236}">
                <a16:creationId xmlns:a16="http://schemas.microsoft.com/office/drawing/2014/main" id="{B3972419-FC19-447E-A42C-4D7ECFB1CBC0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D126E8-D108-D45B-1D05-FF911E3F5DA4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2733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深度输入编码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52CFA0-AFFA-1649-93FA-3C4787C8BE98}"/>
              </a:ext>
            </a:extLst>
          </p:cNvPr>
          <p:cNvSpPr>
            <a:spLocks noGrp="1"/>
          </p:cNvSpPr>
          <p:nvPr/>
        </p:nvSpPr>
        <p:spPr>
          <a:xfrm>
            <a:off x="3714750" y="1314450"/>
            <a:ext cx="7715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D、M、C如何组合并参与计算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6F637BF-B468-F0BE-0B93-C12B982E3C49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2733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时间对齐与传播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0D28070-F121-9282-93DE-80B34B8C6406}"/>
              </a:ext>
            </a:extLst>
          </p:cNvPr>
          <p:cNvSpPr>
            <a:spLocks noGrp="1"/>
          </p:cNvSpPr>
          <p:nvPr/>
        </p:nvSpPr>
        <p:spPr>
          <a:xfrm>
            <a:off x="3714750" y="2105025"/>
            <a:ext cx="7715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插值和运动传播如何分工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D372892-C919-020A-43A9-1023C91A7EAC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733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特征合并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F5A4F72-782A-2B53-BEED-93B65D06EC7D}"/>
              </a:ext>
            </a:extLst>
          </p:cNvPr>
          <p:cNvSpPr>
            <a:spLocks noGrp="1"/>
          </p:cNvSpPr>
          <p:nvPr/>
        </p:nvSpPr>
        <p:spPr>
          <a:xfrm>
            <a:off x="3714750" y="2895600"/>
            <a:ext cx="7715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怎样减少重复计算并保留边缘细节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67E9B1E-509A-FD6E-D782-2C9258F910B4}"/>
              </a:ext>
            </a:extLst>
          </p:cNvPr>
          <p:cNvSpPr>
            <a:spLocks noGrp="1"/>
          </p:cNvSpPr>
          <p:nvPr/>
        </p:nvSpPr>
        <p:spPr>
          <a:xfrm>
            <a:off x="781050" y="3686175"/>
            <a:ext cx="2733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边界与虚化渲染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21EA0C-5504-B2D9-718F-47FB7B18FC56}"/>
              </a:ext>
            </a:extLst>
          </p:cNvPr>
          <p:cNvSpPr>
            <a:spLocks noGrp="1"/>
          </p:cNvSpPr>
          <p:nvPr/>
        </p:nvSpPr>
        <p:spPr>
          <a:xfrm>
            <a:off x="3714750" y="3686175"/>
            <a:ext cx="7715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Alpha之外是否还需要前景颜色和背景信息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3E70CCD-4008-01C9-8908-ABFA81C541EE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2733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虚化参数控制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77F4D8-807D-9991-2D12-D6307A180417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7715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改变对焦、光圈等参数后，哪些部分需要重新计算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97CD3E1-C098-E066-95FA-634CC9B7C579}"/>
              </a:ext>
            </a:extLst>
          </p:cNvPr>
          <p:cNvSpPr>
            <a:spLocks noGrp="1"/>
          </p:cNvSpPr>
          <p:nvPr/>
        </p:nvSpPr>
        <p:spPr>
          <a:xfrm>
            <a:off x="781050" y="5610225"/>
            <a:ext cx="10477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结合相关文献，进一步明确各部分的具体实现。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845</Words>
  <Application>Microsoft Office PowerPoint</Application>
  <DocSecurity>0</DocSecurity>
  <PresentationFormat>宽屏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Microsoft YaHei</vt:lpstr>
      <vt:lpstr>Microsoft YaHei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11</cp:revision>
  <dcterms:created xsi:type="dcterms:W3CDTF">2026-08-21T05:34:17Z</dcterms:created>
  <dcterms:modified xsi:type="dcterms:W3CDTF">2026-09-20T07:32:57Z</dcterms:modified>
</cp:coreProperties>
</file>