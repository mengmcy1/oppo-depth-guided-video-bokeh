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86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827FC-13EC-4534-943C-1B6B237D5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D191A6-740D-4559-932B-C68CD38E3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>
            <a:extLst>
              <a:ext uri="{FF2B5EF4-FFF2-40B4-BE49-F238E27FC236}">
                <a16:creationId xmlns:a16="http://schemas.microsoft.com/office/drawing/2014/main" id="{DC92720F-CEDE-462A-9258-2F6F8E4F4E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2026/8/21</a:t>
            </a:fld>
            <a:endParaRPr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01FAF7BB-96E7-474F-8E13-2A3F228E59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39F46F67-CF60-41D7-ADA6-BDE73F9616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D75B2-BB23-4948-84C7-EB6CF064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8EE921-E731-43F3-8919-D567B38E7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4B3765-C182-4421-8F29-6A9DEAAEBE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2026/8/21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729A8-8D35-4E1E-B947-4B029492F6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570143-5261-415B-8113-51EF8007CD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13B2D-E8C6-43F5-A859-87472410D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0B62CB-720E-4D14-9DC8-B279D19AF5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EBC76B-9044-435D-93B4-E983D6D6AD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2026/8/21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BFBDAA-2CE0-4826-86F9-FC15D559EA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76A62A-7005-4B8A-8635-DC17485313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8C66C-5979-4AA9-943C-8C2145027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784C1F-6CFA-4FAE-93E9-F41EB3B62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351BE2-C379-4212-AAB9-07437BE792B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551DC6-0261-4DD5-A68A-10D2D8BE37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2026/8/21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1E987A-C040-4F0C-BA48-38851B53EC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488445-9CE9-4801-8575-688F822000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BCE97-C159-4A8D-BB25-D20DBCB4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84D4FE-8F76-4E37-B3D6-25C02F2E4F3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0EEC01-B1DC-4313-8539-F35516E76E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419646-66E0-4D48-AEB8-A9FCE9E4C41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2DFDDD-8310-42F6-8351-27F8F125191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D4EB3D-F163-4969-B497-1252F8D718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2026/8/21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107DFD-FD9F-4976-9EF0-B7B55E5907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7F6A92-5D5F-46AE-93BF-527FD6D13D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054DC-D709-49D8-8331-FC6AE8E3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7A751D-BE1B-40DA-9C0F-042E3D798C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2026/8/21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AA8944-91D1-428C-A566-F69CEB78A1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B27E16-828F-41B4-BF2C-1667452C21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8F2686-FB7E-462C-9EC7-DDD4CB5E88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2026/8/21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9584A8-757F-48B4-AE1D-54A674B727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044F15-89E6-4327-A0C6-90FEB269C3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CE772D-D555-41A5-8F20-149C45C8A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097360-FF83-4663-8485-4CE379645D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F748D8-86DC-47F7-A68F-80B4374969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FD9D74-47D9-4702-A33C-335B63B48DBF}" type="datetimeFigureOut">
              <a:t>2026/8/21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7D1DEA-A29F-4AAD-B7FB-E4FE2D656C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91BC6B-6A01-426B-8DA0-CB9EF19E71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BC47A4-756D-490B-A52F-7D9E2C9FC05F}" type="slidenum">
              <a:t>‹#›</a:t>
            </a:fld>
            <a:endParaRPr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4F4E188D-011B-4DC6-B48C-D4EDBF5E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170318-5361-428D-8A0E-984E39D20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4CB72-AAF1-4918-A7DB-1CFCEE6D0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5F2C6F-AC8A-469B-BFD9-FE81950669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2026/8/21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EF39F2-BB37-4DF8-9772-A1D5E4B106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B431A0-5D32-4443-8514-CB4FBA2656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7C3940-28EF-4142-B7B8-CB87F29165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2026/8/21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386E29-7E6D-4EA5-9C69-93A4C311F3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0BE97B-BDBD-4151-B6AB-2159534455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5B87756-BC33-45BC-894F-164D91CFB15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92C23E-7253-44AB-9397-C800533DCB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2026/8/21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B64AD8-89D9-43A1-BCEB-C34CB4CAA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6365B8-68FE-4E57-A954-41410FA3B7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204CC8-C14D-4A0B-8988-6EDC2CC99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CE75E29-F427-4503-B2EE-1DAE3AFD39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663FBA5-BDA6-4C8C-B397-D60D211930AE}"/>
              </a:ext>
            </a:extLst>
          </p:cNvPr>
          <p:cNvSpPr>
            <a:spLocks noGrp="1"/>
          </p:cNvSpPr>
          <p:nvPr/>
        </p:nvSpPr>
        <p:spPr>
          <a:xfrm>
            <a:off x="191344" y="737562"/>
            <a:ext cx="11809312" cy="5067699"/>
          </a:xfrm>
          <a:prstGeom prst="rect">
            <a:avLst/>
          </a:prstGeom>
          <a:solidFill>
            <a:srgbClr val="005BAC">
              <a:alpha val="90000"/>
            </a:srgbClr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文本占位符 73">
            <a:extLst>
              <a:ext uri="{FF2B5EF4-FFF2-40B4-BE49-F238E27FC236}">
                <a16:creationId xmlns:a16="http://schemas.microsoft.com/office/drawing/2014/main" id="{1CD044CB-B0D8-448E-B78F-0071202101E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83773" y="4851298"/>
            <a:ext cx="3024188" cy="358941"/>
          </a:xfrm>
        </p:spPr>
        <p:txBody>
          <a:bodyPr anchor="ctr"/>
          <a:lstStyle>
            <a:lvl1pPr algn="ctr">
              <a:buNone/>
              <a:defRPr sz="18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5pPr>
          </a:lstStyle>
          <a:p>
            <a:pPr>
              <a:buNone/>
            </a:pPr>
            <a:r>
              <a:t>单击此处编辑</a:t>
            </a:r>
          </a:p>
        </p:txBody>
      </p:sp>
      <p:sp>
        <p:nvSpPr>
          <p:cNvPr id="76" name="标题 75">
            <a:extLst>
              <a:ext uri="{FF2B5EF4-FFF2-40B4-BE49-F238E27FC236}">
                <a16:creationId xmlns:a16="http://schemas.microsoft.com/office/drawing/2014/main" id="{B7CA6298-7645-4B76-9C7B-5900BAC51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3867" y="2087714"/>
            <a:ext cx="9144000" cy="677108"/>
          </a:xfrm>
        </p:spPr>
        <p:txBody>
          <a:bodyPr/>
          <a:lstStyle>
            <a:lvl1pPr algn="ctr">
              <a:buNone/>
              <a:defRPr sz="4400" b="1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r>
              <a:t>编辑标题样式</a:t>
            </a:r>
          </a:p>
        </p:txBody>
      </p:sp>
      <p:sp>
        <p:nvSpPr>
          <p:cNvPr id="79" name="文本占位符 78">
            <a:extLst>
              <a:ext uri="{FF2B5EF4-FFF2-40B4-BE49-F238E27FC236}">
                <a16:creationId xmlns:a16="http://schemas.microsoft.com/office/drawing/2014/main" id="{7F7BE5F6-56D0-4E82-B9AB-E1E707A00BB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431248" y="4266698"/>
            <a:ext cx="5329238" cy="440681"/>
          </a:xfrm>
        </p:spPr>
        <p:txBody>
          <a:bodyPr anchor="ctr"/>
          <a:lstStyle>
            <a:lvl1pPr algn="ctr">
              <a:buNone/>
              <a:defRPr sz="20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电子信息与通信学院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733C61-8216-4B81-8E92-D7C6839AC68A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42FAE4-9786-4A46-BDEF-71076D530B5A}"/>
              </a:ext>
            </a:extLst>
          </p:cNvPr>
          <p:cNvSpPr>
            <a:spLocks noGrp="1"/>
          </p:cNvSpPr>
          <p:nvPr/>
        </p:nvSpPr>
        <p:spPr>
          <a:xfrm flipH="1">
            <a:off x="11664353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4C046B-35ED-4F4B-B0F4-433B6A3B0A6C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3A01FF-2F41-4BDE-96CD-D24A509B8DE8}"/>
              </a:ext>
            </a:extLst>
          </p:cNvPr>
          <p:cNvSpPr>
            <a:spLocks noGrp="1"/>
          </p:cNvSpPr>
          <p:nvPr/>
        </p:nvSpPr>
        <p:spPr>
          <a:xfrm flipH="1">
            <a:off x="11712656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4" name="直接连接符 23"/>
          <p:cNvCxnSpPr>
            <a:stCxn id="14" idx="2"/>
            <a:endCxn id="15" idx="2"/>
          </p:cNvCxnSpPr>
          <p:nvPr/>
        </p:nvCxnSpPr>
        <p:spPr>
          <a:xfrm>
            <a:off x="455647" y="652498"/>
            <a:ext cx="11280706" cy="0"/>
          </a:xfrm>
          <a:prstGeom prst="line">
            <a:avLst/>
          </a:prstGeom>
          <a:ln w="6350" cap="flat">
            <a:solidFill>
              <a:srgbClr val="005BAD"/>
            </a:solidFill>
            <a:prstDash val="solid"/>
            <a:miter/>
          </a:ln>
        </p:spPr>
      </p:cxnSp>
      <p:pic>
        <p:nvPicPr>
          <p:cNvPr id="30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193" y="5877272"/>
            <a:ext cx="1203613" cy="914400"/>
          </a:xfrm>
          <a:prstGeom prst="rect">
            <a:avLst/>
          </a:prstGeom>
        </p:spPr>
      </p:pic>
      <p:sp>
        <p:nvSpPr>
          <p:cNvPr id="21" name="页脚占位符 136">
            <a:extLst>
              <a:ext uri="{FF2B5EF4-FFF2-40B4-BE49-F238E27FC236}">
                <a16:creationId xmlns:a16="http://schemas.microsoft.com/office/drawing/2014/main" id="{8B54C9D5-2C73-4D6E-90F9-33F606667DC9}"/>
              </a:ext>
            </a:extLst>
          </p:cNvPr>
          <p:cNvSpPr>
            <a:spLocks noGrp="1"/>
          </p:cNvSpPr>
          <p:nvPr/>
        </p:nvSpPr>
        <p:spPr>
          <a:xfrm>
            <a:off x="2895600" y="284390"/>
            <a:ext cx="6400800" cy="364987"/>
          </a:xfrm>
          <a:prstGeom prst="rect">
            <a:avLst/>
          </a:prstGeom>
        </p:spPr>
        <p:txBody>
          <a:bodyPr vert="horz" wrap="none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400">
                <a:solidFill>
                  <a:srgbClr val="005BAC"/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25" name="文本占位符 78">
            <a:extLst>
              <a:ext uri="{FF2B5EF4-FFF2-40B4-BE49-F238E27FC236}">
                <a16:creationId xmlns:a16="http://schemas.microsoft.com/office/drawing/2014/main" id="{A3195E40-966D-4383-8765-FC401833B07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351451" y="2944162"/>
            <a:ext cx="7488832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编辑副标题</a:t>
            </a:r>
          </a:p>
        </p:txBody>
      </p:sp>
      <p:sp>
        <p:nvSpPr>
          <p:cNvPr id="26" name="文本占位符 78">
            <a:extLst>
              <a:ext uri="{FF2B5EF4-FFF2-40B4-BE49-F238E27FC236}">
                <a16:creationId xmlns:a16="http://schemas.microsoft.com/office/drawing/2014/main" id="{FC7891A1-B4C6-46BD-A955-71C3D974ABE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31248" y="3732590"/>
            <a:ext cx="5329238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xxx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Straight Arrow Connector 4"/>
          <p:cNvCxnSpPr/>
          <p:nvPr/>
        </p:nvCxnSpPr>
        <p:spPr>
          <a:xfrm>
            <a:off x="-1145117" y="6303964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Arrow Connector 5"/>
          <p:cNvCxnSpPr/>
          <p:nvPr/>
        </p:nvCxnSpPr>
        <p:spPr>
          <a:xfrm>
            <a:off x="4720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Arrow Connector 7"/>
          <p:cNvCxnSpPr/>
          <p:nvPr/>
        </p:nvCxnSpPr>
        <p:spPr>
          <a:xfrm>
            <a:off x="11703051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Arrow Connector 8"/>
          <p:cNvCxnSpPr/>
          <p:nvPr/>
        </p:nvCxnSpPr>
        <p:spPr>
          <a:xfrm>
            <a:off x="-1145117" y="12588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9"/>
          <p:cNvCxnSpPr/>
          <p:nvPr/>
        </p:nvCxnSpPr>
        <p:spPr>
          <a:xfrm>
            <a:off x="-1145117" y="7635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10"/>
          <p:cNvCxnSpPr/>
          <p:nvPr/>
        </p:nvCxnSpPr>
        <p:spPr>
          <a:xfrm>
            <a:off x="58568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Arrow Connector 11"/>
          <p:cNvCxnSpPr/>
          <p:nvPr/>
        </p:nvCxnSpPr>
        <p:spPr>
          <a:xfrm>
            <a:off x="6335184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6">
            <a:extLst>
              <a:ext uri="{FF2B5EF4-FFF2-40B4-BE49-F238E27FC236}">
                <a16:creationId xmlns:a16="http://schemas.microsoft.com/office/drawing/2014/main" id="{960A2AB8-24E5-402F-BD05-4E4F7773E26C}"/>
              </a:ext>
            </a:extLst>
          </p:cNvPr>
          <p:cNvSpPr>
            <a:spLocks noGrp="1"/>
          </p:cNvSpPr>
          <p:nvPr/>
        </p:nvSpPr>
        <p:spPr>
          <a:xfrm>
            <a:off x="-2423583" y="6581776"/>
            <a:ext cx="2239433" cy="276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White markers indicate position of  Drawing Guides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816D9D75-5ED9-438D-BAFB-60E52F4EEC7C}"/>
              </a:ext>
            </a:extLst>
          </p:cNvPr>
          <p:cNvSpPr>
            <a:spLocks noGrp="1"/>
          </p:cNvSpPr>
          <p:nvPr/>
        </p:nvSpPr>
        <p:spPr>
          <a:xfrm>
            <a:off x="-1255183" y="896938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7.40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2.91 Inches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C72E5887-D42D-4561-8490-9D84415B44D5}"/>
              </a:ext>
            </a:extLst>
          </p:cNvPr>
          <p:cNvSpPr>
            <a:spLocks noGrp="1"/>
          </p:cNvSpPr>
          <p:nvPr/>
        </p:nvSpPr>
        <p:spPr>
          <a:xfrm>
            <a:off x="-1255183" y="15049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2.36 Inches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280CC5A8-EF79-4781-8053-815653A129D1}"/>
              </a:ext>
            </a:extLst>
          </p:cNvPr>
          <p:cNvSpPr>
            <a:spLocks noGrp="1"/>
          </p:cNvSpPr>
          <p:nvPr/>
        </p:nvSpPr>
        <p:spPr>
          <a:xfrm>
            <a:off x="-1255183" y="5921375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3.15 Inches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C356099A-FA8D-405D-8BCC-EDFB94BFD4DC}"/>
              </a:ext>
            </a:extLst>
          </p:cNvPr>
          <p:cNvSpPr>
            <a:spLocks noGrp="1"/>
          </p:cNvSpPr>
          <p:nvPr/>
        </p:nvSpPr>
        <p:spPr>
          <a:xfrm>
            <a:off x="4783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11.70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4.61 inches</a:t>
            </a: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BB9E398F-52CB-4C46-8B02-3DE0A6B13E08}"/>
              </a:ext>
            </a:extLst>
          </p:cNvPr>
          <p:cNvSpPr>
            <a:spLocks noGrp="1"/>
          </p:cNvSpPr>
          <p:nvPr/>
        </p:nvSpPr>
        <p:spPr>
          <a:xfrm>
            <a:off x="47709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0.2 inches </a:t>
            </a: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B47805AC-2EF0-441C-97BB-E71FEE2AC1F2}"/>
              </a:ext>
            </a:extLst>
          </p:cNvPr>
          <p:cNvSpPr>
            <a:spLocks noGrp="1"/>
          </p:cNvSpPr>
          <p:nvPr/>
        </p:nvSpPr>
        <p:spPr>
          <a:xfrm>
            <a:off x="6350001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Char char="ß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0.2 inches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FAE8641A-FC9E-470B-9C29-AE3021BF1275}"/>
              </a:ext>
            </a:extLst>
          </p:cNvPr>
          <p:cNvSpPr>
            <a:spLocks noGrp="1"/>
          </p:cNvSpPr>
          <p:nvPr/>
        </p:nvSpPr>
        <p:spPr>
          <a:xfrm>
            <a:off x="10627785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11.70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4.61 inches </a:t>
            </a:r>
          </a:p>
        </p:txBody>
      </p:sp>
      <p:cxnSp>
        <p:nvCxnSpPr>
          <p:cNvPr id="479" name="Straight Arrow Connector 20"/>
          <p:cNvCxnSpPr/>
          <p:nvPr/>
        </p:nvCxnSpPr>
        <p:spPr>
          <a:xfrm rot="5400000" flipH="1" flipV="1">
            <a:off x="-296863" y="1308630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Arrow Connector 21"/>
          <p:cNvCxnSpPr/>
          <p:nvPr/>
        </p:nvCxnSpPr>
        <p:spPr>
          <a:xfrm rot="5400000" flipH="1" flipV="1">
            <a:off x="-296863" y="81174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Arrow Connector 22"/>
          <p:cNvCxnSpPr/>
          <p:nvPr/>
        </p:nvCxnSpPr>
        <p:spPr>
          <a:xfrm rot="5400000" flipH="1" flipV="1">
            <a:off x="-296863" y="624099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4">
            <a:extLst>
              <a:ext uri="{FF2B5EF4-FFF2-40B4-BE49-F238E27FC236}">
                <a16:creationId xmlns:a16="http://schemas.microsoft.com/office/drawing/2014/main" id="{4CD9ABC4-8223-4F02-ACB0-D63D0B95EECF}"/>
              </a:ext>
            </a:extLst>
          </p:cNvPr>
          <p:cNvSpPr>
            <a:spLocks noGrp="1"/>
          </p:cNvSpPr>
          <p:nvPr/>
        </p:nvSpPr>
        <p:spPr>
          <a:xfrm>
            <a:off x="-2055284" y="0"/>
            <a:ext cx="1871133" cy="692497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>
            <a:spAutoFit/>
          </a:bodyPr>
          <a:lstStyle/>
          <a:p>
            <a:pPr>
              <a:buNone/>
            </a:pPr>
            <a:r>
              <a:rPr sz="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 view  drawing guides:</a:t>
            </a:r>
          </a:p>
          <a:p>
            <a:pPr>
              <a:buNone/>
            </a:pPr>
            <a:endParaRPr sz="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Right-click on slide and select ’Grid and Guides...’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Check ’Display drawing guides on screen’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Select ’OK’</a:t>
            </a:r>
          </a:p>
        </p:txBody>
      </p:sp>
      <p:sp>
        <p:nvSpPr>
          <p:cNvPr id="64" name="内容占位符 3">
            <a:extLst>
              <a:ext uri="{FF2B5EF4-FFF2-40B4-BE49-F238E27FC236}">
                <a16:creationId xmlns:a16="http://schemas.microsoft.com/office/drawing/2014/main" id="{D7011FCB-A859-4BFD-83F2-0660B72F7BA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77838" y="1066523"/>
            <a:ext cx="11231562" cy="5317329"/>
          </a:xfrm>
        </p:spPr>
        <p:txBody>
          <a:bodyPr vert="horz" lIns="91440" tIns="45720" rIns="91440" bIns="45720">
            <a:normAutofit/>
          </a:bodyPr>
          <a:lstStyle>
            <a:lvl1pPr marL="0" indent="0" algn="l">
              <a:lnSpc>
                <a:spcPct val="150000"/>
              </a:lnSpc>
              <a:spcBef>
                <a:spcPts val="15"/>
              </a:spcBef>
              <a:buNone/>
              <a:defRPr sz="20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marL="179705" indent="-179705" algn="l">
              <a:lnSpc>
                <a:spcPct val="150000"/>
              </a:lnSpc>
              <a:spcBef>
                <a:spcPts val="400"/>
              </a:spcBef>
              <a:buChar char="n"/>
              <a:defRPr sz="18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marL="358775" indent="-179705" algn="l">
              <a:lnSpc>
                <a:spcPct val="150000"/>
              </a:lnSpc>
              <a:spcBef>
                <a:spcPts val="400"/>
              </a:spcBef>
              <a:buChar char="n"/>
              <a:defRPr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marL="539750" indent="-179705" algn="l">
              <a:lnSpc>
                <a:spcPct val="150000"/>
              </a:lnSpc>
              <a:spcBef>
                <a:spcPts val="400"/>
              </a:spcBef>
              <a:buChar char="n"/>
              <a:defRPr sz="14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marL="2114550" indent="-285750">
              <a:buChar char="n"/>
              <a:defRPr sz="1400" b="0" i="0">
                <a:solidFill>
                  <a:schemeClr val="tx2"/>
                </a:solidFill>
                <a:latin typeface="等线"/>
                <a:ea typeface="等线"/>
                <a:cs typeface="等线"/>
              </a:defRPr>
            </a:lvl5pPr>
          </a:lstStyle>
          <a:p>
            <a:pPr marL="0" indent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单击此处编辑母版文本样式</a:t>
            </a:r>
          </a:p>
          <a:p>
            <a:pPr marL="17970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第二级</a:t>
            </a:r>
          </a:p>
          <a:p>
            <a:pPr marL="35877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第三级</a:t>
            </a:r>
          </a:p>
          <a:p>
            <a:pPr marL="539750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第四级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06F666D-3D77-45CE-9E36-7D43AAB1AFBF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A9F9444-981D-482B-B1B1-E6B8B90BD969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日期占位符 135">
            <a:extLst>
              <a:ext uri="{FF2B5EF4-FFF2-40B4-BE49-F238E27FC236}">
                <a16:creationId xmlns:a16="http://schemas.microsoft.com/office/drawing/2014/main" id="{AEAC94EA-4735-4835-8D0B-6AF5E5DBC1BE}"/>
              </a:ext>
            </a:extLst>
          </p:cNvPr>
          <p:cNvSpPr>
            <a:spLocks noGrp="1"/>
          </p:cNvSpPr>
          <p:nvPr/>
        </p:nvSpPr>
        <p:spPr>
          <a:xfrm>
            <a:off x="9048328" y="6555494"/>
            <a:ext cx="2883976" cy="267573"/>
          </a:xfrm>
          <a:prstGeom prst="rect">
            <a:avLst/>
          </a:prstGeom>
        </p:spPr>
        <p:txBody>
          <a:bodyPr anchor="ctr"/>
          <a:lstStyle>
            <a:lvl1pPr marL="0" algn="r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华中科技大学电子信息与通信学院</a:t>
            </a:r>
          </a:p>
        </p:txBody>
      </p:sp>
      <p:sp>
        <p:nvSpPr>
          <p:cNvPr id="60" name="页脚占位符 136">
            <a:extLst>
              <a:ext uri="{FF2B5EF4-FFF2-40B4-BE49-F238E27FC236}">
                <a16:creationId xmlns:a16="http://schemas.microsoft.com/office/drawing/2014/main" id="{0E878418-DF82-4DAF-B41B-267BBB6CF5A0}"/>
              </a:ext>
            </a:extLst>
          </p:cNvPr>
          <p:cNvSpPr>
            <a:spLocks noGrp="1"/>
          </p:cNvSpPr>
          <p:nvPr/>
        </p:nvSpPr>
        <p:spPr>
          <a:xfrm>
            <a:off x="187688" y="6552438"/>
            <a:ext cx="2880000" cy="27368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61" name="Slide Number Placeholder 5">
            <a:extLst>
              <a:ext uri="{FF2B5EF4-FFF2-40B4-BE49-F238E27FC236}">
                <a16:creationId xmlns:a16="http://schemas.microsoft.com/office/drawing/2014/main" id="{17029273-9C77-40E6-9DCD-4AEAEAF594B8}"/>
              </a:ext>
            </a:extLst>
          </p:cNvPr>
          <p:cNvSpPr>
            <a:spLocks noGrp="1"/>
          </p:cNvSpPr>
          <p:nvPr/>
        </p:nvSpPr>
        <p:spPr>
          <a:xfrm>
            <a:off x="5853936" y="6626574"/>
            <a:ext cx="480484" cy="125413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0" algn="l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73DA0BB7-265A-403C-9275-D587AB510EDC}" type="slidenum">
              <a:rPr b="0"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‹#›</a:t>
            </a:fld>
            <a:endParaRPr b="0">
              <a:solidFill>
                <a:srgbClr val="005BAD">
                  <a:alpha val="7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直接连接符 23">
            <a:extLst>
              <a:ext uri="{FF2B5EF4-FFF2-40B4-BE49-F238E27FC236}">
                <a16:creationId xmlns:a16="http://schemas.microsoft.com/office/drawing/2014/main" id="{E253B85C-8C1F-412F-9C7F-095F739F2DB1}"/>
              </a:ext>
            </a:extLst>
          </p:cNvPr>
          <p:cNvSpPr>
            <a:spLocks noGrp="1"/>
          </p:cNvSpPr>
          <p:nvPr/>
        </p:nvSpPr>
        <p:spPr>
          <a:xfrm>
            <a:off x="0" y="908720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80000"/>
              </a:srgbClr>
            </a:solidFill>
            <a:prstDash val="solid"/>
          </a:ln>
        </p:spPr>
      </p:sp>
      <p:sp>
        <p:nvSpPr>
          <p:cNvPr id="63" name="直接连接符 23">
            <a:extLst>
              <a:ext uri="{FF2B5EF4-FFF2-40B4-BE49-F238E27FC236}">
                <a16:creationId xmlns:a16="http://schemas.microsoft.com/office/drawing/2014/main" id="{BD997483-1081-451E-8214-A9CE4E2AC154}"/>
              </a:ext>
            </a:extLst>
          </p:cNvPr>
          <p:cNvSpPr>
            <a:spLocks noGrp="1"/>
          </p:cNvSpPr>
          <p:nvPr/>
        </p:nvSpPr>
        <p:spPr>
          <a:xfrm>
            <a:off x="-2381" y="6512981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75000"/>
              </a:srgbClr>
            </a:solidFill>
            <a:prstDash val="solid"/>
          </a:ln>
        </p:spPr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2F6DEA72-91AD-4351-9CAD-117F5BDD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430887"/>
          </a:xfrm>
        </p:spPr>
        <p:txBody>
          <a:bodyPr lIns="108000"/>
          <a:lstStyle>
            <a:lvl1pPr>
              <a:buNone/>
              <a:defRPr sz="2800" b="1">
                <a:latin typeface="微软雅黑"/>
                <a:ea typeface="微软雅黑"/>
                <a:cs typeface="微软雅黑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492" name="HUST Soli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279400"/>
            <a:ext cx="952500" cy="59482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F185F6-9137-4DFB-B797-3A9101BB7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3E79E5-3F5F-4ED2-8393-FB980B24A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FE5CCB-59CA-4982-9F85-C811B6D1BA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t>2026/8/21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3843F2-921C-4A04-A4B2-C0C698A3A29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F50A50-05BE-4F64-9B56-8F57DD8A58E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>
        <a:lnSpc>
          <a:spcPct val="100000"/>
        </a:lnSpc>
        <a:buNone/>
        <a:defRPr sz="3600" b="0" u="non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130000"/>
        </a:lnSpc>
        <a:spcBef>
          <a:spcPts val="0"/>
        </a:spcBef>
        <a:spcAft>
          <a:spcPts val="1000"/>
        </a:spcAft>
        <a:buChar char="●"/>
        <a:defRPr sz="18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>
        <a:lnSpc>
          <a:spcPct val="120000"/>
        </a:lnSpc>
        <a:spcBef>
          <a:spcPts val="0"/>
        </a:spcBef>
        <a:spcAft>
          <a:spcPts val="300"/>
        </a:spcAft>
        <a:buChar char="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>
        <a:lnSpc>
          <a:spcPct val="120000"/>
        </a:lnSpc>
        <a:spcBef>
          <a:spcPts val="0"/>
        </a:spcBef>
        <a:spcAft>
          <a:spcPts val="300"/>
        </a:spcAft>
        <a:buChar char="•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">
            <a:extLst>
              <a:ext uri="{FF2B5EF4-FFF2-40B4-BE49-F238E27FC236}">
                <a16:creationId xmlns:a16="http://schemas.microsoft.com/office/drawing/2014/main" id="{34FCF1B0-383E-411C-AC5A-4680BA8F2732}"/>
              </a:ext>
            </a:extLst>
          </p:cNvPr>
          <p:cNvSpPr>
            <a:spLocks noGrp="1"/>
          </p:cNvSpPr>
          <p:nvPr/>
        </p:nvSpPr>
        <p:spPr>
          <a:xfrm>
            <a:off x="1524000" y="1764030"/>
            <a:ext cx="9144000" cy="19595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0202" tIns="46958" rIns="90202" bIns="46958" anchor="ctr">
            <a:noAutofit/>
          </a:bodyPr>
          <a:lstStyle/>
          <a:p>
            <a:pPr algn="ctr">
              <a:buNone/>
            </a:pPr>
            <a:r>
              <a:rPr sz="3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30°浅3D的可观测性与表示层诊断</a:t>
            </a:r>
          </a:p>
          <a:p>
            <a:pPr algn="ctr">
              <a:buNone/>
            </a:pPr>
            <a:r>
              <a:rPr sz="1800" b="1">
                <a:solidFill>
                  <a:srgbClr val="D9EEF9"/>
                </a:solidFill>
                <a:latin typeface="Microsoft YaHei"/>
                <a:ea typeface="Microsoft YaHei"/>
                <a:cs typeface="Microsoft YaHei"/>
              </a:rPr>
              <a:t>从显露补全失败到留一视图 Oracle</a:t>
            </a:r>
          </a:p>
        </p:txBody>
      </p:sp>
      <p:sp>
        <p:nvSpPr>
          <p:cNvPr id="2" name="cover-subtitle">
            <a:extLst>
              <a:ext uri="{FF2B5EF4-FFF2-40B4-BE49-F238E27FC236}">
                <a16:creationId xmlns:a16="http://schemas.microsoft.com/office/drawing/2014/main" id="{9E702C5D-B811-466D-87B9-4469F8E55496}"/>
              </a:ext>
            </a:extLst>
          </p:cNvPr>
          <p:cNvSpPr>
            <a:spLocks noGrp="1"/>
          </p:cNvSpPr>
          <p:nvPr/>
        </p:nvSpPr>
        <p:spPr>
          <a:xfrm>
            <a:off x="3335655" y="4516088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4874CB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3" name="cover-line">
            <a:extLst>
              <a:ext uri="{FF2B5EF4-FFF2-40B4-BE49-F238E27FC236}">
                <a16:creationId xmlns:a16="http://schemas.microsoft.com/office/drawing/2014/main" id="{156E7023-1426-46F1-88A1-85B75EFCF0E6}"/>
              </a:ext>
            </a:extLst>
          </p:cNvPr>
          <p:cNvSpPr>
            <a:spLocks noGrp="1"/>
          </p:cNvSpPr>
          <p:nvPr/>
        </p:nvSpPr>
        <p:spPr>
          <a:xfrm>
            <a:off x="3159728" y="4580287"/>
            <a:ext cx="2531078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0011" tIns="46768" rIns="90011" bIns="46768" anchor="ctr">
            <a:normAutofit/>
          </a:bodyPr>
          <a:lstStyle/>
          <a:p>
            <a:pPr algn="ctr">
              <a:buNone/>
              <a:defRPr sz="200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rPr>
              <a:t>汇报人：孟辰洋</a:t>
            </a:r>
          </a:p>
        </p:txBody>
      </p:sp>
      <p:sp>
        <p:nvSpPr>
          <p:cNvPr id="4" name="cover-meta">
            <a:extLst>
              <a:ext uri="{FF2B5EF4-FFF2-40B4-BE49-F238E27FC236}">
                <a16:creationId xmlns:a16="http://schemas.microsoft.com/office/drawing/2014/main" id="{A9B675D7-E24D-45A9-A92F-1E365CD38FDE}"/>
              </a:ext>
            </a:extLst>
          </p:cNvPr>
          <p:cNvSpPr>
            <a:spLocks noGrp="1"/>
          </p:cNvSpPr>
          <p:nvPr/>
        </p:nvSpPr>
        <p:spPr>
          <a:xfrm>
            <a:off x="6307455" y="4516088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4874CB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D9ECFA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5" name="cover-date">
            <a:extLst>
              <a:ext uri="{FF2B5EF4-FFF2-40B4-BE49-F238E27FC236}">
                <a16:creationId xmlns:a16="http://schemas.microsoft.com/office/drawing/2014/main" id="{B30BD35B-0B78-4147-8308-E7DBA3CFAF23}"/>
              </a:ext>
            </a:extLst>
          </p:cNvPr>
          <p:cNvSpPr>
            <a:spLocks noGrp="1"/>
          </p:cNvSpPr>
          <p:nvPr/>
        </p:nvSpPr>
        <p:spPr>
          <a:xfrm>
            <a:off x="6131528" y="4580287"/>
            <a:ext cx="2531078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tIns="45720" rIns="91440" bIns="4572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000" b="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rPr>
              <a:t>时间：2026.08.21</a:t>
            </a:r>
          </a:p>
        </p:txBody>
      </p:sp>
    </p:spTree>
    <p:extLst>
      <p:ext uri="{BB962C8B-B14F-4D97-AF65-F5344CB8AC3E}">
        <p14:creationId xmlns:p14="http://schemas.microsoft.com/office/powerpoint/2010/main" val="95849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增大容量仍未解决跨场景低频涂抹</a:t>
            </a:r>
          </a:p>
        </p:txBody>
      </p:sp>
      <p:sp>
        <p:nvSpPr>
          <p:cNvPr id="2" name="subtitle-1">
            <a:extLst>
              <a:ext uri="{FF2B5EF4-FFF2-40B4-BE49-F238E27FC236}">
                <a16:creationId xmlns:a16="http://schemas.microsoft.com/office/drawing/2014/main" id="{CCFBA9A1-17DA-44FE-8506-57C0B0B6EE42}"/>
              </a:ext>
            </a:extLst>
          </p:cNvPr>
          <p:cNvSpPr>
            <a:spLocks noGrp="1"/>
          </p:cNvSpPr>
          <p:nvPr/>
        </p:nvSpPr>
        <p:spPr>
          <a:xfrm>
            <a:off x="685800" y="942975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确定性联合 RGB-D 回归的失败证据</a:t>
            </a: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case-0">
            <a:extLst>
              <a:ext uri="{FF2B5EF4-FFF2-40B4-BE49-F238E27FC236}">
                <a16:creationId xmlns:a16="http://schemas.microsoft.com/office/drawing/2014/main" id="{617F695D-26A0-429F-B73F-12061A1F1D55}"/>
              </a:ext>
            </a:extLst>
          </p:cNvPr>
          <p:cNvSpPr>
            <a:spLocks noGrp="1"/>
          </p:cNvSpPr>
          <p:nvPr/>
        </p:nvSpPr>
        <p:spPr>
          <a:xfrm>
            <a:off x="666750" y="12001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93"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案例 A</a:t>
            </a:r>
          </a:p>
        </p:txBody>
      </p:sp>
      <p:sp>
        <p:nvSpPr>
          <p:cNvPr id="5" name="gt-label-0">
            <a:extLst>
              <a:ext uri="{FF2B5EF4-FFF2-40B4-BE49-F238E27FC236}">
                <a16:creationId xmlns:a16="http://schemas.microsoft.com/office/drawing/2014/main" id="{BC1B4F8C-1F83-4BB4-AB76-97F8B07BF832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目标图</a:t>
            </a:r>
          </a:p>
        </p:txBody>
      </p:sp>
      <p:sp>
        <p:nvSpPr>
          <p:cNvPr id="6" name="pred-label-0">
            <a:extLst>
              <a:ext uri="{FF2B5EF4-FFF2-40B4-BE49-F238E27FC236}">
                <a16:creationId xmlns:a16="http://schemas.microsoft.com/office/drawing/2014/main" id="{827C3BD8-F389-48A4-B9C3-21BE490E3A5B}"/>
              </a:ext>
            </a:extLst>
          </p:cNvPr>
          <p:cNvSpPr>
            <a:spLocks noGrp="1"/>
          </p:cNvSpPr>
          <p:nvPr/>
        </p:nvSpPr>
        <p:spPr>
          <a:xfrm>
            <a:off x="3333750" y="1504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预测结果</a:t>
            </a:r>
          </a:p>
        </p:txBody>
      </p:sp>
      <p:sp>
        <p:nvSpPr>
          <p:cNvPr id="7" name="gt-border-0">
            <a:extLst>
              <a:ext uri="{FF2B5EF4-FFF2-40B4-BE49-F238E27FC236}">
                <a16:creationId xmlns:a16="http://schemas.microsoft.com/office/drawing/2014/main" id="{CDC56C16-15EF-44E4-B817-D7F2B94EE97B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2476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8" name="pred-border-0">
            <a:extLst>
              <a:ext uri="{FF2B5EF4-FFF2-40B4-BE49-F238E27FC236}">
                <a16:creationId xmlns:a16="http://schemas.microsoft.com/office/drawing/2014/main" id="{4035F559-3B05-49E6-BF19-1E56D743B27E}"/>
              </a:ext>
            </a:extLst>
          </p:cNvPr>
          <p:cNvSpPr>
            <a:spLocks noGrp="1"/>
          </p:cNvSpPr>
          <p:nvPr/>
        </p:nvSpPr>
        <p:spPr>
          <a:xfrm>
            <a:off x="3333750" y="1752600"/>
            <a:ext cx="2476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4A4A"/>
            </a:solidFill>
            <a:prstDash val="solid"/>
          </a:ln>
        </p:spPr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5325" y="2274094"/>
            <a:ext cx="2419350" cy="1814513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362325" y="2274094"/>
            <a:ext cx="2419350" cy="1814513"/>
          </a:xfrm>
          <a:prstGeom prst="rect">
            <a:avLst/>
          </a:prstGeom>
        </p:spPr>
      </p:pic>
      <p:sp>
        <p:nvSpPr>
          <p:cNvPr id="11" name="case-1">
            <a:extLst>
              <a:ext uri="{FF2B5EF4-FFF2-40B4-BE49-F238E27FC236}">
                <a16:creationId xmlns:a16="http://schemas.microsoft.com/office/drawing/2014/main" id="{887AA76B-291A-4D2F-8B05-B43944B20C7A}"/>
              </a:ext>
            </a:extLst>
          </p:cNvPr>
          <p:cNvSpPr>
            <a:spLocks noGrp="1"/>
          </p:cNvSpPr>
          <p:nvPr/>
        </p:nvSpPr>
        <p:spPr>
          <a:xfrm>
            <a:off x="6143625" y="12001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93"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案例 B</a:t>
            </a:r>
          </a:p>
        </p:txBody>
      </p:sp>
      <p:sp>
        <p:nvSpPr>
          <p:cNvPr id="12" name="gt-label-1">
            <a:extLst>
              <a:ext uri="{FF2B5EF4-FFF2-40B4-BE49-F238E27FC236}">
                <a16:creationId xmlns:a16="http://schemas.microsoft.com/office/drawing/2014/main" id="{4245C83C-0D2C-44A0-BAAA-AD8A57E324EE}"/>
              </a:ext>
            </a:extLst>
          </p:cNvPr>
          <p:cNvSpPr>
            <a:spLocks noGrp="1"/>
          </p:cNvSpPr>
          <p:nvPr/>
        </p:nvSpPr>
        <p:spPr>
          <a:xfrm>
            <a:off x="6143625" y="1504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目标图</a:t>
            </a:r>
          </a:p>
        </p:txBody>
      </p:sp>
      <p:sp>
        <p:nvSpPr>
          <p:cNvPr id="13" name="pred-label-1">
            <a:extLst>
              <a:ext uri="{FF2B5EF4-FFF2-40B4-BE49-F238E27FC236}">
                <a16:creationId xmlns:a16="http://schemas.microsoft.com/office/drawing/2014/main" id="{88504BD1-45C1-46A9-9655-7F22D8EF0AF5}"/>
              </a:ext>
            </a:extLst>
          </p:cNvPr>
          <p:cNvSpPr>
            <a:spLocks noGrp="1"/>
          </p:cNvSpPr>
          <p:nvPr/>
        </p:nvSpPr>
        <p:spPr>
          <a:xfrm>
            <a:off x="8810625" y="1504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预测结果</a:t>
            </a:r>
          </a:p>
        </p:txBody>
      </p:sp>
      <p:sp>
        <p:nvSpPr>
          <p:cNvPr id="14" name="gt-border-1">
            <a:extLst>
              <a:ext uri="{FF2B5EF4-FFF2-40B4-BE49-F238E27FC236}">
                <a16:creationId xmlns:a16="http://schemas.microsoft.com/office/drawing/2014/main" id="{DB9EAB1D-315F-413A-BC0A-01421FE99DD0}"/>
              </a:ext>
            </a:extLst>
          </p:cNvPr>
          <p:cNvSpPr>
            <a:spLocks noGrp="1"/>
          </p:cNvSpPr>
          <p:nvPr/>
        </p:nvSpPr>
        <p:spPr>
          <a:xfrm>
            <a:off x="6143625" y="1752600"/>
            <a:ext cx="2476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5" name="pred-border-1">
            <a:extLst>
              <a:ext uri="{FF2B5EF4-FFF2-40B4-BE49-F238E27FC236}">
                <a16:creationId xmlns:a16="http://schemas.microsoft.com/office/drawing/2014/main" id="{462CC0DC-638D-4B2E-83BF-8D577B29212F}"/>
              </a:ext>
            </a:extLst>
          </p:cNvPr>
          <p:cNvSpPr>
            <a:spLocks noGrp="1"/>
          </p:cNvSpPr>
          <p:nvPr/>
        </p:nvSpPr>
        <p:spPr>
          <a:xfrm>
            <a:off x="8810625" y="1752600"/>
            <a:ext cx="2476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4A4A"/>
            </a:solidFill>
            <a:prstDash val="solid"/>
          </a:ln>
        </p:spPr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172200" y="2274094"/>
            <a:ext cx="2419350" cy="1814513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839200" y="2274094"/>
            <a:ext cx="2419350" cy="1814513"/>
          </a:xfrm>
          <a:prstGeom prst="rect">
            <a:avLst/>
          </a:prstGeom>
        </p:spPr>
      </p:pic>
      <p:sp>
        <p:nvSpPr>
          <p:cNvPr id="18" name="failure-notes">
            <a:extLst>
              <a:ext uri="{FF2B5EF4-FFF2-40B4-BE49-F238E27FC236}">
                <a16:creationId xmlns:a16="http://schemas.microsoft.com/office/drawing/2014/main" id="{69F73AA6-E097-4F3E-B207-CD3A3C235C05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103632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38100" anchor="t">
            <a:normAutofit/>
          </a:bodyPr>
          <a:lstStyle/>
          <a:p>
            <a:pPr marL="24" indent="-14" algn="l">
              <a:lnSpc>
                <a:spcPct val="122000"/>
              </a:lnSpc>
              <a:buNone/>
              <a:defRPr sz="135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跨场景预测主要剩下低频颜色块</a:t>
            </a:r>
          </a:p>
          <a:p>
            <a:pPr marL="24" indent="-14" algn="l">
              <a:lnSpc>
                <a:spcPct val="122000"/>
              </a:lnSpc>
              <a:buNone/>
              <a:defRPr sz="135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遮挡边界和细结构没有恢复</a:t>
            </a:r>
          </a:p>
          <a:p>
            <a:pPr marL="24" indent="-14" algn="l">
              <a:lnSpc>
                <a:spcPct val="122000"/>
              </a:lnSpc>
              <a:buNone/>
              <a:defRPr sz="135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深度错误会继续带入后续三维表示</a:t>
            </a:r>
          </a:p>
        </p:txBody>
      </p:sp>
      <p:sp>
        <p:nvSpPr>
          <p:cNvPr id="19" name="conclusion-band">
            <a:extLst>
              <a:ext uri="{FF2B5EF4-FFF2-40B4-BE49-F238E27FC236}">
                <a16:creationId xmlns:a16="http://schemas.microsoft.com/office/drawing/2014/main" id="{AA3A99D9-C5BC-46CC-B1F9-BAC4704DD176}"/>
              </a:ext>
            </a:extLst>
          </p:cNvPr>
          <p:cNvSpPr>
            <a:spLocks noGrp="1"/>
          </p:cNvSpPr>
          <p:nvPr/>
        </p:nvSpPr>
        <p:spPr>
          <a:xfrm>
            <a:off x="666750" y="5829300"/>
            <a:ext cx="10858500" cy="438150"/>
          </a:xfrm>
          <a:prstGeom prst="rect">
            <a:avLst/>
          </a:prstGeom>
          <a:solidFill>
            <a:srgbClr val="EEF5FB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20" name="conclusion">
            <a:extLst>
              <a:ext uri="{FF2B5EF4-FFF2-40B4-BE49-F238E27FC236}">
                <a16:creationId xmlns:a16="http://schemas.microsoft.com/office/drawing/2014/main" id="{9321D816-1336-420C-A735-6A9F44E88E30}"/>
              </a:ext>
            </a:extLst>
          </p:cNvPr>
          <p:cNvSpPr>
            <a:spLocks noGrp="1"/>
          </p:cNvSpPr>
          <p:nvPr/>
        </p:nvSpPr>
        <p:spPr>
          <a:xfrm>
            <a:off x="838200" y="5867400"/>
            <a:ext cx="10515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当前方案暂不再继续扩大模型，下一步先判断问题主要来自输入信息不足，还是三维表示本身。</a:t>
            </a:r>
          </a:p>
        </p:txBody>
      </p:sp>
      <p:sp>
        <p:nvSpPr>
          <p:cNvPr id="21" name="source">
            <a:extLst>
              <a:ext uri="{FF2B5EF4-FFF2-40B4-BE49-F238E27FC236}">
                <a16:creationId xmlns:a16="http://schemas.microsoft.com/office/drawing/2014/main" id="{922FA8F1-98A7-4FC2-9764-BC2961EB5042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本页结论只针对当前的确定性联合 RGB-D 预测方案，不代表所有补全网络都无效。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-2">
            <a:extLst>
              <a:ext uri="{FF2B5EF4-FFF2-40B4-BE49-F238E27FC236}">
                <a16:creationId xmlns:a16="http://schemas.microsoft.com/office/drawing/2014/main" id="{B642C0F7-4374-45AB-81B2-58ED5F54DA10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将画面失败拆解成五个方面逐一检验</a:t>
            </a:r>
          </a:p>
        </p:txBody>
      </p:sp>
      <p:sp>
        <p:nvSpPr>
          <p:cNvPr id="2" name="subtitle-2">
            <a:extLst>
              <a:ext uri="{FF2B5EF4-FFF2-40B4-BE49-F238E27FC236}">
                <a16:creationId xmlns:a16="http://schemas.microsoft.com/office/drawing/2014/main" id="{B4D868DB-0D37-41C1-B3F5-0854FC05594F}"/>
              </a:ext>
            </a:extLst>
          </p:cNvPr>
          <p:cNvSpPr>
            <a:spLocks noGrp="1"/>
          </p:cNvSpPr>
          <p:nvPr/>
        </p:nvSpPr>
        <p:spPr>
          <a:xfrm>
            <a:off x="685800" y="942975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先定位原因，再确定下一步</a:t>
            </a:r>
          </a:p>
        </p:txBody>
      </p:sp>
      <p:sp>
        <p:nvSpPr>
          <p:cNvPr id="3" name="page-2">
            <a:extLst>
              <a:ext uri="{FF2B5EF4-FFF2-40B4-BE49-F238E27FC236}">
                <a16:creationId xmlns:a16="http://schemas.microsoft.com/office/drawing/2014/main" id="{78A0A383-0C9C-4653-B2D2-75F467C50AD7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diag-0">
            <a:extLst>
              <a:ext uri="{FF2B5EF4-FFF2-40B4-BE49-F238E27FC236}">
                <a16:creationId xmlns:a16="http://schemas.microsoft.com/office/drawing/2014/main" id="{A07BFFD9-109D-4D66-B0E4-5C36F6238181}"/>
              </a:ext>
            </a:extLst>
          </p:cNvPr>
          <p:cNvSpPr>
            <a:spLocks noGrp="1"/>
          </p:cNvSpPr>
          <p:nvPr/>
        </p:nvSpPr>
        <p:spPr>
          <a:xfrm>
            <a:off x="590550" y="1866900"/>
            <a:ext cx="1952625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5" name="diag-num-0">
            <a:extLst>
              <a:ext uri="{FF2B5EF4-FFF2-40B4-BE49-F238E27FC236}">
                <a16:creationId xmlns:a16="http://schemas.microsoft.com/office/drawing/2014/main" id="{FA7279EA-0912-489E-859C-A618BC415C07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2C7E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7E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diag-title-0">
            <a:extLst>
              <a:ext uri="{FF2B5EF4-FFF2-40B4-BE49-F238E27FC236}">
                <a16:creationId xmlns:a16="http://schemas.microsoft.com/office/drawing/2014/main" id="{28D2ADF1-7ADC-4550-821A-6AF8D8F92B51}"/>
              </a:ext>
            </a:extLst>
          </p:cNvPr>
          <p:cNvSpPr>
            <a:spLocks noGrp="1"/>
          </p:cNvSpPr>
          <p:nvPr/>
        </p:nvSpPr>
        <p:spPr>
          <a:xfrm>
            <a:off x="723900" y="2381250"/>
            <a:ext cx="1685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任务难度</a:t>
            </a:r>
          </a:p>
        </p:txBody>
      </p:sp>
      <p:sp>
        <p:nvSpPr>
          <p:cNvPr id="7" name="diag-body-0">
            <a:extLst>
              <a:ext uri="{FF2B5EF4-FFF2-40B4-BE49-F238E27FC236}">
                <a16:creationId xmlns:a16="http://schemas.microsoft.com/office/drawing/2014/main" id="{8BC0752B-82FD-42A6-8461-AC4E14EA16CD}"/>
              </a:ext>
            </a:extLst>
          </p:cNvPr>
          <p:cNvSpPr>
            <a:spLocks noGrp="1"/>
          </p:cNvSpPr>
          <p:nvPr/>
        </p:nvSpPr>
        <p:spPr>
          <a:xfrm>
            <a:off x="762000" y="2828925"/>
            <a:ext cx="16097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单图里到底有多少目标内容看不到？</a:t>
            </a:r>
          </a:p>
        </p:txBody>
      </p:sp>
      <p:sp>
        <p:nvSpPr>
          <p:cNvPr id="8" name="diag-arrow-0">
            <a:extLst>
              <a:ext uri="{FF2B5EF4-FFF2-40B4-BE49-F238E27FC236}">
                <a16:creationId xmlns:a16="http://schemas.microsoft.com/office/drawing/2014/main" id="{2159264F-8793-40D6-9C8B-70A0107C0971}"/>
              </a:ext>
            </a:extLst>
          </p:cNvPr>
          <p:cNvSpPr>
            <a:spLocks noGrp="1"/>
          </p:cNvSpPr>
          <p:nvPr/>
        </p:nvSpPr>
        <p:spPr>
          <a:xfrm>
            <a:off x="2562225" y="2590800"/>
            <a:ext cx="323850" cy="228600"/>
          </a:xfrm>
          <a:prstGeom prst="rightArrow">
            <a:avLst/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</p:sp>
      <p:sp>
        <p:nvSpPr>
          <p:cNvPr id="9" name="diag-1">
            <a:extLst>
              <a:ext uri="{FF2B5EF4-FFF2-40B4-BE49-F238E27FC236}">
                <a16:creationId xmlns:a16="http://schemas.microsoft.com/office/drawing/2014/main" id="{59338B96-AF10-48A9-92F6-80E24F1D66A4}"/>
              </a:ext>
            </a:extLst>
          </p:cNvPr>
          <p:cNvSpPr>
            <a:spLocks noGrp="1"/>
          </p:cNvSpPr>
          <p:nvPr/>
        </p:nvSpPr>
        <p:spPr>
          <a:xfrm>
            <a:off x="2914650" y="1866900"/>
            <a:ext cx="1952625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10" name="diag-num-1">
            <a:extLst>
              <a:ext uri="{FF2B5EF4-FFF2-40B4-BE49-F238E27FC236}">
                <a16:creationId xmlns:a16="http://schemas.microsoft.com/office/drawing/2014/main" id="{2537A19E-FC35-413D-888E-417944BD5300}"/>
              </a:ext>
            </a:extLst>
          </p:cNvPr>
          <p:cNvSpPr>
            <a:spLocks noGrp="1"/>
          </p:cNvSpPr>
          <p:nvPr/>
        </p:nvSpPr>
        <p:spPr>
          <a:xfrm>
            <a:off x="3048000" y="20002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2C7E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7E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diag-title-1">
            <a:extLst>
              <a:ext uri="{FF2B5EF4-FFF2-40B4-BE49-F238E27FC236}">
                <a16:creationId xmlns:a16="http://schemas.microsoft.com/office/drawing/2014/main" id="{19023CE5-2180-4844-B00C-B6C392B76E30}"/>
              </a:ext>
            </a:extLst>
          </p:cNvPr>
          <p:cNvSpPr>
            <a:spLocks noGrp="1"/>
          </p:cNvSpPr>
          <p:nvPr/>
        </p:nvSpPr>
        <p:spPr>
          <a:xfrm>
            <a:off x="3048000" y="2381250"/>
            <a:ext cx="1685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输入覆盖</a:t>
            </a:r>
          </a:p>
        </p:txBody>
      </p:sp>
      <p:sp>
        <p:nvSpPr>
          <p:cNvPr id="12" name="diag-body-1">
            <a:extLst>
              <a:ext uri="{FF2B5EF4-FFF2-40B4-BE49-F238E27FC236}">
                <a16:creationId xmlns:a16="http://schemas.microsoft.com/office/drawing/2014/main" id="{13A16E40-EE2D-4133-A50F-31D34379CFB2}"/>
              </a:ext>
            </a:extLst>
          </p:cNvPr>
          <p:cNvSpPr>
            <a:spLocks noGrp="1"/>
          </p:cNvSpPr>
          <p:nvPr/>
        </p:nvSpPr>
        <p:spPr>
          <a:xfrm>
            <a:off x="3086100" y="2828925"/>
            <a:ext cx="16097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多张真值图能否覆盖目标视角？</a:t>
            </a:r>
          </a:p>
        </p:txBody>
      </p:sp>
      <p:sp>
        <p:nvSpPr>
          <p:cNvPr id="13" name="diag-arrow-1">
            <a:extLst>
              <a:ext uri="{FF2B5EF4-FFF2-40B4-BE49-F238E27FC236}">
                <a16:creationId xmlns:a16="http://schemas.microsoft.com/office/drawing/2014/main" id="{79090113-553E-47D3-A532-520AA3FDFFF5}"/>
              </a:ext>
            </a:extLst>
          </p:cNvPr>
          <p:cNvSpPr>
            <a:spLocks noGrp="1"/>
          </p:cNvSpPr>
          <p:nvPr/>
        </p:nvSpPr>
        <p:spPr>
          <a:xfrm>
            <a:off x="4886325" y="2590800"/>
            <a:ext cx="323850" cy="228600"/>
          </a:xfrm>
          <a:prstGeom prst="rightArrow">
            <a:avLst/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</p:sp>
      <p:sp>
        <p:nvSpPr>
          <p:cNvPr id="14" name="diag-2">
            <a:extLst>
              <a:ext uri="{FF2B5EF4-FFF2-40B4-BE49-F238E27FC236}">
                <a16:creationId xmlns:a16="http://schemas.microsoft.com/office/drawing/2014/main" id="{1A403DE9-414E-40A5-8558-8D486C6F729C}"/>
              </a:ext>
            </a:extLst>
          </p:cNvPr>
          <p:cNvSpPr>
            <a:spLocks noGrp="1"/>
          </p:cNvSpPr>
          <p:nvPr/>
        </p:nvSpPr>
        <p:spPr>
          <a:xfrm>
            <a:off x="5238750" y="1866900"/>
            <a:ext cx="1952625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15" name="diag-num-2">
            <a:extLst>
              <a:ext uri="{FF2B5EF4-FFF2-40B4-BE49-F238E27FC236}">
                <a16:creationId xmlns:a16="http://schemas.microsoft.com/office/drawing/2014/main" id="{05C1C7E0-DC6E-4274-8AB0-B5978554A307}"/>
              </a:ext>
            </a:extLst>
          </p:cNvPr>
          <p:cNvSpPr>
            <a:spLocks noGrp="1"/>
          </p:cNvSpPr>
          <p:nvPr/>
        </p:nvSpPr>
        <p:spPr>
          <a:xfrm>
            <a:off x="5372100" y="20002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2C7E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7E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iag-title-2">
            <a:extLst>
              <a:ext uri="{FF2B5EF4-FFF2-40B4-BE49-F238E27FC236}">
                <a16:creationId xmlns:a16="http://schemas.microsoft.com/office/drawing/2014/main" id="{C4C478EA-0CC6-48D3-824E-49374039AB93}"/>
              </a:ext>
            </a:extLst>
          </p:cNvPr>
          <p:cNvSpPr>
            <a:spLocks noGrp="1"/>
          </p:cNvSpPr>
          <p:nvPr/>
        </p:nvSpPr>
        <p:spPr>
          <a:xfrm>
            <a:off x="5372100" y="2381250"/>
            <a:ext cx="1685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表示能力</a:t>
            </a:r>
          </a:p>
        </p:txBody>
      </p:sp>
      <p:sp>
        <p:nvSpPr>
          <p:cNvPr id="17" name="diag-body-2">
            <a:extLst>
              <a:ext uri="{FF2B5EF4-FFF2-40B4-BE49-F238E27FC236}">
                <a16:creationId xmlns:a16="http://schemas.microsoft.com/office/drawing/2014/main" id="{AE4DE1DB-1134-4E87-A405-25284AB04AB9}"/>
              </a:ext>
            </a:extLst>
          </p:cNvPr>
          <p:cNvSpPr>
            <a:spLocks noGrp="1"/>
          </p:cNvSpPr>
          <p:nvPr/>
        </p:nvSpPr>
        <p:spPr>
          <a:xfrm>
            <a:off x="5410200" y="2828925"/>
            <a:ext cx="16097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信息给足后，高斯能否表达出来？</a:t>
            </a:r>
          </a:p>
        </p:txBody>
      </p:sp>
      <p:sp>
        <p:nvSpPr>
          <p:cNvPr id="18" name="diag-arrow-2">
            <a:extLst>
              <a:ext uri="{FF2B5EF4-FFF2-40B4-BE49-F238E27FC236}">
                <a16:creationId xmlns:a16="http://schemas.microsoft.com/office/drawing/2014/main" id="{4812D4D2-56B4-4664-AA45-07C8889CE672}"/>
              </a:ext>
            </a:extLst>
          </p:cNvPr>
          <p:cNvSpPr>
            <a:spLocks noGrp="1"/>
          </p:cNvSpPr>
          <p:nvPr/>
        </p:nvSpPr>
        <p:spPr>
          <a:xfrm>
            <a:off x="7210425" y="2590800"/>
            <a:ext cx="323850" cy="228600"/>
          </a:xfrm>
          <a:prstGeom prst="rightArrow">
            <a:avLst/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</p:sp>
      <p:sp>
        <p:nvSpPr>
          <p:cNvPr id="19" name="diag-3">
            <a:extLst>
              <a:ext uri="{FF2B5EF4-FFF2-40B4-BE49-F238E27FC236}">
                <a16:creationId xmlns:a16="http://schemas.microsoft.com/office/drawing/2014/main" id="{B69C29AB-3ADB-4A67-90F0-4946A9ADBA05}"/>
              </a:ext>
            </a:extLst>
          </p:cNvPr>
          <p:cNvSpPr>
            <a:spLocks noGrp="1"/>
          </p:cNvSpPr>
          <p:nvPr/>
        </p:nvSpPr>
        <p:spPr>
          <a:xfrm>
            <a:off x="7562850" y="1866900"/>
            <a:ext cx="1952625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20" name="diag-num-3">
            <a:extLst>
              <a:ext uri="{FF2B5EF4-FFF2-40B4-BE49-F238E27FC236}">
                <a16:creationId xmlns:a16="http://schemas.microsoft.com/office/drawing/2014/main" id="{F44DE042-DE77-4FFA-BAC5-F682EF6553EA}"/>
              </a:ext>
            </a:extLst>
          </p:cNvPr>
          <p:cNvSpPr>
            <a:spLocks noGrp="1"/>
          </p:cNvSpPr>
          <p:nvPr/>
        </p:nvSpPr>
        <p:spPr>
          <a:xfrm>
            <a:off x="7696200" y="20002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2C7E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7E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diag-title-3">
            <a:extLst>
              <a:ext uri="{FF2B5EF4-FFF2-40B4-BE49-F238E27FC236}">
                <a16:creationId xmlns:a16="http://schemas.microsoft.com/office/drawing/2014/main" id="{55BB06F0-2948-4228-B514-996A4B84C0BA}"/>
              </a:ext>
            </a:extLst>
          </p:cNvPr>
          <p:cNvSpPr>
            <a:spLocks noGrp="1"/>
          </p:cNvSpPr>
          <p:nvPr/>
        </p:nvSpPr>
        <p:spPr>
          <a:xfrm>
            <a:off x="7696200" y="2381250"/>
            <a:ext cx="1685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分析误差来源</a:t>
            </a:r>
          </a:p>
        </p:txBody>
      </p:sp>
      <p:sp>
        <p:nvSpPr>
          <p:cNvPr id="22" name="diag-body-3">
            <a:extLst>
              <a:ext uri="{FF2B5EF4-FFF2-40B4-BE49-F238E27FC236}">
                <a16:creationId xmlns:a16="http://schemas.microsoft.com/office/drawing/2014/main" id="{86373A1A-1012-4D55-B17E-75DDE4E3F0F1}"/>
              </a:ext>
            </a:extLst>
          </p:cNvPr>
          <p:cNvSpPr>
            <a:spLocks noGrp="1"/>
          </p:cNvSpPr>
          <p:nvPr/>
        </p:nvSpPr>
        <p:spPr>
          <a:xfrm>
            <a:off x="7734300" y="2828925"/>
            <a:ext cx="16097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分别检查覆盖、遮挡关系和颜色变化</a:t>
            </a:r>
          </a:p>
        </p:txBody>
      </p:sp>
      <p:sp>
        <p:nvSpPr>
          <p:cNvPr id="23" name="diag-arrow-3">
            <a:extLst>
              <a:ext uri="{FF2B5EF4-FFF2-40B4-BE49-F238E27FC236}">
                <a16:creationId xmlns:a16="http://schemas.microsoft.com/office/drawing/2014/main" id="{3FB15C06-4981-4ED7-9BCE-560408439CC0}"/>
              </a:ext>
            </a:extLst>
          </p:cNvPr>
          <p:cNvSpPr>
            <a:spLocks noGrp="1"/>
          </p:cNvSpPr>
          <p:nvPr/>
        </p:nvSpPr>
        <p:spPr>
          <a:xfrm>
            <a:off x="9534525" y="2590800"/>
            <a:ext cx="323850" cy="228600"/>
          </a:xfrm>
          <a:prstGeom prst="rightArrow">
            <a:avLst/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</p:sp>
      <p:sp>
        <p:nvSpPr>
          <p:cNvPr id="24" name="diag-4">
            <a:extLst>
              <a:ext uri="{FF2B5EF4-FFF2-40B4-BE49-F238E27FC236}">
                <a16:creationId xmlns:a16="http://schemas.microsoft.com/office/drawing/2014/main" id="{7B1F977C-BBC3-4B0B-B54C-22C1FEC89FFA}"/>
              </a:ext>
            </a:extLst>
          </p:cNvPr>
          <p:cNvSpPr>
            <a:spLocks noGrp="1"/>
          </p:cNvSpPr>
          <p:nvPr/>
        </p:nvSpPr>
        <p:spPr>
          <a:xfrm>
            <a:off x="9886950" y="1866900"/>
            <a:ext cx="1952625" cy="1695450"/>
          </a:xfrm>
          <a:prstGeom prst="roundRect">
            <a:avLst>
              <a:gd name="adj" fmla="val 4494"/>
            </a:avLst>
          </a:prstGeom>
          <a:solidFill>
            <a:srgbClr val="EEF5FB"/>
          </a:solidFill>
          <a:ln w="9525">
            <a:solidFill>
              <a:srgbClr val="22C7E2"/>
            </a:solidFill>
            <a:prstDash val="solid"/>
          </a:ln>
        </p:spPr>
      </p:sp>
      <p:sp>
        <p:nvSpPr>
          <p:cNvPr id="25" name="diag-num-4">
            <a:extLst>
              <a:ext uri="{FF2B5EF4-FFF2-40B4-BE49-F238E27FC236}">
                <a16:creationId xmlns:a16="http://schemas.microsoft.com/office/drawing/2014/main" id="{909E84EB-EBFD-429F-980E-79518BA8EC9D}"/>
              </a:ext>
            </a:extLst>
          </p:cNvPr>
          <p:cNvSpPr>
            <a:spLocks noGrp="1"/>
          </p:cNvSpPr>
          <p:nvPr/>
        </p:nvSpPr>
        <p:spPr>
          <a:xfrm>
            <a:off x="10020300" y="20002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2C7E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7E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diag-title-4">
            <a:extLst>
              <a:ext uri="{FF2B5EF4-FFF2-40B4-BE49-F238E27FC236}">
                <a16:creationId xmlns:a16="http://schemas.microsoft.com/office/drawing/2014/main" id="{6D9B13C7-028F-40D0-BA0D-7D6B59AE1E82}"/>
              </a:ext>
            </a:extLst>
          </p:cNvPr>
          <p:cNvSpPr>
            <a:spLocks noGrp="1"/>
          </p:cNvSpPr>
          <p:nvPr/>
        </p:nvSpPr>
        <p:spPr>
          <a:xfrm>
            <a:off x="10020300" y="2381250"/>
            <a:ext cx="1685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生成问题</a:t>
            </a:r>
          </a:p>
        </p:txBody>
      </p:sp>
      <p:sp>
        <p:nvSpPr>
          <p:cNvPr id="27" name="diag-body-4">
            <a:extLst>
              <a:ext uri="{FF2B5EF4-FFF2-40B4-BE49-F238E27FC236}">
                <a16:creationId xmlns:a16="http://schemas.microsoft.com/office/drawing/2014/main" id="{1DA2BE0A-6F7A-40C8-9FAE-3E7495C1DFED}"/>
              </a:ext>
            </a:extLst>
          </p:cNvPr>
          <p:cNvSpPr>
            <a:spLocks noGrp="1"/>
          </p:cNvSpPr>
          <p:nvPr/>
        </p:nvSpPr>
        <p:spPr>
          <a:xfrm>
            <a:off x="10058400" y="2828925"/>
            <a:ext cx="16097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剩余内容是否必须由生成模型补出？</a:t>
            </a:r>
          </a:p>
        </p:txBody>
      </p:sp>
      <p:sp>
        <p:nvSpPr>
          <p:cNvPr id="28" name="terms">
            <a:extLst>
              <a:ext uri="{FF2B5EF4-FFF2-40B4-BE49-F238E27FC236}">
                <a16:creationId xmlns:a16="http://schemas.microsoft.com/office/drawing/2014/main" id="{D976F44C-8D45-40C3-9945-EE4584FE3724}"/>
              </a:ext>
            </a:extLst>
          </p:cNvPr>
          <p:cNvSpPr>
            <a:spLocks noGrp="1"/>
          </p:cNvSpPr>
          <p:nvPr/>
        </p:nvSpPr>
        <p:spPr>
          <a:xfrm>
            <a:off x="1047750" y="4038600"/>
            <a:ext cx="10477500" cy="476250"/>
          </a:xfrm>
          <a:prstGeom prst="rect">
            <a:avLst/>
          </a:prstGeom>
          <a:solidFill>
            <a:srgbClr val="F7FAFD"/>
          </a:solidFill>
          <a:ln w="9525">
            <a:solidFill>
              <a:srgbClr val="C9D8E6"/>
            </a:solidFill>
            <a:prstDash val="solid"/>
          </a:ln>
        </p:spPr>
        <p:txBody>
          <a:bodyPr wrap="square" lIns="38100" tIns="19050" rIns="38100" bIns="19050" anchor="ctr">
            <a:normAutofit fontScale="95197"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构建视图 Build：参与场景构建　　留出测试视图 Evaluate：只用于最后检验　　Oracle：尽量提供正确输入，单独检查表示与融合</a:t>
            </a:r>
          </a:p>
        </p:txBody>
      </p:sp>
      <p:sp>
        <p:nvSpPr>
          <p:cNvPr id="29" name="terms2">
            <a:extLst>
              <a:ext uri="{FF2B5EF4-FFF2-40B4-BE49-F238E27FC236}">
                <a16:creationId xmlns:a16="http://schemas.microsoft.com/office/drawing/2014/main" id="{BFB63DFA-7544-475F-83C6-E62515DB31D1}"/>
              </a:ext>
            </a:extLst>
          </p:cNvPr>
          <p:cNvSpPr>
            <a:spLocks noGrp="1"/>
          </p:cNvSpPr>
          <p:nvPr/>
        </p:nvSpPr>
        <p:spPr>
          <a:xfrm>
            <a:off x="1381125" y="4686300"/>
            <a:ext cx="9429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38100" anchor="t">
            <a:normAutofit/>
          </a:bodyPr>
          <a:lstStyle/>
          <a:p>
            <a:pPr marL="24" indent="-14" algn="l">
              <a:lnSpc>
                <a:spcPct val="122000"/>
              </a:lnSpc>
              <a:buNone/>
              <a:defRPr sz="14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Build 与 Evaluate 严格分开，避免把目标视图信息泄露到构建阶段</a:t>
            </a:r>
          </a:p>
          <a:p>
            <a:pPr marL="24" indent="-14" algn="l">
              <a:lnSpc>
                <a:spcPct val="122000"/>
              </a:lnSpc>
              <a:buNone/>
              <a:defRPr sz="14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只在可靠可见区域判断表示能力，未观测区域另行统计</a:t>
            </a:r>
          </a:p>
        </p:txBody>
      </p:sp>
      <p:sp>
        <p:nvSpPr>
          <p:cNvPr id="30" name="conclusion-band">
            <a:extLst>
              <a:ext uri="{FF2B5EF4-FFF2-40B4-BE49-F238E27FC236}">
                <a16:creationId xmlns:a16="http://schemas.microsoft.com/office/drawing/2014/main" id="{E560CDB1-01C4-4D07-90CA-4D47F36BBD04}"/>
              </a:ext>
            </a:extLst>
          </p:cNvPr>
          <p:cNvSpPr>
            <a:spLocks noGrp="1"/>
          </p:cNvSpPr>
          <p:nvPr/>
        </p:nvSpPr>
        <p:spPr>
          <a:xfrm>
            <a:off x="666750" y="5829300"/>
            <a:ext cx="10858500" cy="438150"/>
          </a:xfrm>
          <a:prstGeom prst="rect">
            <a:avLst/>
          </a:prstGeom>
          <a:solidFill>
            <a:srgbClr val="EEF5FB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31" name="conclusion">
            <a:extLst>
              <a:ext uri="{FF2B5EF4-FFF2-40B4-BE49-F238E27FC236}">
                <a16:creationId xmlns:a16="http://schemas.microsoft.com/office/drawing/2014/main" id="{3863C978-6964-4971-9C47-C011FA4D75F5}"/>
              </a:ext>
            </a:extLst>
          </p:cNvPr>
          <p:cNvSpPr>
            <a:spLocks noGrp="1"/>
          </p:cNvSpPr>
          <p:nvPr/>
        </p:nvSpPr>
        <p:spPr>
          <a:xfrm>
            <a:off x="838200" y="5867400"/>
            <a:ext cx="10515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这一步先不换模型，依次检查输入覆盖、表示能力与跨视图颜色一致性。</a:t>
            </a:r>
          </a:p>
        </p:txBody>
      </p:sp>
      <p:sp>
        <p:nvSpPr>
          <p:cNvPr id="32" name="source">
            <a:extLst>
              <a:ext uri="{FF2B5EF4-FFF2-40B4-BE49-F238E27FC236}">
                <a16:creationId xmlns:a16="http://schemas.microsoft.com/office/drawing/2014/main" id="{EA7603B8-6AD3-476F-8CCD-3BB9BF55F079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本轮采用留一视图实验：构建视图与测试视图严格分开。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3">
            <a:extLst>
              <a:ext uri="{FF2B5EF4-FFF2-40B4-BE49-F238E27FC236}">
                <a16:creationId xmlns:a16="http://schemas.microsoft.com/office/drawing/2014/main" id="{E33257B2-AE39-4363-9EA4-DDEB12B8263B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单图目标中 48.33% 区域不可直接观测</a:t>
            </a:r>
          </a:p>
        </p:txBody>
      </p:sp>
      <p:sp>
        <p:nvSpPr>
          <p:cNvPr id="2" name="subtitle-3">
            <a:extLst>
              <a:ext uri="{FF2B5EF4-FFF2-40B4-BE49-F238E27FC236}">
                <a16:creationId xmlns:a16="http://schemas.microsoft.com/office/drawing/2014/main" id="{343B9848-58EC-49AC-99A3-82F707EB8E50}"/>
              </a:ext>
            </a:extLst>
          </p:cNvPr>
          <p:cNvSpPr>
            <a:spLocks noGrp="1"/>
          </p:cNvSpPr>
          <p:nvPr/>
        </p:nvSpPr>
        <p:spPr>
          <a:xfrm>
            <a:off x="685800" y="942975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160 个有效目标视图的可观测性汇总</a:t>
            </a:r>
          </a:p>
        </p:txBody>
      </p:sp>
      <p:sp>
        <p:nvSpPr>
          <p:cNvPr id="3" name="page-3">
            <a:extLst>
              <a:ext uri="{FF2B5EF4-FFF2-40B4-BE49-F238E27FC236}">
                <a16:creationId xmlns:a16="http://schemas.microsoft.com/office/drawing/2014/main" id="{98A7F91B-8D95-4405-8E58-CAC88B4F383A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obs-seg-0">
            <a:extLst>
              <a:ext uri="{FF2B5EF4-FFF2-40B4-BE49-F238E27FC236}">
                <a16:creationId xmlns:a16="http://schemas.microsoft.com/office/drawing/2014/main" id="{075256CF-0782-4679-963C-D54B86C06420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2944635" cy="704850"/>
          </a:xfrm>
          <a:prstGeom prst="rect">
            <a:avLst/>
          </a:prstGeom>
          <a:solidFill>
            <a:srgbClr val="0D56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obs-seg-label-0">
            <a:extLst>
              <a:ext uri="{FF2B5EF4-FFF2-40B4-BE49-F238E27FC236}">
                <a16:creationId xmlns:a16="http://schemas.microsoft.com/office/drawing/2014/main" id="{7861FBE1-3F16-405A-8222-0CA759C724C7}"/>
              </a:ext>
            </a:extLst>
          </p:cNvPr>
          <p:cNvSpPr>
            <a:spLocks noGrp="1"/>
          </p:cNvSpPr>
          <p:nvPr/>
        </p:nvSpPr>
        <p:spPr>
          <a:xfrm>
            <a:off x="819150" y="1905000"/>
            <a:ext cx="294463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50.68%</a:t>
            </a:r>
          </a:p>
        </p:txBody>
      </p:sp>
      <p:sp>
        <p:nvSpPr>
          <p:cNvPr id="6" name="obs-seg-1">
            <a:extLst>
              <a:ext uri="{FF2B5EF4-FFF2-40B4-BE49-F238E27FC236}">
                <a16:creationId xmlns:a16="http://schemas.microsoft.com/office/drawing/2014/main" id="{36D47E10-7B99-406D-B7F7-1925DA722810}"/>
              </a:ext>
            </a:extLst>
          </p:cNvPr>
          <p:cNvSpPr>
            <a:spLocks noGrp="1"/>
          </p:cNvSpPr>
          <p:nvPr/>
        </p:nvSpPr>
        <p:spPr>
          <a:xfrm>
            <a:off x="3763785" y="1714500"/>
            <a:ext cx="496195" cy="704850"/>
          </a:xfrm>
          <a:prstGeom prst="rect">
            <a:avLst/>
          </a:prstGeom>
          <a:solidFill>
            <a:srgbClr val="E5A63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obs-seg-2">
            <a:extLst>
              <a:ext uri="{FF2B5EF4-FFF2-40B4-BE49-F238E27FC236}">
                <a16:creationId xmlns:a16="http://schemas.microsoft.com/office/drawing/2014/main" id="{E8999C21-9A45-4F3F-8DA1-A74B11C94714}"/>
              </a:ext>
            </a:extLst>
          </p:cNvPr>
          <p:cNvSpPr>
            <a:spLocks noGrp="1"/>
          </p:cNvSpPr>
          <p:nvPr/>
        </p:nvSpPr>
        <p:spPr>
          <a:xfrm>
            <a:off x="4259980" y="1714500"/>
            <a:ext cx="2311898" cy="704850"/>
          </a:xfrm>
          <a:prstGeom prst="rect">
            <a:avLst/>
          </a:prstGeom>
          <a:solidFill>
            <a:srgbClr val="D64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obs-seg-label-2">
            <a:extLst>
              <a:ext uri="{FF2B5EF4-FFF2-40B4-BE49-F238E27FC236}">
                <a16:creationId xmlns:a16="http://schemas.microsoft.com/office/drawing/2014/main" id="{45DBF666-AC96-445E-92D9-E8F66F16C2B4}"/>
              </a:ext>
            </a:extLst>
          </p:cNvPr>
          <p:cNvSpPr>
            <a:spLocks noGrp="1"/>
          </p:cNvSpPr>
          <p:nvPr/>
        </p:nvSpPr>
        <p:spPr>
          <a:xfrm>
            <a:off x="4259980" y="1905000"/>
            <a:ext cx="231189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39.79%</a:t>
            </a:r>
          </a:p>
        </p:txBody>
      </p:sp>
      <p:sp>
        <p:nvSpPr>
          <p:cNvPr id="9" name="obs-seg-3">
            <a:extLst>
              <a:ext uri="{FF2B5EF4-FFF2-40B4-BE49-F238E27FC236}">
                <a16:creationId xmlns:a16="http://schemas.microsoft.com/office/drawing/2014/main" id="{030FBBF0-0570-4E9A-A123-D68370DED04A}"/>
              </a:ext>
            </a:extLst>
          </p:cNvPr>
          <p:cNvSpPr>
            <a:spLocks noGrp="1"/>
          </p:cNvSpPr>
          <p:nvPr/>
        </p:nvSpPr>
        <p:spPr>
          <a:xfrm>
            <a:off x="6571879" y="1714500"/>
            <a:ext cx="57521" cy="704850"/>
          </a:xfrm>
          <a:prstGeom prst="rect">
            <a:avLst/>
          </a:prstGeom>
          <a:solidFill>
            <a:srgbClr val="667C9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obs-axis">
            <a:extLst>
              <a:ext uri="{FF2B5EF4-FFF2-40B4-BE49-F238E27FC236}">
                <a16:creationId xmlns:a16="http://schemas.microsoft.com/office/drawing/2014/main" id="{6AE8A71F-D9EB-45CD-A071-E50D5CE22EF6}"/>
              </a:ext>
            </a:extLst>
          </p:cNvPr>
          <p:cNvSpPr>
            <a:spLocks noGrp="1"/>
          </p:cNvSpPr>
          <p:nvPr/>
        </p:nvSpPr>
        <p:spPr>
          <a:xfrm>
            <a:off x="819150" y="1409700"/>
            <a:ext cx="581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9855"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目标视图有效区域 = 100%</a:t>
            </a:r>
          </a:p>
        </p:txBody>
      </p:sp>
      <p:sp>
        <p:nvSpPr>
          <p:cNvPr id="11" name="metric-单图未观测区域">
            <a:extLst>
              <a:ext uri="{FF2B5EF4-FFF2-40B4-BE49-F238E27FC236}">
                <a16:creationId xmlns:a16="http://schemas.microsoft.com/office/drawing/2014/main" id="{4B8A7002-1B75-4ED7-9B55-469AE2BA147C}"/>
              </a:ext>
            </a:extLst>
          </p:cNvPr>
          <p:cNvSpPr>
            <a:spLocks noGrp="1"/>
          </p:cNvSpPr>
          <p:nvPr/>
        </p:nvSpPr>
        <p:spPr>
          <a:xfrm>
            <a:off x="952500" y="2905125"/>
            <a:ext cx="2571750" cy="819150"/>
          </a:xfrm>
          <a:prstGeom prst="roundRect">
            <a:avLst>
              <a:gd name="adj" fmla="val 9302"/>
            </a:avLst>
          </a:prstGeom>
          <a:solidFill>
            <a:srgbClr val="FBEDEE"/>
          </a:solidFill>
          <a:ln w="9525">
            <a:solidFill>
              <a:srgbClr val="D64A4A"/>
            </a:solidFill>
            <a:prstDash val="solid"/>
          </a:ln>
        </p:spPr>
      </p:sp>
      <p:sp>
        <p:nvSpPr>
          <p:cNvPr id="12" name="metric-value-单图未观测区域">
            <a:extLst>
              <a:ext uri="{FF2B5EF4-FFF2-40B4-BE49-F238E27FC236}">
                <a16:creationId xmlns:a16="http://schemas.microsoft.com/office/drawing/2014/main" id="{E708BC74-A1D8-47AD-85E6-D0AC237EA425}"/>
              </a:ext>
            </a:extLst>
          </p:cNvPr>
          <p:cNvSpPr>
            <a:spLocks noGrp="1"/>
          </p:cNvSpPr>
          <p:nvPr/>
        </p:nvSpPr>
        <p:spPr>
          <a:xfrm>
            <a:off x="1028700" y="2971800"/>
            <a:ext cx="2419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4584"/>
          </a:bodyPr>
          <a:lstStyle/>
          <a:p>
            <a:pPr algn="ctr">
              <a:lnSpc>
                <a:spcPct val="108000"/>
              </a:lnSpc>
              <a:buNone/>
              <a:defRPr sz="2325" b="1">
                <a:solidFill>
                  <a:srgbClr val="D64A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64A4A"/>
                </a:solidFill>
                <a:latin typeface="Arial"/>
                <a:ea typeface="Arial"/>
                <a:cs typeface="Arial"/>
              </a:rPr>
              <a:t>48.33%</a:t>
            </a:r>
          </a:p>
        </p:txBody>
      </p:sp>
      <p:sp>
        <p:nvSpPr>
          <p:cNvPr id="13" name="metric-label-单图未观测区域">
            <a:extLst>
              <a:ext uri="{FF2B5EF4-FFF2-40B4-BE49-F238E27FC236}">
                <a16:creationId xmlns:a16="http://schemas.microsoft.com/office/drawing/2014/main" id="{C2A9BE6B-D41F-4777-910B-AE73D6DE6775}"/>
              </a:ext>
            </a:extLst>
          </p:cNvPr>
          <p:cNvSpPr>
            <a:spLocks noGrp="1"/>
          </p:cNvSpPr>
          <p:nvPr/>
        </p:nvSpPr>
        <p:spPr>
          <a:xfrm>
            <a:off x="1028700" y="3362325"/>
            <a:ext cx="2419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单图未观测区域</a:t>
            </a:r>
          </a:p>
        </p:txBody>
      </p:sp>
      <p:sp>
        <p:nvSpPr>
          <p:cNvPr id="14" name="metric-单图直接观测区域">
            <a:extLst>
              <a:ext uri="{FF2B5EF4-FFF2-40B4-BE49-F238E27FC236}">
                <a16:creationId xmlns:a16="http://schemas.microsoft.com/office/drawing/2014/main" id="{95F256CD-45F2-4F3B-BB43-58120E07D0B8}"/>
              </a:ext>
            </a:extLst>
          </p:cNvPr>
          <p:cNvSpPr>
            <a:spLocks noGrp="1"/>
          </p:cNvSpPr>
          <p:nvPr/>
        </p:nvSpPr>
        <p:spPr>
          <a:xfrm>
            <a:off x="3829050" y="2905125"/>
            <a:ext cx="2571750" cy="819150"/>
          </a:xfrm>
          <a:prstGeom prst="roundRect">
            <a:avLst>
              <a:gd name="adj" fmla="val 9302"/>
            </a:avLst>
          </a:prstGeom>
          <a:solidFill>
            <a:srgbClr val="EEF5FB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15" name="metric-value-单图直接观测区域">
            <a:extLst>
              <a:ext uri="{FF2B5EF4-FFF2-40B4-BE49-F238E27FC236}">
                <a16:creationId xmlns:a16="http://schemas.microsoft.com/office/drawing/2014/main" id="{0784DED1-0304-4482-B379-FE917254262B}"/>
              </a:ext>
            </a:extLst>
          </p:cNvPr>
          <p:cNvSpPr>
            <a:spLocks noGrp="1"/>
          </p:cNvSpPr>
          <p:nvPr/>
        </p:nvSpPr>
        <p:spPr>
          <a:xfrm>
            <a:off x="3905250" y="2971800"/>
            <a:ext cx="2419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4584"/>
          </a:bodyPr>
          <a:lstStyle/>
          <a:p>
            <a:pPr algn="ctr">
              <a:lnSpc>
                <a:spcPct val="108000"/>
              </a:lnSpc>
              <a:buNone/>
              <a:defRPr sz="2325" b="1">
                <a:solidFill>
                  <a:srgbClr val="0D569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50.68%</a:t>
            </a:r>
          </a:p>
        </p:txBody>
      </p:sp>
      <p:sp>
        <p:nvSpPr>
          <p:cNvPr id="16" name="metric-label-单图直接观测区域">
            <a:extLst>
              <a:ext uri="{FF2B5EF4-FFF2-40B4-BE49-F238E27FC236}">
                <a16:creationId xmlns:a16="http://schemas.microsoft.com/office/drawing/2014/main" id="{55190AB7-568B-4BBF-9651-D08F52E002C5}"/>
              </a:ext>
            </a:extLst>
          </p:cNvPr>
          <p:cNvSpPr>
            <a:spLocks noGrp="1"/>
          </p:cNvSpPr>
          <p:nvPr/>
        </p:nvSpPr>
        <p:spPr>
          <a:xfrm>
            <a:off x="3905250" y="3362325"/>
            <a:ext cx="2419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单图直接观测区域</a:t>
            </a:r>
          </a:p>
        </p:txBody>
      </p:sp>
      <p:sp>
        <p:nvSpPr>
          <p:cNvPr id="17" name="obs-meaning">
            <a:extLst>
              <a:ext uri="{FF2B5EF4-FFF2-40B4-BE49-F238E27FC236}">
                <a16:creationId xmlns:a16="http://schemas.microsoft.com/office/drawing/2014/main" id="{3CF4B35E-01E4-414F-B28C-3A17D128106E}"/>
              </a:ext>
            </a:extLst>
          </p:cNvPr>
          <p:cNvSpPr>
            <a:spLocks noGrp="1"/>
          </p:cNvSpPr>
          <p:nvPr/>
        </p:nvSpPr>
        <p:spPr>
          <a:xfrm>
            <a:off x="838200" y="3886200"/>
            <a:ext cx="5715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38100" anchor="t">
            <a:normAutofit/>
          </a:bodyPr>
          <a:lstStyle/>
          <a:p>
            <a:pPr marL="24" indent="-14">
              <a:buChar char="•"/>
            </a:pPr>
            <a:r>
              <a:t>遮挡隐藏 8.54% + 视野外 39.79% = 不可直接观测 48.33%</a:t>
            </a:r>
          </a:p>
          <a:p>
            <a:pPr marL="24" indent="-14">
              <a:buChar char="•"/>
            </a:pPr>
            <a:r>
              <a:t>另有 0.99% 属于对应冲突或暂时无法可靠判断</a:t>
            </a:r>
          </a:p>
          <a:p>
            <a:pPr marL="24" indent="-14">
              <a:buChar char="•"/>
            </a:pPr>
            <a:r>
              <a:t>这组统计反映输入信息覆盖，不直接代表渲染质量</a:t>
            </a:r>
          </a:p>
        </p:txBody>
      </p:sp>
      <p:sp>
        <p:nvSpPr>
          <p:cNvPr id="18" name="obs-chart-border">
            <a:extLst>
              <a:ext uri="{FF2B5EF4-FFF2-40B4-BE49-F238E27FC236}">
                <a16:creationId xmlns:a16="http://schemas.microsoft.com/office/drawing/2014/main" id="{186009E8-F05C-4A5E-931A-5ECC3C84AECA}"/>
              </a:ext>
            </a:extLst>
          </p:cNvPr>
          <p:cNvSpPr>
            <a:spLocks noGrp="1"/>
          </p:cNvSpPr>
          <p:nvPr/>
        </p:nvSpPr>
        <p:spPr>
          <a:xfrm>
            <a:off x="6820795" y="1381126"/>
            <a:ext cx="5197638" cy="40100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0" name="conclusion-band">
            <a:extLst>
              <a:ext uri="{FF2B5EF4-FFF2-40B4-BE49-F238E27FC236}">
                <a16:creationId xmlns:a16="http://schemas.microsoft.com/office/drawing/2014/main" id="{96627DF3-05EE-4307-9556-C491305D2428}"/>
              </a:ext>
            </a:extLst>
          </p:cNvPr>
          <p:cNvSpPr>
            <a:spLocks noGrp="1"/>
          </p:cNvSpPr>
          <p:nvPr/>
        </p:nvSpPr>
        <p:spPr>
          <a:xfrm>
            <a:off x="666750" y="5829300"/>
            <a:ext cx="10858500" cy="438150"/>
          </a:xfrm>
          <a:prstGeom prst="rect">
            <a:avLst/>
          </a:prstGeom>
          <a:solidFill>
            <a:srgbClr val="EEF5FB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21" name="conclusion">
            <a:extLst>
              <a:ext uri="{FF2B5EF4-FFF2-40B4-BE49-F238E27FC236}">
                <a16:creationId xmlns:a16="http://schemas.microsoft.com/office/drawing/2014/main" id="{F004AEA7-ADB0-4FE8-B8E8-381946E75600}"/>
              </a:ext>
            </a:extLst>
          </p:cNvPr>
          <p:cNvSpPr>
            <a:spLocks noGrp="1"/>
          </p:cNvSpPr>
          <p:nvPr/>
        </p:nvSpPr>
        <p:spPr>
          <a:xfrm>
            <a:off x="838200" y="5867400"/>
            <a:ext cx="10515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单张输入天然缺少近一半目标内容；后续必须把“不可观测”与“表示失败”分开评价。</a:t>
            </a:r>
          </a:p>
        </p:txBody>
      </p:sp>
      <p:sp>
        <p:nvSpPr>
          <p:cNvPr id="22" name="source">
            <a:extLst>
              <a:ext uri="{FF2B5EF4-FFF2-40B4-BE49-F238E27FC236}">
                <a16:creationId xmlns:a16="http://schemas.microsoft.com/office/drawing/2014/main" id="{607C5465-750D-4B6C-B85C-0254AABB3392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统计范围：160个通过几何有效性检查的目标视图。</a:t>
            </a:r>
          </a:p>
        </p:txBody>
      </p:sp>
      <p:pic>
        <p:nvPicPr>
          <p:cNvPr id="26" name="fov-overlap-scatter-png">
            <a:extLst>
              <a:ext uri="{FF2B5EF4-FFF2-40B4-BE49-F238E27FC236}">
                <a16:creationId xmlns:a16="http://schemas.microsoft.com/office/drawing/2014/main" id="{A0692B5B-61E4-1959-F7D0-F55841D8563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2" b="5631"/>
          <a:stretch>
            <a:fillRect/>
          </a:stretch>
        </p:blipFill>
        <p:spPr>
          <a:xfrm>
            <a:off x="6962775" y="1714501"/>
            <a:ext cx="2355484" cy="2686050"/>
          </a:xfrm>
          <a:prstGeom prst="rect">
            <a:avLst/>
          </a:prstGeom>
        </p:spPr>
      </p:pic>
      <p:pic>
        <p:nvPicPr>
          <p:cNvPr id="31" name="warp-coverage-scatter-png">
            <a:extLst>
              <a:ext uri="{FF2B5EF4-FFF2-40B4-BE49-F238E27FC236}">
                <a16:creationId xmlns:a16="http://schemas.microsoft.com/office/drawing/2014/main" id="{B54AB41C-39BF-EACD-7CA4-487E8D45D7F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" t="4636" r="1265" b="3942"/>
          <a:stretch>
            <a:fillRect/>
          </a:stretch>
        </p:blipFill>
        <p:spPr>
          <a:xfrm>
            <a:off x="9505591" y="1752600"/>
            <a:ext cx="2325510" cy="2743200"/>
          </a:xfrm>
          <a:prstGeom prst="rect">
            <a:avLst/>
          </a:prstGeom>
        </p:spPr>
      </p:pic>
      <p:sp>
        <p:nvSpPr>
          <p:cNvPr id="24" name="observability-chart-header">
            <a:extLst>
              <a:ext uri="{FF2B5EF4-FFF2-40B4-BE49-F238E27FC236}">
                <a16:creationId xmlns:a16="http://schemas.microsoft.com/office/drawing/2014/main" id="{653DACE5-213E-4BFA-9A25-1B9F7ABBDAD1}"/>
              </a:ext>
            </a:extLst>
          </p:cNvPr>
          <p:cNvSpPr>
            <a:spLocks noGrp="1"/>
          </p:cNvSpPr>
          <p:nvPr/>
        </p:nvSpPr>
        <p:spPr>
          <a:xfrm>
            <a:off x="7162800" y="1466850"/>
            <a:ext cx="40100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rmAutofit fontScale="92917" lnSpcReduction="10000"/>
          </a:bodyPr>
          <a:lstStyle/>
          <a:p>
            <a:pPr algn="ctr">
              <a:buNone/>
              <a:defRPr sz="12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与未观测比例关系最直接的两项统计</a:t>
            </a:r>
          </a:p>
        </p:txBody>
      </p:sp>
      <p:sp>
        <p:nvSpPr>
          <p:cNvPr id="27" name="fov-overlap-note">
            <a:extLst>
              <a:ext uri="{FF2B5EF4-FFF2-40B4-BE49-F238E27FC236}">
                <a16:creationId xmlns:a16="http://schemas.microsoft.com/office/drawing/2014/main" id="{0A0EC98E-18C2-4272-A22A-12FC3BE7186D}"/>
              </a:ext>
            </a:extLst>
          </p:cNvPr>
          <p:cNvSpPr>
            <a:spLocks noGrp="1"/>
          </p:cNvSpPr>
          <p:nvPr/>
        </p:nvSpPr>
        <p:spPr>
          <a:xfrm>
            <a:off x="7439025" y="4552949"/>
            <a:ext cx="1981200" cy="628650"/>
          </a:xfrm>
          <a:prstGeom prst="rect">
            <a:avLst/>
          </a:prstGeom>
          <a:solidFill>
            <a:srgbClr val="EEF5FB"/>
          </a:solidFill>
          <a:ln w="9525">
            <a:solidFill>
              <a:srgbClr val="82B4E0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buNone/>
              <a:defRPr sz="10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重叠率越低，目标内容越多落在原图之外</a:t>
            </a:r>
          </a:p>
          <a:p>
            <a:pPr algn="ctr">
              <a:buNone/>
              <a:defRPr sz="10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部分关系来自指标定义</a:t>
            </a:r>
          </a:p>
        </p:txBody>
      </p:sp>
      <p:sp>
        <p:nvSpPr>
          <p:cNvPr id="28" name="warp-coverage-note">
            <a:extLst>
              <a:ext uri="{FF2B5EF4-FFF2-40B4-BE49-F238E27FC236}">
                <a16:creationId xmlns:a16="http://schemas.microsoft.com/office/drawing/2014/main" id="{E713DD8C-2E25-458E-B276-3BCA9AA8C1CE}"/>
              </a:ext>
            </a:extLst>
          </p:cNvPr>
          <p:cNvSpPr>
            <a:spLocks noGrp="1"/>
          </p:cNvSpPr>
          <p:nvPr/>
        </p:nvSpPr>
        <p:spPr>
          <a:xfrm>
            <a:off x="9916584" y="4533900"/>
            <a:ext cx="1981200" cy="628650"/>
          </a:xfrm>
          <a:prstGeom prst="rect">
            <a:avLst/>
          </a:prstGeom>
          <a:solidFill>
            <a:srgbClr val="EEF5FB"/>
          </a:solidFill>
          <a:ln w="9525">
            <a:solidFill>
              <a:srgbClr val="82B4E0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buNone/>
              <a:defRPr sz="10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映射覆盖越低，未观测区域通常越多</a:t>
            </a:r>
          </a:p>
          <a:p>
            <a:pPr algn="ctr">
              <a:buNone/>
              <a:defRPr sz="10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反映几何搬运后的内容缺口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4">
            <a:extLst>
              <a:ext uri="{FF2B5EF4-FFF2-40B4-BE49-F238E27FC236}">
                <a16:creationId xmlns:a16="http://schemas.microsoft.com/office/drawing/2014/main" id="{938B6A25-3D80-4006-A269-6058A85AD78A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多张真值图仍有 25.66% 目标内容未被看到</a:t>
            </a:r>
          </a:p>
        </p:txBody>
      </p:sp>
      <p:sp>
        <p:nvSpPr>
          <p:cNvPr id="2" name="subtitle-4">
            <a:extLst>
              <a:ext uri="{FF2B5EF4-FFF2-40B4-BE49-F238E27FC236}">
                <a16:creationId xmlns:a16="http://schemas.microsoft.com/office/drawing/2014/main" id="{FA92BAE3-9340-47FB-AB91-76B08CF8ED78}"/>
              </a:ext>
            </a:extLst>
          </p:cNvPr>
          <p:cNvSpPr>
            <a:spLocks noGrp="1"/>
          </p:cNvSpPr>
          <p:nvPr/>
        </p:nvSpPr>
        <p:spPr>
          <a:xfrm>
            <a:off x="685800" y="942975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多张构建图能够覆盖多少目标内容</a:t>
            </a:r>
          </a:p>
        </p:txBody>
      </p:sp>
      <p:sp>
        <p:nvSpPr>
          <p:cNvPr id="3" name="page-4">
            <a:extLst>
              <a:ext uri="{FF2B5EF4-FFF2-40B4-BE49-F238E27FC236}">
                <a16:creationId xmlns:a16="http://schemas.microsoft.com/office/drawing/2014/main" id="{551FE5FE-5C3A-4DB9-A720-60D47D344019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build-label-0">
            <a:extLst>
              <a:ext uri="{FF2B5EF4-FFF2-40B4-BE49-F238E27FC236}">
                <a16:creationId xmlns:a16="http://schemas.microsoft.com/office/drawing/2014/main" id="{243FFF8A-53D6-4591-BCA8-7A44136643F5}"/>
              </a:ext>
            </a:extLst>
          </p:cNvPr>
          <p:cNvSpPr>
            <a:spLocks noGrp="1"/>
          </p:cNvSpPr>
          <p:nvPr/>
        </p:nvSpPr>
        <p:spPr>
          <a:xfrm>
            <a:off x="723900" y="128587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466"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2D9A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D9A74"/>
                </a:solidFill>
                <a:latin typeface="Microsoft YaHei"/>
                <a:ea typeface="Microsoft YaHei"/>
                <a:cs typeface="Microsoft YaHei"/>
              </a:rPr>
              <a:t>至少一张构建图看到</a:t>
            </a:r>
          </a:p>
        </p:txBody>
      </p:sp>
      <p:sp>
        <p:nvSpPr>
          <p:cNvPr id="5" name="build-border-0">
            <a:extLst>
              <a:ext uri="{FF2B5EF4-FFF2-40B4-BE49-F238E27FC236}">
                <a16:creationId xmlns:a16="http://schemas.microsoft.com/office/drawing/2014/main" id="{B032A632-14BE-4B0B-AE33-95AE7118F004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3143250" cy="2333625"/>
          </a:xfrm>
          <a:prstGeom prst="rect">
            <a:avLst/>
          </a:prstGeom>
          <a:solidFill>
            <a:srgbClr val="FFFFFF"/>
          </a:solidFill>
          <a:ln w="9525">
            <a:solidFill>
              <a:srgbClr val="2D9A74"/>
            </a:solidFill>
            <a:prstDash val="solid"/>
          </a:ln>
        </p:spPr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90575" y="1638300"/>
            <a:ext cx="3009900" cy="2257425"/>
          </a:xfrm>
          <a:prstGeom prst="rect">
            <a:avLst/>
          </a:prstGeom>
        </p:spPr>
      </p:pic>
      <p:sp>
        <p:nvSpPr>
          <p:cNvPr id="7" name="build-label-1">
            <a:extLst>
              <a:ext uri="{FF2B5EF4-FFF2-40B4-BE49-F238E27FC236}">
                <a16:creationId xmlns:a16="http://schemas.microsoft.com/office/drawing/2014/main" id="{E26562DA-CF54-428C-B55B-0CB9B829E8BA}"/>
              </a:ext>
            </a:extLst>
          </p:cNvPr>
          <p:cNvSpPr>
            <a:spLocks noGrp="1"/>
          </p:cNvSpPr>
          <p:nvPr/>
        </p:nvSpPr>
        <p:spPr>
          <a:xfrm>
            <a:off x="4248150" y="128587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466"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D6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64A4A"/>
                </a:solidFill>
                <a:latin typeface="Microsoft YaHei"/>
                <a:ea typeface="Microsoft YaHei"/>
                <a:cs typeface="Microsoft YaHei"/>
              </a:rPr>
              <a:t>所有构建图都没看到</a:t>
            </a:r>
          </a:p>
        </p:txBody>
      </p:sp>
      <p:sp>
        <p:nvSpPr>
          <p:cNvPr id="8" name="build-border-1">
            <a:extLst>
              <a:ext uri="{FF2B5EF4-FFF2-40B4-BE49-F238E27FC236}">
                <a16:creationId xmlns:a16="http://schemas.microsoft.com/office/drawing/2014/main" id="{A5D99E33-F9DF-4948-9AD2-585B558305CA}"/>
              </a:ext>
            </a:extLst>
          </p:cNvPr>
          <p:cNvSpPr>
            <a:spLocks noGrp="1"/>
          </p:cNvSpPr>
          <p:nvPr/>
        </p:nvSpPr>
        <p:spPr>
          <a:xfrm>
            <a:off x="4248150" y="1600200"/>
            <a:ext cx="3143250" cy="2333625"/>
          </a:xfrm>
          <a:prstGeom prst="rect">
            <a:avLst/>
          </a:prstGeom>
          <a:solidFill>
            <a:srgbClr val="FFFFFF"/>
          </a:solidFill>
          <a:ln w="9525">
            <a:solidFill>
              <a:srgbClr val="D64A4A"/>
            </a:solidFill>
            <a:prstDash val="solid"/>
          </a:ln>
        </p:spPr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14825" y="1638300"/>
            <a:ext cx="3009900" cy="2257425"/>
          </a:xfrm>
          <a:prstGeom prst="rect">
            <a:avLst/>
          </a:prstGeom>
        </p:spPr>
      </p:pic>
      <p:sp>
        <p:nvSpPr>
          <p:cNvPr id="10" name="build-label-2">
            <a:extLst>
              <a:ext uri="{FF2B5EF4-FFF2-40B4-BE49-F238E27FC236}">
                <a16:creationId xmlns:a16="http://schemas.microsoft.com/office/drawing/2014/main" id="{80854482-609E-4E02-A5B0-9098EDB88AB2}"/>
              </a:ext>
            </a:extLst>
          </p:cNvPr>
          <p:cNvSpPr>
            <a:spLocks noGrp="1"/>
          </p:cNvSpPr>
          <p:nvPr/>
        </p:nvSpPr>
        <p:spPr>
          <a:xfrm>
            <a:off x="7772400" y="128587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466"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E5A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5A63B"/>
                </a:solidFill>
                <a:latin typeface="Microsoft YaHei"/>
                <a:ea typeface="Microsoft YaHei"/>
                <a:cs typeface="Microsoft YaHei"/>
              </a:rPr>
              <a:t>遮挡与深度边界</a:t>
            </a:r>
          </a:p>
        </p:txBody>
      </p:sp>
      <p:sp>
        <p:nvSpPr>
          <p:cNvPr id="11" name="build-border-2">
            <a:extLst>
              <a:ext uri="{FF2B5EF4-FFF2-40B4-BE49-F238E27FC236}">
                <a16:creationId xmlns:a16="http://schemas.microsoft.com/office/drawing/2014/main" id="{3CAD6A8F-98B3-42E4-82B9-52246A361E90}"/>
              </a:ext>
            </a:extLst>
          </p:cNvPr>
          <p:cNvSpPr>
            <a:spLocks noGrp="1"/>
          </p:cNvSpPr>
          <p:nvPr/>
        </p:nvSpPr>
        <p:spPr>
          <a:xfrm>
            <a:off x="7772400" y="1600200"/>
            <a:ext cx="3143250" cy="2333625"/>
          </a:xfrm>
          <a:prstGeom prst="rect">
            <a:avLst/>
          </a:prstGeom>
          <a:solidFill>
            <a:srgbClr val="FFFFFF"/>
          </a:solidFill>
          <a:ln w="9525">
            <a:solidFill>
              <a:srgbClr val="E5A63B"/>
            </a:solidFill>
            <a:prstDash val="solid"/>
          </a:ln>
        </p:spPr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839075" y="1638300"/>
            <a:ext cx="3009900" cy="2257425"/>
          </a:xfrm>
          <a:prstGeom prst="rect">
            <a:avLst/>
          </a:prstGeom>
        </p:spPr>
      </p:pic>
      <p:sp>
        <p:nvSpPr>
          <p:cNvPr id="13" name="build-bar-0">
            <a:extLst>
              <a:ext uri="{FF2B5EF4-FFF2-40B4-BE49-F238E27FC236}">
                <a16:creationId xmlns:a16="http://schemas.microsoft.com/office/drawing/2014/main" id="{D6078E75-B15E-4C8C-B1A6-7C0CDA153773}"/>
              </a:ext>
            </a:extLst>
          </p:cNvPr>
          <p:cNvSpPr>
            <a:spLocks noGrp="1"/>
          </p:cNvSpPr>
          <p:nvPr/>
        </p:nvSpPr>
        <p:spPr>
          <a:xfrm>
            <a:off x="1428750" y="4267200"/>
            <a:ext cx="4715789" cy="552450"/>
          </a:xfrm>
          <a:prstGeom prst="rect">
            <a:avLst/>
          </a:prstGeom>
          <a:solidFill>
            <a:srgbClr val="2D9A7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build-bar-t-0">
            <a:extLst>
              <a:ext uri="{FF2B5EF4-FFF2-40B4-BE49-F238E27FC236}">
                <a16:creationId xmlns:a16="http://schemas.microsoft.com/office/drawing/2014/main" id="{8EED1DD9-32F9-441C-8ED4-A3E3CAEFD457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471578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50.52%</a:t>
            </a:r>
          </a:p>
        </p:txBody>
      </p:sp>
      <p:sp>
        <p:nvSpPr>
          <p:cNvPr id="15" name="build-bar-1">
            <a:extLst>
              <a:ext uri="{FF2B5EF4-FFF2-40B4-BE49-F238E27FC236}">
                <a16:creationId xmlns:a16="http://schemas.microsoft.com/office/drawing/2014/main" id="{8BEBBEBB-4E0C-4684-BA5C-25766A7EB40C}"/>
              </a:ext>
            </a:extLst>
          </p:cNvPr>
          <p:cNvSpPr>
            <a:spLocks noGrp="1"/>
          </p:cNvSpPr>
          <p:nvPr/>
        </p:nvSpPr>
        <p:spPr>
          <a:xfrm>
            <a:off x="6144539" y="4267200"/>
            <a:ext cx="2395233" cy="552450"/>
          </a:xfrm>
          <a:prstGeom prst="rect">
            <a:avLst/>
          </a:prstGeom>
          <a:solidFill>
            <a:srgbClr val="D64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build-bar-t-1">
            <a:extLst>
              <a:ext uri="{FF2B5EF4-FFF2-40B4-BE49-F238E27FC236}">
                <a16:creationId xmlns:a16="http://schemas.microsoft.com/office/drawing/2014/main" id="{7B541381-BFD1-4323-AE1D-44A645D287E1}"/>
              </a:ext>
            </a:extLst>
          </p:cNvPr>
          <p:cNvSpPr>
            <a:spLocks noGrp="1"/>
          </p:cNvSpPr>
          <p:nvPr/>
        </p:nvSpPr>
        <p:spPr>
          <a:xfrm>
            <a:off x="6144539" y="4381500"/>
            <a:ext cx="2395233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25.66%</a:t>
            </a:r>
          </a:p>
        </p:txBody>
      </p:sp>
      <p:sp>
        <p:nvSpPr>
          <p:cNvPr id="17" name="build-bar-2">
            <a:extLst>
              <a:ext uri="{FF2B5EF4-FFF2-40B4-BE49-F238E27FC236}">
                <a16:creationId xmlns:a16="http://schemas.microsoft.com/office/drawing/2014/main" id="{B0155D28-6622-4135-9C55-42F846C5915A}"/>
              </a:ext>
            </a:extLst>
          </p:cNvPr>
          <p:cNvSpPr>
            <a:spLocks noGrp="1"/>
          </p:cNvSpPr>
          <p:nvPr/>
        </p:nvSpPr>
        <p:spPr>
          <a:xfrm>
            <a:off x="8539772" y="4267200"/>
            <a:ext cx="2223478" cy="552450"/>
          </a:xfrm>
          <a:prstGeom prst="rect">
            <a:avLst/>
          </a:prstGeom>
          <a:solidFill>
            <a:srgbClr val="E5A63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build-bar-t-2">
            <a:extLst>
              <a:ext uri="{FF2B5EF4-FFF2-40B4-BE49-F238E27FC236}">
                <a16:creationId xmlns:a16="http://schemas.microsoft.com/office/drawing/2014/main" id="{B08472A5-B7F4-4579-988E-C3EF8E8A277D}"/>
              </a:ext>
            </a:extLst>
          </p:cNvPr>
          <p:cNvSpPr>
            <a:spLocks noGrp="1"/>
          </p:cNvSpPr>
          <p:nvPr/>
        </p:nvSpPr>
        <p:spPr>
          <a:xfrm>
            <a:off x="8539772" y="4381500"/>
            <a:ext cx="222347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23.82%</a:t>
            </a:r>
          </a:p>
        </p:txBody>
      </p:sp>
      <p:sp>
        <p:nvSpPr>
          <p:cNvPr id="19" name="build-note">
            <a:extLst>
              <a:ext uri="{FF2B5EF4-FFF2-40B4-BE49-F238E27FC236}">
                <a16:creationId xmlns:a16="http://schemas.microsoft.com/office/drawing/2014/main" id="{D0054394-A3C8-47AF-B122-9877047291E9}"/>
              </a:ext>
            </a:extLst>
          </p:cNvPr>
          <p:cNvSpPr>
            <a:spLocks noGrp="1"/>
          </p:cNvSpPr>
          <p:nvPr/>
        </p:nvSpPr>
        <p:spPr>
          <a:xfrm>
            <a:off x="1809750" y="5010150"/>
            <a:ext cx="8572500" cy="400050"/>
          </a:xfrm>
          <a:prstGeom prst="rect">
            <a:avLst/>
          </a:prstGeom>
          <a:solidFill>
            <a:srgbClr val="F7FAFD"/>
          </a:solidFill>
          <a:ln w="9525">
            <a:solidFill>
              <a:srgbClr val="C9D8E6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后续只在至少被一张构建图真实看到、而且对应关系可靠的区域检查高斯表示。</a:t>
            </a:r>
          </a:p>
        </p:txBody>
      </p:sp>
      <p:sp>
        <p:nvSpPr>
          <p:cNvPr id="20" name="conclusion-band">
            <a:extLst>
              <a:ext uri="{FF2B5EF4-FFF2-40B4-BE49-F238E27FC236}">
                <a16:creationId xmlns:a16="http://schemas.microsoft.com/office/drawing/2014/main" id="{D3AA8FBB-CD0F-4F3B-B17B-4771FA654EA1}"/>
              </a:ext>
            </a:extLst>
          </p:cNvPr>
          <p:cNvSpPr>
            <a:spLocks noGrp="1"/>
          </p:cNvSpPr>
          <p:nvPr/>
        </p:nvSpPr>
        <p:spPr>
          <a:xfrm>
            <a:off x="666750" y="5829300"/>
            <a:ext cx="10858500" cy="438150"/>
          </a:xfrm>
          <a:prstGeom prst="rect">
            <a:avLst/>
          </a:prstGeom>
          <a:solidFill>
            <a:srgbClr val="EEF5FB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21" name="conclusion">
            <a:extLst>
              <a:ext uri="{FF2B5EF4-FFF2-40B4-BE49-F238E27FC236}">
                <a16:creationId xmlns:a16="http://schemas.microsoft.com/office/drawing/2014/main" id="{D357D5BE-3261-4B5E-8E1E-F2AD6AAF781E}"/>
              </a:ext>
            </a:extLst>
          </p:cNvPr>
          <p:cNvSpPr>
            <a:spLocks noGrp="1"/>
          </p:cNvSpPr>
          <p:nvPr/>
        </p:nvSpPr>
        <p:spPr>
          <a:xfrm>
            <a:off x="838200" y="5867400"/>
            <a:ext cx="10515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即使输入多张真值图，目标视角仍有未覆盖区域；后续只在有可靠来源的区域判断高斯表示能力。</a:t>
            </a:r>
          </a:p>
        </p:txBody>
      </p:sp>
      <p:sp>
        <p:nvSpPr>
          <p:cNvPr id="22" name="source">
            <a:extLst>
              <a:ext uri="{FF2B5EF4-FFF2-40B4-BE49-F238E27FC236}">
                <a16:creationId xmlns:a16="http://schemas.microsoft.com/office/drawing/2014/main" id="{9906FB58-A0E8-408B-AF3C-5DD331847AB5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颜色只表示目标区域有没有可靠信息来源，不代表最终画面质量。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-5">
            <a:extLst>
              <a:ext uri="{FF2B5EF4-FFF2-40B4-BE49-F238E27FC236}">
                <a16:creationId xmlns:a16="http://schemas.microsoft.com/office/drawing/2014/main" id="{47F3AEE5-DEAD-462E-893D-E16863B2870A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留一视图 Oracle 只检验已知表面的表示能力</a:t>
            </a:r>
          </a:p>
        </p:txBody>
      </p:sp>
      <p:sp>
        <p:nvSpPr>
          <p:cNvPr id="2" name="subtitle-5">
            <a:extLst>
              <a:ext uri="{FF2B5EF4-FFF2-40B4-BE49-F238E27FC236}">
                <a16:creationId xmlns:a16="http://schemas.microsoft.com/office/drawing/2014/main" id="{7C5EC82C-B048-4CF6-A97D-894DF8B066BF}"/>
              </a:ext>
            </a:extLst>
          </p:cNvPr>
          <p:cNvSpPr>
            <a:spLocks noGrp="1"/>
          </p:cNvSpPr>
          <p:nvPr/>
        </p:nvSpPr>
        <p:spPr>
          <a:xfrm>
            <a:off x="685800" y="942975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把生成难题暂时拿掉，单独测试高斯表示上限</a:t>
            </a:r>
          </a:p>
        </p:txBody>
      </p:sp>
      <p:sp>
        <p:nvSpPr>
          <p:cNvPr id="3" name="page-5">
            <a:extLst>
              <a:ext uri="{FF2B5EF4-FFF2-40B4-BE49-F238E27FC236}">
                <a16:creationId xmlns:a16="http://schemas.microsoft.com/office/drawing/2014/main" id="{C3FB6A32-5DB2-43F5-A841-4127796B9A0D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oracle-0">
            <a:extLst>
              <a:ext uri="{FF2B5EF4-FFF2-40B4-BE49-F238E27FC236}">
                <a16:creationId xmlns:a16="http://schemas.microsoft.com/office/drawing/2014/main" id="{92793978-7563-4B0E-81B4-5856069240ED}"/>
              </a:ext>
            </a:extLst>
          </p:cNvPr>
          <p:cNvSpPr>
            <a:spLocks noGrp="1"/>
          </p:cNvSpPr>
          <p:nvPr/>
        </p:nvSpPr>
        <p:spPr>
          <a:xfrm>
            <a:off x="552450" y="2019300"/>
            <a:ext cx="19526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5" name="oracle-t-0">
            <a:extLst>
              <a:ext uri="{FF2B5EF4-FFF2-40B4-BE49-F238E27FC236}">
                <a16:creationId xmlns:a16="http://schemas.microsoft.com/office/drawing/2014/main" id="{C8CC728E-FD49-4877-80E4-179B70379F1C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1762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3086" lnSpcReduction="10000"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多张构建图的</a:t>
            </a: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真实颜色和深度</a:t>
            </a:r>
          </a:p>
        </p:txBody>
      </p:sp>
      <p:sp>
        <p:nvSpPr>
          <p:cNvPr id="6" name="oracle-s-0">
            <a:extLst>
              <a:ext uri="{FF2B5EF4-FFF2-40B4-BE49-F238E27FC236}">
                <a16:creationId xmlns:a16="http://schemas.microsoft.com/office/drawing/2014/main" id="{20069143-FDA7-4005-8AB5-1F8427AA0D1A}"/>
              </a:ext>
            </a:extLst>
          </p:cNvPr>
          <p:cNvSpPr>
            <a:spLocks noGrp="1"/>
          </p:cNvSpPr>
          <p:nvPr/>
        </p:nvSpPr>
        <p:spPr>
          <a:xfrm>
            <a:off x="647700" y="260985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构建视图 Build</a:t>
            </a:r>
          </a:p>
        </p:txBody>
      </p:sp>
      <p:sp>
        <p:nvSpPr>
          <p:cNvPr id="7" name="oracle-arrow-0">
            <a:extLst>
              <a:ext uri="{FF2B5EF4-FFF2-40B4-BE49-F238E27FC236}">
                <a16:creationId xmlns:a16="http://schemas.microsoft.com/office/drawing/2014/main" id="{59FBF0C0-223F-4DF5-9752-B55AB48544E3}"/>
              </a:ext>
            </a:extLst>
          </p:cNvPr>
          <p:cNvSpPr>
            <a:spLocks noGrp="1"/>
          </p:cNvSpPr>
          <p:nvPr/>
        </p:nvSpPr>
        <p:spPr>
          <a:xfrm>
            <a:off x="2524125" y="2400300"/>
            <a:ext cx="342900" cy="238125"/>
          </a:xfrm>
          <a:prstGeom prst="rightArrow">
            <a:avLst/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</p:sp>
      <p:sp>
        <p:nvSpPr>
          <p:cNvPr id="8" name="oracle-1">
            <a:extLst>
              <a:ext uri="{FF2B5EF4-FFF2-40B4-BE49-F238E27FC236}">
                <a16:creationId xmlns:a16="http://schemas.microsoft.com/office/drawing/2014/main" id="{E3E257D4-5137-4212-8720-6B3CED57B2E2}"/>
              </a:ext>
            </a:extLst>
          </p:cNvPr>
          <p:cNvSpPr>
            <a:spLocks noGrp="1"/>
          </p:cNvSpPr>
          <p:nvPr/>
        </p:nvSpPr>
        <p:spPr>
          <a:xfrm>
            <a:off x="2895600" y="2019300"/>
            <a:ext cx="19526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9" name="oracle-t-1">
            <a:extLst>
              <a:ext uri="{FF2B5EF4-FFF2-40B4-BE49-F238E27FC236}">
                <a16:creationId xmlns:a16="http://schemas.microsoft.com/office/drawing/2014/main" id="{6CF55240-B7FA-4185-B539-87D9BF3EABAF}"/>
              </a:ext>
            </a:extLst>
          </p:cNvPr>
          <p:cNvSpPr>
            <a:spLocks noGrp="1"/>
          </p:cNvSpPr>
          <p:nvPr/>
        </p:nvSpPr>
        <p:spPr>
          <a:xfrm>
            <a:off x="2990850" y="2171700"/>
            <a:ext cx="1762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表面整理与融合</a:t>
            </a:r>
          </a:p>
        </p:txBody>
      </p:sp>
      <p:sp>
        <p:nvSpPr>
          <p:cNvPr id="10" name="oracle-s-1">
            <a:extLst>
              <a:ext uri="{FF2B5EF4-FFF2-40B4-BE49-F238E27FC236}">
                <a16:creationId xmlns:a16="http://schemas.microsoft.com/office/drawing/2014/main" id="{8AFD339F-4DFE-424D-BDB7-C08A846C1452}"/>
              </a:ext>
            </a:extLst>
          </p:cNvPr>
          <p:cNvSpPr>
            <a:spLocks noGrp="1"/>
          </p:cNvSpPr>
          <p:nvPr/>
        </p:nvSpPr>
        <p:spPr>
          <a:xfrm>
            <a:off x="2990850" y="260985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CLB / Fusion</a:t>
            </a:r>
          </a:p>
        </p:txBody>
      </p:sp>
      <p:sp>
        <p:nvSpPr>
          <p:cNvPr id="11" name="oracle-arrow-1">
            <a:extLst>
              <a:ext uri="{FF2B5EF4-FFF2-40B4-BE49-F238E27FC236}">
                <a16:creationId xmlns:a16="http://schemas.microsoft.com/office/drawing/2014/main" id="{9B1AD9BB-33E2-45FF-9198-9E7FEA1B7ED1}"/>
              </a:ext>
            </a:extLst>
          </p:cNvPr>
          <p:cNvSpPr>
            <a:spLocks noGrp="1"/>
          </p:cNvSpPr>
          <p:nvPr/>
        </p:nvSpPr>
        <p:spPr>
          <a:xfrm>
            <a:off x="4867275" y="2400300"/>
            <a:ext cx="342900" cy="238125"/>
          </a:xfrm>
          <a:prstGeom prst="rightArrow">
            <a:avLst/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</p:sp>
      <p:sp>
        <p:nvSpPr>
          <p:cNvPr id="12" name="oracle-2">
            <a:extLst>
              <a:ext uri="{FF2B5EF4-FFF2-40B4-BE49-F238E27FC236}">
                <a16:creationId xmlns:a16="http://schemas.microsoft.com/office/drawing/2014/main" id="{00330729-DCE1-4309-9698-B290EBE7907A}"/>
              </a:ext>
            </a:extLst>
          </p:cNvPr>
          <p:cNvSpPr>
            <a:spLocks noGrp="1"/>
          </p:cNvSpPr>
          <p:nvPr/>
        </p:nvSpPr>
        <p:spPr>
          <a:xfrm>
            <a:off x="5238750" y="2019300"/>
            <a:ext cx="19526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13" name="oracle-t-2">
            <a:extLst>
              <a:ext uri="{FF2B5EF4-FFF2-40B4-BE49-F238E27FC236}">
                <a16:creationId xmlns:a16="http://schemas.microsoft.com/office/drawing/2014/main" id="{77DDF520-4A52-4B63-B731-08AEEFA4B756}"/>
              </a:ext>
            </a:extLst>
          </p:cNvPr>
          <p:cNvSpPr>
            <a:spLocks noGrp="1"/>
          </p:cNvSpPr>
          <p:nvPr/>
        </p:nvSpPr>
        <p:spPr>
          <a:xfrm>
            <a:off x="5334000" y="2171700"/>
            <a:ext cx="1762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1212"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转换成可渲染的高斯</a:t>
            </a:r>
          </a:p>
        </p:txBody>
      </p:sp>
      <p:sp>
        <p:nvSpPr>
          <p:cNvPr id="14" name="oracle-s-2">
            <a:extLst>
              <a:ext uri="{FF2B5EF4-FFF2-40B4-BE49-F238E27FC236}">
                <a16:creationId xmlns:a16="http://schemas.microsoft.com/office/drawing/2014/main" id="{C999A2BB-0813-4683-A6A9-BD29703E1859}"/>
              </a:ext>
            </a:extLst>
          </p:cNvPr>
          <p:cNvSpPr>
            <a:spLocks noGrp="1"/>
          </p:cNvSpPr>
          <p:nvPr/>
        </p:nvSpPr>
        <p:spPr>
          <a:xfrm>
            <a:off x="5334000" y="260985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Gaussian 表示</a:t>
            </a:r>
          </a:p>
        </p:txBody>
      </p:sp>
      <p:sp>
        <p:nvSpPr>
          <p:cNvPr id="15" name="oracle-arrow-2">
            <a:extLst>
              <a:ext uri="{FF2B5EF4-FFF2-40B4-BE49-F238E27FC236}">
                <a16:creationId xmlns:a16="http://schemas.microsoft.com/office/drawing/2014/main" id="{37EA7FBA-EB34-490E-87FB-CE5624F8EBDA}"/>
              </a:ext>
            </a:extLst>
          </p:cNvPr>
          <p:cNvSpPr>
            <a:spLocks noGrp="1"/>
          </p:cNvSpPr>
          <p:nvPr/>
        </p:nvSpPr>
        <p:spPr>
          <a:xfrm>
            <a:off x="7210425" y="2400300"/>
            <a:ext cx="342900" cy="238125"/>
          </a:xfrm>
          <a:prstGeom prst="rightArrow">
            <a:avLst/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</p:sp>
      <p:sp>
        <p:nvSpPr>
          <p:cNvPr id="16" name="oracle-3">
            <a:extLst>
              <a:ext uri="{FF2B5EF4-FFF2-40B4-BE49-F238E27FC236}">
                <a16:creationId xmlns:a16="http://schemas.microsoft.com/office/drawing/2014/main" id="{F6562C44-14FD-4F29-8163-FFF4D3BEA66D}"/>
              </a:ext>
            </a:extLst>
          </p:cNvPr>
          <p:cNvSpPr>
            <a:spLocks noGrp="1"/>
          </p:cNvSpPr>
          <p:nvPr/>
        </p:nvSpPr>
        <p:spPr>
          <a:xfrm>
            <a:off x="7581900" y="2019300"/>
            <a:ext cx="1952625" cy="1066800"/>
          </a:xfrm>
          <a:prstGeom prst="roundRect">
            <a:avLst>
              <a:gd name="adj" fmla="val 7143"/>
            </a:avLst>
          </a:prstGeom>
          <a:solidFill>
            <a:srgbClr val="EEF5FB"/>
          </a:solidFill>
          <a:ln w="9525">
            <a:solidFill>
              <a:srgbClr val="22C7E2"/>
            </a:solidFill>
            <a:prstDash val="solid"/>
          </a:ln>
        </p:spPr>
      </p:sp>
      <p:sp>
        <p:nvSpPr>
          <p:cNvPr id="17" name="oracle-t-3">
            <a:extLst>
              <a:ext uri="{FF2B5EF4-FFF2-40B4-BE49-F238E27FC236}">
                <a16:creationId xmlns:a16="http://schemas.microsoft.com/office/drawing/2014/main" id="{0224E931-05BE-4588-85DF-426E7ADFBAF6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1762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1212"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完全留出的测试相机</a:t>
            </a:r>
          </a:p>
        </p:txBody>
      </p:sp>
      <p:sp>
        <p:nvSpPr>
          <p:cNvPr id="18" name="oracle-s-3">
            <a:extLst>
              <a:ext uri="{FF2B5EF4-FFF2-40B4-BE49-F238E27FC236}">
                <a16:creationId xmlns:a16="http://schemas.microsoft.com/office/drawing/2014/main" id="{F1B15A3F-0063-413B-B890-55038E5A7F8B}"/>
              </a:ext>
            </a:extLst>
          </p:cNvPr>
          <p:cNvSpPr>
            <a:spLocks noGrp="1"/>
          </p:cNvSpPr>
          <p:nvPr/>
        </p:nvSpPr>
        <p:spPr>
          <a:xfrm>
            <a:off x="7677150" y="260985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测试视图 Evaluate</a:t>
            </a:r>
          </a:p>
        </p:txBody>
      </p:sp>
      <p:sp>
        <p:nvSpPr>
          <p:cNvPr id="19" name="oracle-arrow-3">
            <a:extLst>
              <a:ext uri="{FF2B5EF4-FFF2-40B4-BE49-F238E27FC236}">
                <a16:creationId xmlns:a16="http://schemas.microsoft.com/office/drawing/2014/main" id="{CD45534D-6CB2-45DA-98B4-3AFD4CBE6BA5}"/>
              </a:ext>
            </a:extLst>
          </p:cNvPr>
          <p:cNvSpPr>
            <a:spLocks noGrp="1"/>
          </p:cNvSpPr>
          <p:nvPr/>
        </p:nvSpPr>
        <p:spPr>
          <a:xfrm>
            <a:off x="9553575" y="2400300"/>
            <a:ext cx="342900" cy="238125"/>
          </a:xfrm>
          <a:prstGeom prst="rightArrow">
            <a:avLst/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</p:sp>
      <p:sp>
        <p:nvSpPr>
          <p:cNvPr id="20" name="oracle-4">
            <a:extLst>
              <a:ext uri="{FF2B5EF4-FFF2-40B4-BE49-F238E27FC236}">
                <a16:creationId xmlns:a16="http://schemas.microsoft.com/office/drawing/2014/main" id="{4242C595-34E5-4C98-84B6-10B49844ECFE}"/>
              </a:ext>
            </a:extLst>
          </p:cNvPr>
          <p:cNvSpPr>
            <a:spLocks noGrp="1"/>
          </p:cNvSpPr>
          <p:nvPr/>
        </p:nvSpPr>
        <p:spPr>
          <a:xfrm>
            <a:off x="9925050" y="2019300"/>
            <a:ext cx="19526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21" name="oracle-t-4">
            <a:extLst>
              <a:ext uri="{FF2B5EF4-FFF2-40B4-BE49-F238E27FC236}">
                <a16:creationId xmlns:a16="http://schemas.microsoft.com/office/drawing/2014/main" id="{3FA4DF6A-AC37-4A44-8DEE-683745AD8E5C}"/>
              </a:ext>
            </a:extLst>
          </p:cNvPr>
          <p:cNvSpPr>
            <a:spLocks noGrp="1"/>
          </p:cNvSpPr>
          <p:nvPr/>
        </p:nvSpPr>
        <p:spPr>
          <a:xfrm>
            <a:off x="10020300" y="2171700"/>
            <a:ext cx="1762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3086" lnSpcReduction="10000"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只检查有可靠</a:t>
            </a: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来源的区域</a:t>
            </a:r>
          </a:p>
        </p:txBody>
      </p:sp>
      <p:sp>
        <p:nvSpPr>
          <p:cNvPr id="22" name="oracle-s-4">
            <a:extLst>
              <a:ext uri="{FF2B5EF4-FFF2-40B4-BE49-F238E27FC236}">
                <a16:creationId xmlns:a16="http://schemas.microsoft.com/office/drawing/2014/main" id="{42B16B56-EB4F-495C-A798-80D3C9E5A23E}"/>
              </a:ext>
            </a:extLst>
          </p:cNvPr>
          <p:cNvSpPr>
            <a:spLocks noGrp="1"/>
          </p:cNvSpPr>
          <p:nvPr/>
        </p:nvSpPr>
        <p:spPr>
          <a:xfrm>
            <a:off x="10020300" y="260985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与真值比较</a:t>
            </a:r>
          </a:p>
        </p:txBody>
      </p:sp>
      <p:sp>
        <p:nvSpPr>
          <p:cNvPr id="23" name="oracle-boundary">
            <a:extLst>
              <a:ext uri="{FF2B5EF4-FFF2-40B4-BE49-F238E27FC236}">
                <a16:creationId xmlns:a16="http://schemas.microsoft.com/office/drawing/2014/main" id="{52E6EBCF-EE46-4C16-8254-286D155A70A3}"/>
              </a:ext>
            </a:extLst>
          </p:cNvPr>
          <p:cNvSpPr>
            <a:spLocks noGrp="1"/>
          </p:cNvSpPr>
          <p:nvPr/>
        </p:nvSpPr>
        <p:spPr>
          <a:xfrm>
            <a:off x="1143000" y="3619500"/>
            <a:ext cx="9906000" cy="1371600"/>
          </a:xfrm>
          <a:prstGeom prst="rect">
            <a:avLst/>
          </a:prstGeom>
          <a:solidFill>
            <a:srgbClr val="F7FAFD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4" name="oracle-boundary-title">
            <a:extLst>
              <a:ext uri="{FF2B5EF4-FFF2-40B4-BE49-F238E27FC236}">
                <a16:creationId xmlns:a16="http://schemas.microsoft.com/office/drawing/2014/main" id="{46AAC47F-B074-496C-8282-A0C25D809F98}"/>
              </a:ext>
            </a:extLst>
          </p:cNvPr>
          <p:cNvSpPr>
            <a:spLocks noGrp="1"/>
          </p:cNvSpPr>
          <p:nvPr/>
        </p:nvSpPr>
        <p:spPr>
          <a:xfrm>
            <a:off x="1381125" y="37909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8690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这个实验能回答什么？</a:t>
            </a:r>
          </a:p>
        </p:txBody>
      </p:sp>
      <p:sp>
        <p:nvSpPr>
          <p:cNvPr id="25" name="oracle-boundary-list">
            <a:extLst>
              <a:ext uri="{FF2B5EF4-FFF2-40B4-BE49-F238E27FC236}">
                <a16:creationId xmlns:a16="http://schemas.microsoft.com/office/drawing/2014/main" id="{22E04A03-19BE-40D4-963A-7361690ADC1A}"/>
              </a:ext>
            </a:extLst>
          </p:cNvPr>
          <p:cNvSpPr>
            <a:spLocks noGrp="1"/>
          </p:cNvSpPr>
          <p:nvPr/>
        </p:nvSpPr>
        <p:spPr>
          <a:xfrm>
            <a:off x="1381125" y="4171950"/>
            <a:ext cx="9239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38100" anchor="t">
            <a:normAutofit/>
          </a:bodyPr>
          <a:lstStyle/>
          <a:p>
            <a:pPr marL="24" indent="-14" algn="l">
              <a:lnSpc>
                <a:spcPct val="122000"/>
              </a:lnSpc>
              <a:buNone/>
              <a:defRPr sz="15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如果真值几何和颜色都给足，高斯是否仍会漏空、错序或改变输入视图颜色</a:t>
            </a:r>
          </a:p>
          <a:p>
            <a:pPr marL="24" indent="-14" algn="l">
              <a:lnSpc>
                <a:spcPct val="122000"/>
              </a:lnSpc>
              <a:buNone/>
              <a:defRPr sz="15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不评价原图之外的真实隐藏内容，也不证明单图生成已经解决</a:t>
            </a:r>
          </a:p>
        </p:txBody>
      </p:sp>
      <p:sp>
        <p:nvSpPr>
          <p:cNvPr id="26" name="conclusion-band">
            <a:extLst>
              <a:ext uri="{FF2B5EF4-FFF2-40B4-BE49-F238E27FC236}">
                <a16:creationId xmlns:a16="http://schemas.microsoft.com/office/drawing/2014/main" id="{0C397901-8F43-419A-9276-5FCF54F0C977}"/>
              </a:ext>
            </a:extLst>
          </p:cNvPr>
          <p:cNvSpPr>
            <a:spLocks noGrp="1"/>
          </p:cNvSpPr>
          <p:nvPr/>
        </p:nvSpPr>
        <p:spPr>
          <a:xfrm>
            <a:off x="666750" y="5829300"/>
            <a:ext cx="10858500" cy="438150"/>
          </a:xfrm>
          <a:prstGeom prst="rect">
            <a:avLst/>
          </a:prstGeom>
          <a:solidFill>
            <a:srgbClr val="EEF5FB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27" name="conclusion">
            <a:extLst>
              <a:ext uri="{FF2B5EF4-FFF2-40B4-BE49-F238E27FC236}">
                <a16:creationId xmlns:a16="http://schemas.microsoft.com/office/drawing/2014/main" id="{878A4D98-5F92-4E8C-A59D-2B5FF87D2072}"/>
              </a:ext>
            </a:extLst>
          </p:cNvPr>
          <p:cNvSpPr>
            <a:spLocks noGrp="1"/>
          </p:cNvSpPr>
          <p:nvPr/>
        </p:nvSpPr>
        <p:spPr>
          <a:xfrm>
            <a:off x="838200" y="5867400"/>
            <a:ext cx="10515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Oracle 先把输入信息给足，用来检查表示和融合本身是否可靠。</a:t>
            </a:r>
          </a:p>
        </p:txBody>
      </p:sp>
      <p:sp>
        <p:nvSpPr>
          <p:cNvPr id="28" name="source">
            <a:extLst>
              <a:ext uri="{FF2B5EF4-FFF2-40B4-BE49-F238E27FC236}">
                <a16:creationId xmlns:a16="http://schemas.microsoft.com/office/drawing/2014/main" id="{B17B2775-F62F-4885-9D14-D184E9153250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测试视图完全不参与场景构建，避免提前使用目标答案。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-6">
            <a:extLst>
              <a:ext uri="{FF2B5EF4-FFF2-40B4-BE49-F238E27FC236}">
                <a16:creationId xmlns:a16="http://schemas.microsoft.com/office/drawing/2014/main" id="{6948E8E6-9BC3-451E-891A-DBBFBBF872E6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信息给足后，表示层仍在覆盖、遮挡和颜色上失败</a:t>
            </a:r>
          </a:p>
        </p:txBody>
      </p:sp>
      <p:sp>
        <p:nvSpPr>
          <p:cNvPr id="2" name="subtitle-6">
            <a:extLst>
              <a:ext uri="{FF2B5EF4-FFF2-40B4-BE49-F238E27FC236}">
                <a16:creationId xmlns:a16="http://schemas.microsoft.com/office/drawing/2014/main" id="{5CA75458-5009-4C2B-B7F3-0D22F39EFC49}"/>
              </a:ext>
            </a:extLst>
          </p:cNvPr>
          <p:cNvSpPr>
            <a:spLocks noGrp="1"/>
          </p:cNvSpPr>
          <p:nvPr/>
        </p:nvSpPr>
        <p:spPr>
          <a:xfrm>
            <a:off x="685800" y="942975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理想输入下的表示能力实验</a:t>
            </a:r>
          </a:p>
        </p:txBody>
      </p:sp>
      <p:sp>
        <p:nvSpPr>
          <p:cNvPr id="3" name="page-6">
            <a:extLst>
              <a:ext uri="{FF2B5EF4-FFF2-40B4-BE49-F238E27FC236}">
                <a16:creationId xmlns:a16="http://schemas.microsoft.com/office/drawing/2014/main" id="{806B0BBF-2F8F-4D4D-939C-1DD6E37C9301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b1-title-0">
            <a:extLst>
              <a:ext uri="{FF2B5EF4-FFF2-40B4-BE49-F238E27FC236}">
                <a16:creationId xmlns:a16="http://schemas.microsoft.com/office/drawing/2014/main" id="{EAC40F9E-FC7D-4AF7-897E-0F9DFF73CF90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532"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覆盖不足</a:t>
            </a:r>
          </a:p>
        </p:txBody>
      </p:sp>
      <p:sp>
        <p:nvSpPr>
          <p:cNvPr id="5" name="b1-border-0">
            <a:extLst>
              <a:ext uri="{FF2B5EF4-FFF2-40B4-BE49-F238E27FC236}">
                <a16:creationId xmlns:a16="http://schemas.microsoft.com/office/drawing/2014/main" id="{B62C450D-D6CC-4B76-A7D1-7DA69B3A5D4B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33337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2141934"/>
            <a:ext cx="3257550" cy="1221581"/>
          </a:xfrm>
          <a:prstGeom prst="rect">
            <a:avLst/>
          </a:prstGeom>
        </p:spPr>
      </p:pic>
      <p:sp>
        <p:nvSpPr>
          <p:cNvPr id="7" name="b1-metric-0">
            <a:extLst>
              <a:ext uri="{FF2B5EF4-FFF2-40B4-BE49-F238E27FC236}">
                <a16:creationId xmlns:a16="http://schemas.microsoft.com/office/drawing/2014/main" id="{F601AD32-3545-4387-BF46-B1F440CD5DE5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3333750" cy="876300"/>
          </a:xfrm>
          <a:prstGeom prst="roundRect">
            <a:avLst>
              <a:gd name="adj" fmla="val 8696"/>
            </a:avLst>
          </a:prstGeom>
          <a:solidFill>
            <a:srgbClr val="FBEDEE"/>
          </a:solidFill>
          <a:ln w="9525">
            <a:solidFill>
              <a:srgbClr val="D64A4A"/>
            </a:solidFill>
            <a:prstDash val="solid"/>
          </a:ln>
        </p:spPr>
      </p:sp>
      <p:sp>
        <p:nvSpPr>
          <p:cNvPr id="8" name="b1-value-0">
            <a:extLst>
              <a:ext uri="{FF2B5EF4-FFF2-40B4-BE49-F238E27FC236}">
                <a16:creationId xmlns:a16="http://schemas.microsoft.com/office/drawing/2014/main" id="{0DFC1C28-F1DC-4761-948B-6479C069415D}"/>
              </a:ext>
            </a:extLst>
          </p:cNvPr>
          <p:cNvSpPr>
            <a:spLocks noGrp="1"/>
          </p:cNvSpPr>
          <p:nvPr/>
        </p:nvSpPr>
        <p:spPr>
          <a:xfrm>
            <a:off x="781050" y="41910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D64A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4A4A"/>
                </a:solidFill>
                <a:latin typeface="Arial"/>
                <a:ea typeface="Arial"/>
                <a:cs typeface="Arial"/>
              </a:rPr>
              <a:t>最差样本充分覆盖 64.5%</a:t>
            </a:r>
          </a:p>
        </p:txBody>
      </p:sp>
      <p:sp>
        <p:nvSpPr>
          <p:cNvPr id="9" name="b1-rule-0">
            <a:extLst>
              <a:ext uri="{FF2B5EF4-FFF2-40B4-BE49-F238E27FC236}">
                <a16:creationId xmlns:a16="http://schemas.microsoft.com/office/drawing/2014/main" id="{C6B62A16-5E34-4358-8A1B-713A81DD6030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仍有明显漏空</a:t>
            </a:r>
          </a:p>
        </p:txBody>
      </p:sp>
      <p:sp>
        <p:nvSpPr>
          <p:cNvPr id="10" name="b1-title-1">
            <a:extLst>
              <a:ext uri="{FF2B5EF4-FFF2-40B4-BE49-F238E27FC236}">
                <a16:creationId xmlns:a16="http://schemas.microsoft.com/office/drawing/2014/main" id="{E1EC072C-FEE5-48D4-B0BE-2D3D7F5D5D90}"/>
              </a:ext>
            </a:extLst>
          </p:cNvPr>
          <p:cNvSpPr>
            <a:spLocks noGrp="1"/>
          </p:cNvSpPr>
          <p:nvPr/>
        </p:nvSpPr>
        <p:spPr>
          <a:xfrm>
            <a:off x="4314825" y="12192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532"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遮挡顺序错误</a:t>
            </a:r>
          </a:p>
        </p:txBody>
      </p:sp>
      <p:sp>
        <p:nvSpPr>
          <p:cNvPr id="11" name="b1-border-1">
            <a:extLst>
              <a:ext uri="{FF2B5EF4-FFF2-40B4-BE49-F238E27FC236}">
                <a16:creationId xmlns:a16="http://schemas.microsoft.com/office/drawing/2014/main" id="{1DEBFA44-1235-4CD7-8D73-A9B5B204F3EC}"/>
              </a:ext>
            </a:extLst>
          </p:cNvPr>
          <p:cNvSpPr>
            <a:spLocks noGrp="1"/>
          </p:cNvSpPr>
          <p:nvPr/>
        </p:nvSpPr>
        <p:spPr>
          <a:xfrm>
            <a:off x="4314825" y="1562100"/>
            <a:ext cx="33337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52925" y="2141934"/>
            <a:ext cx="3257550" cy="1221581"/>
          </a:xfrm>
          <a:prstGeom prst="rect">
            <a:avLst/>
          </a:prstGeom>
        </p:spPr>
      </p:pic>
      <p:sp>
        <p:nvSpPr>
          <p:cNvPr id="13" name="b1-metric-1">
            <a:extLst>
              <a:ext uri="{FF2B5EF4-FFF2-40B4-BE49-F238E27FC236}">
                <a16:creationId xmlns:a16="http://schemas.microsoft.com/office/drawing/2014/main" id="{DD66DB58-56B4-4A04-BD9B-4194C3CE8096}"/>
              </a:ext>
            </a:extLst>
          </p:cNvPr>
          <p:cNvSpPr>
            <a:spLocks noGrp="1"/>
          </p:cNvSpPr>
          <p:nvPr/>
        </p:nvSpPr>
        <p:spPr>
          <a:xfrm>
            <a:off x="4314825" y="4095750"/>
            <a:ext cx="3333750" cy="876300"/>
          </a:xfrm>
          <a:prstGeom prst="roundRect">
            <a:avLst>
              <a:gd name="adj" fmla="val 8696"/>
            </a:avLst>
          </a:prstGeom>
          <a:solidFill>
            <a:srgbClr val="FBEDEE"/>
          </a:solidFill>
          <a:ln w="9525">
            <a:solidFill>
              <a:srgbClr val="D64A4A"/>
            </a:solidFill>
            <a:prstDash val="solid"/>
          </a:ln>
        </p:spPr>
      </p:sp>
      <p:sp>
        <p:nvSpPr>
          <p:cNvPr id="14" name="b1-value-1">
            <a:extLst>
              <a:ext uri="{FF2B5EF4-FFF2-40B4-BE49-F238E27FC236}">
                <a16:creationId xmlns:a16="http://schemas.microsoft.com/office/drawing/2014/main" id="{E2151B7B-B7C9-4584-B993-12721F136D29}"/>
              </a:ext>
            </a:extLst>
          </p:cNvPr>
          <p:cNvSpPr>
            <a:spLocks noGrp="1"/>
          </p:cNvSpPr>
          <p:nvPr/>
        </p:nvSpPr>
        <p:spPr>
          <a:xfrm>
            <a:off x="4410075" y="41910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D64A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4A4A"/>
                </a:solidFill>
                <a:latin typeface="Arial"/>
                <a:ea typeface="Arial"/>
                <a:cs typeface="Arial"/>
              </a:rPr>
              <a:t>最差为 11.15%</a:t>
            </a:r>
          </a:p>
        </p:txBody>
      </p:sp>
      <p:sp>
        <p:nvSpPr>
          <p:cNvPr id="15" name="b1-rule-1">
            <a:extLst>
              <a:ext uri="{FF2B5EF4-FFF2-40B4-BE49-F238E27FC236}">
                <a16:creationId xmlns:a16="http://schemas.microsoft.com/office/drawing/2014/main" id="{2E722F07-26C1-438C-8B70-3E1EA5A6DC24}"/>
              </a:ext>
            </a:extLst>
          </p:cNvPr>
          <p:cNvSpPr>
            <a:spLocks noGrp="1"/>
          </p:cNvSpPr>
          <p:nvPr/>
        </p:nvSpPr>
        <p:spPr>
          <a:xfrm>
            <a:off x="4410075" y="45529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预期不超过 10%</a:t>
            </a:r>
          </a:p>
        </p:txBody>
      </p:sp>
      <p:sp>
        <p:nvSpPr>
          <p:cNvPr id="16" name="b1-title-2">
            <a:extLst>
              <a:ext uri="{FF2B5EF4-FFF2-40B4-BE49-F238E27FC236}">
                <a16:creationId xmlns:a16="http://schemas.microsoft.com/office/drawing/2014/main" id="{76165FD1-D821-4149-8FF2-D7E419043127}"/>
              </a:ext>
            </a:extLst>
          </p:cNvPr>
          <p:cNvSpPr>
            <a:spLocks noGrp="1"/>
          </p:cNvSpPr>
          <p:nvPr/>
        </p:nvSpPr>
        <p:spPr>
          <a:xfrm>
            <a:off x="7943850" y="12192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532"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输入画面颜色发生变化</a:t>
            </a:r>
          </a:p>
        </p:txBody>
      </p:sp>
      <p:sp>
        <p:nvSpPr>
          <p:cNvPr id="17" name="b1-border-2">
            <a:extLst>
              <a:ext uri="{FF2B5EF4-FFF2-40B4-BE49-F238E27FC236}">
                <a16:creationId xmlns:a16="http://schemas.microsoft.com/office/drawing/2014/main" id="{2FC67C1F-C6FA-4966-BF0B-19378FEC425D}"/>
              </a:ext>
            </a:extLst>
          </p:cNvPr>
          <p:cNvSpPr>
            <a:spLocks noGrp="1"/>
          </p:cNvSpPr>
          <p:nvPr/>
        </p:nvSpPr>
        <p:spPr>
          <a:xfrm>
            <a:off x="7943850" y="1562100"/>
            <a:ext cx="33337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81950" y="2141934"/>
            <a:ext cx="3257550" cy="1221581"/>
          </a:xfrm>
          <a:prstGeom prst="rect">
            <a:avLst/>
          </a:prstGeom>
        </p:spPr>
      </p:pic>
      <p:sp>
        <p:nvSpPr>
          <p:cNvPr id="19" name="b1-metric-2">
            <a:extLst>
              <a:ext uri="{FF2B5EF4-FFF2-40B4-BE49-F238E27FC236}">
                <a16:creationId xmlns:a16="http://schemas.microsoft.com/office/drawing/2014/main" id="{AB7924F9-9951-41C3-AF01-4FD9C3CDC088}"/>
              </a:ext>
            </a:extLst>
          </p:cNvPr>
          <p:cNvSpPr>
            <a:spLocks noGrp="1"/>
          </p:cNvSpPr>
          <p:nvPr/>
        </p:nvSpPr>
        <p:spPr>
          <a:xfrm>
            <a:off x="7943850" y="4095750"/>
            <a:ext cx="3333750" cy="876300"/>
          </a:xfrm>
          <a:prstGeom prst="roundRect">
            <a:avLst>
              <a:gd name="adj" fmla="val 8696"/>
            </a:avLst>
          </a:prstGeom>
          <a:solidFill>
            <a:srgbClr val="FBEDEE"/>
          </a:solidFill>
          <a:ln w="9525">
            <a:solidFill>
              <a:srgbClr val="D64A4A"/>
            </a:solidFill>
            <a:prstDash val="solid"/>
          </a:ln>
        </p:spPr>
      </p:sp>
      <p:sp>
        <p:nvSpPr>
          <p:cNvPr id="20" name="b1-value-2">
            <a:extLst>
              <a:ext uri="{FF2B5EF4-FFF2-40B4-BE49-F238E27FC236}">
                <a16:creationId xmlns:a16="http://schemas.microsoft.com/office/drawing/2014/main" id="{71735AB4-1B08-4087-BA6B-014EF9EF3242}"/>
              </a:ext>
            </a:extLst>
          </p:cNvPr>
          <p:cNvSpPr>
            <a:spLocks noGrp="1"/>
          </p:cNvSpPr>
          <p:nvPr/>
        </p:nvSpPr>
        <p:spPr>
          <a:xfrm>
            <a:off x="8039100" y="41910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48225" lnSpcReduction="10000"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D64A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4A4A"/>
                </a:solidFill>
                <a:latin typeface="Arial"/>
                <a:ea typeface="Arial"/>
                <a:cs typeface="Arial"/>
              </a:rPr>
              <a:t>最差误差 24.349</a:t>
            </a:r>
          </a:p>
          <a:p>
            <a:pPr algn="ctr">
              <a:lnSpc>
                <a:spcPct val="108000"/>
              </a:lnSpc>
              <a:buNone/>
              <a:defRPr sz="1800" b="1">
                <a:solidFill>
                  <a:srgbClr val="D64A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4A4A"/>
                </a:solidFill>
                <a:latin typeface="Arial"/>
                <a:ea typeface="Arial"/>
                <a:cs typeface="Arial"/>
              </a:rPr>
              <a:t>明显高于参考值 12</a:t>
            </a:r>
          </a:p>
        </p:txBody>
      </p:sp>
      <p:sp>
        <p:nvSpPr>
          <p:cNvPr id="21" name="b1-rule-2">
            <a:extLst>
              <a:ext uri="{FF2B5EF4-FFF2-40B4-BE49-F238E27FC236}">
                <a16:creationId xmlns:a16="http://schemas.microsoft.com/office/drawing/2014/main" id="{B8006DC1-FE90-49AA-A304-9CF8314FBD27}"/>
              </a:ext>
            </a:extLst>
          </p:cNvPr>
          <p:cNvSpPr>
            <a:spLocks noGrp="1"/>
          </p:cNvSpPr>
          <p:nvPr/>
        </p:nvSpPr>
        <p:spPr>
          <a:xfrm>
            <a:off x="8039100" y="45529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1328" lnSpcReduction="20000"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对应误差最大样本，仅用于定位；并非颜色误差热力图</a:t>
            </a:r>
          </a:p>
        </p:txBody>
      </p:sp>
      <p:sp>
        <p:nvSpPr>
          <p:cNvPr id="22" name="b1-extra">
            <a:extLst>
              <a:ext uri="{FF2B5EF4-FFF2-40B4-BE49-F238E27FC236}">
                <a16:creationId xmlns:a16="http://schemas.microsoft.com/office/drawing/2014/main" id="{0BD2BEFE-464B-4203-8CD2-97F5EFA962AE}"/>
              </a:ext>
            </a:extLst>
          </p:cNvPr>
          <p:cNvSpPr>
            <a:spLocks noGrp="1"/>
          </p:cNvSpPr>
          <p:nvPr/>
        </p:nvSpPr>
        <p:spPr>
          <a:xfrm>
            <a:off x="1524000" y="5191125"/>
            <a:ext cx="914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D6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64A4A"/>
                </a:solidFill>
                <a:latin typeface="Microsoft YaHei"/>
                <a:ea typeface="Microsoft YaHei"/>
                <a:cs typeface="Microsoft YaHei"/>
              </a:rPr>
              <a:t>部分平均指标表现较好，但最差样本仍有明显漏空、错序和颜色变化，因此整体结果还不能认为可用。</a:t>
            </a:r>
          </a:p>
        </p:txBody>
      </p:sp>
      <p:sp>
        <p:nvSpPr>
          <p:cNvPr id="23" name="conclusion-band">
            <a:extLst>
              <a:ext uri="{FF2B5EF4-FFF2-40B4-BE49-F238E27FC236}">
                <a16:creationId xmlns:a16="http://schemas.microsoft.com/office/drawing/2014/main" id="{A1B030BE-9EC0-4241-8AF9-C6A59A237CAA}"/>
              </a:ext>
            </a:extLst>
          </p:cNvPr>
          <p:cNvSpPr>
            <a:spLocks noGrp="1"/>
          </p:cNvSpPr>
          <p:nvPr/>
        </p:nvSpPr>
        <p:spPr>
          <a:xfrm>
            <a:off x="666750" y="5829300"/>
            <a:ext cx="10858500" cy="438150"/>
          </a:xfrm>
          <a:prstGeom prst="rect">
            <a:avLst/>
          </a:prstGeom>
          <a:solidFill>
            <a:srgbClr val="EEF5FB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24" name="conclusion">
            <a:extLst>
              <a:ext uri="{FF2B5EF4-FFF2-40B4-BE49-F238E27FC236}">
                <a16:creationId xmlns:a16="http://schemas.microsoft.com/office/drawing/2014/main" id="{CA8CBF82-3A71-4302-9553-BBF6E92C849C}"/>
              </a:ext>
            </a:extLst>
          </p:cNvPr>
          <p:cNvSpPr>
            <a:spLocks noGrp="1"/>
          </p:cNvSpPr>
          <p:nvPr/>
        </p:nvSpPr>
        <p:spPr>
          <a:xfrm>
            <a:off x="838200" y="5867400"/>
            <a:ext cx="10515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现有结果主要暴露三类问题：表面没有连续覆盖、前后遮挡关系不正确，以及原输入画面的颜色不能稳定保持。</a:t>
            </a:r>
          </a:p>
        </p:txBody>
      </p:sp>
      <p:sp>
        <p:nvSpPr>
          <p:cNvPr id="25" name="source">
            <a:extLst>
              <a:ext uri="{FF2B5EF4-FFF2-40B4-BE49-F238E27FC236}">
                <a16:creationId xmlns:a16="http://schemas.microsoft.com/office/drawing/2014/main" id="{5A9E87ED-0F33-464E-9597-7AFB1FC217A0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数值来自理想输入下的留一视图实验；三张图片提供的视觉信息并不完全相同。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-7">
            <a:extLst>
              <a:ext uri="{FF2B5EF4-FFF2-40B4-BE49-F238E27FC236}">
                <a16:creationId xmlns:a16="http://schemas.microsoft.com/office/drawing/2014/main" id="{218DEF6B-1AFA-482C-8FCE-1BCC01F5F486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铺宽高斯能减少空洞，但原图颜色误差随之增加</a:t>
            </a:r>
          </a:p>
        </p:txBody>
      </p:sp>
      <p:sp>
        <p:nvSpPr>
          <p:cNvPr id="2" name="subtitle-7">
            <a:extLst>
              <a:ext uri="{FF2B5EF4-FFF2-40B4-BE49-F238E27FC236}">
                <a16:creationId xmlns:a16="http://schemas.microsoft.com/office/drawing/2014/main" id="{0778A233-E7F6-4BE1-BA2B-CA712A5FFD83}"/>
              </a:ext>
            </a:extLst>
          </p:cNvPr>
          <p:cNvSpPr>
            <a:spLocks noGrp="1"/>
          </p:cNvSpPr>
          <p:nvPr/>
        </p:nvSpPr>
        <p:spPr>
          <a:xfrm>
            <a:off x="685800" y="942975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本次只改变高斯在屏幕上的铺展范围</a:t>
            </a:r>
          </a:p>
        </p:txBody>
      </p:sp>
      <p:sp>
        <p:nvSpPr>
          <p:cNvPr id="3" name="page-7">
            <a:extLst>
              <a:ext uri="{FF2B5EF4-FFF2-40B4-BE49-F238E27FC236}">
                <a16:creationId xmlns:a16="http://schemas.microsoft.com/office/drawing/2014/main" id="{E506EAC1-4B01-4C23-92AB-C642A47F2232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r1-scale-0">
            <a:extLst>
              <a:ext uri="{FF2B5EF4-FFF2-40B4-BE49-F238E27FC236}">
                <a16:creationId xmlns:a16="http://schemas.microsoft.com/office/drawing/2014/main" id="{C0740469-580A-493B-862E-84FDFBDD7EA0}"/>
              </a:ext>
            </a:extLst>
          </p:cNvPr>
          <p:cNvSpPr>
            <a:spLocks noGrp="1"/>
          </p:cNvSpPr>
          <p:nvPr/>
        </p:nvSpPr>
        <p:spPr>
          <a:xfrm>
            <a:off x="742950" y="12192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93"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铺展倍数 0.70</a:t>
            </a:r>
          </a:p>
        </p:txBody>
      </p:sp>
      <p:sp>
        <p:nvSpPr>
          <p:cNvPr id="5" name="r1-border-0">
            <a:extLst>
              <a:ext uri="{FF2B5EF4-FFF2-40B4-BE49-F238E27FC236}">
                <a16:creationId xmlns:a16="http://schemas.microsoft.com/office/drawing/2014/main" id="{2BE713BC-BE44-4051-9643-B226CA948974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3238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" y="2140744"/>
            <a:ext cx="3162300" cy="1185863"/>
          </a:xfrm>
          <a:prstGeom prst="rect">
            <a:avLst/>
          </a:prstGeom>
        </p:spPr>
      </p:pic>
      <p:sp>
        <p:nvSpPr>
          <p:cNvPr id="7" name="r1-metric-0">
            <a:extLst>
              <a:ext uri="{FF2B5EF4-FFF2-40B4-BE49-F238E27FC236}">
                <a16:creationId xmlns:a16="http://schemas.microsoft.com/office/drawing/2014/main" id="{AC27D91C-BD6E-4BAF-B19B-C06082703213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3238500" cy="1000125"/>
          </a:xfrm>
          <a:prstGeom prst="roundRect">
            <a:avLst>
              <a:gd name="adj" fmla="val 7619"/>
            </a:avLst>
          </a:prstGeom>
          <a:solidFill>
            <a:srgbClr val="F7FAFD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8" name="r1-alpha-0">
            <a:extLst>
              <a:ext uri="{FF2B5EF4-FFF2-40B4-BE49-F238E27FC236}">
                <a16:creationId xmlns:a16="http://schemas.microsoft.com/office/drawing/2014/main" id="{8F0EAC88-8CFD-49CF-8F87-90104D01BB39}"/>
              </a:ext>
            </a:extLst>
          </p:cNvPr>
          <p:cNvSpPr>
            <a:spLocks noGrp="1"/>
          </p:cNvSpPr>
          <p:nvPr/>
        </p:nvSpPr>
        <p:spPr>
          <a:xfrm>
            <a:off x="857250" y="4152900"/>
            <a:ext cx="3009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整体覆盖率  89.85%</a:t>
            </a:r>
          </a:p>
        </p:txBody>
      </p:sp>
      <p:sp>
        <p:nvSpPr>
          <p:cNvPr id="9" name="r1-rgb-0">
            <a:extLst>
              <a:ext uri="{FF2B5EF4-FFF2-40B4-BE49-F238E27FC236}">
                <a16:creationId xmlns:a16="http://schemas.microsoft.com/office/drawing/2014/main" id="{1610B1CB-D126-432A-83E7-3D410E5C5BCC}"/>
              </a:ext>
            </a:extLst>
          </p:cNvPr>
          <p:cNvSpPr>
            <a:spLocks noGrp="1"/>
          </p:cNvSpPr>
          <p:nvPr/>
        </p:nvSpPr>
        <p:spPr>
          <a:xfrm>
            <a:off x="857250" y="4552950"/>
            <a:ext cx="3009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D6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4A4A"/>
                </a:solidFill>
                <a:latin typeface="Microsoft YaHei"/>
                <a:ea typeface="Microsoft YaHei"/>
                <a:cs typeface="Microsoft YaHei"/>
              </a:rPr>
              <a:t>输入画面最差颜色误差  11.147</a:t>
            </a:r>
          </a:p>
        </p:txBody>
      </p:sp>
      <p:sp>
        <p:nvSpPr>
          <p:cNvPr id="10" name="r1-scale-1">
            <a:extLst>
              <a:ext uri="{FF2B5EF4-FFF2-40B4-BE49-F238E27FC236}">
                <a16:creationId xmlns:a16="http://schemas.microsoft.com/office/drawing/2014/main" id="{F0BE304D-5A98-492C-B983-797F51235D93}"/>
              </a:ext>
            </a:extLst>
          </p:cNvPr>
          <p:cNvSpPr>
            <a:spLocks noGrp="1"/>
          </p:cNvSpPr>
          <p:nvPr/>
        </p:nvSpPr>
        <p:spPr>
          <a:xfrm>
            <a:off x="4343400" y="12192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93"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铺展倍数 1.00</a:t>
            </a:r>
          </a:p>
        </p:txBody>
      </p:sp>
      <p:sp>
        <p:nvSpPr>
          <p:cNvPr id="11" name="r1-border-1">
            <a:extLst>
              <a:ext uri="{FF2B5EF4-FFF2-40B4-BE49-F238E27FC236}">
                <a16:creationId xmlns:a16="http://schemas.microsoft.com/office/drawing/2014/main" id="{83269145-4989-430F-8F70-B8EF78C6661D}"/>
              </a:ext>
            </a:extLst>
          </p:cNvPr>
          <p:cNvSpPr>
            <a:spLocks noGrp="1"/>
          </p:cNvSpPr>
          <p:nvPr/>
        </p:nvSpPr>
        <p:spPr>
          <a:xfrm>
            <a:off x="4343400" y="1562100"/>
            <a:ext cx="3238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81500" y="2140744"/>
            <a:ext cx="3162300" cy="1185863"/>
          </a:xfrm>
          <a:prstGeom prst="rect">
            <a:avLst/>
          </a:prstGeom>
        </p:spPr>
      </p:pic>
      <p:sp>
        <p:nvSpPr>
          <p:cNvPr id="13" name="r1-metric-1">
            <a:extLst>
              <a:ext uri="{FF2B5EF4-FFF2-40B4-BE49-F238E27FC236}">
                <a16:creationId xmlns:a16="http://schemas.microsoft.com/office/drawing/2014/main" id="{C7CE05A9-F683-4CD5-87DA-6683F7A242CF}"/>
              </a:ext>
            </a:extLst>
          </p:cNvPr>
          <p:cNvSpPr>
            <a:spLocks noGrp="1"/>
          </p:cNvSpPr>
          <p:nvPr/>
        </p:nvSpPr>
        <p:spPr>
          <a:xfrm>
            <a:off x="4343400" y="4038600"/>
            <a:ext cx="3238500" cy="1000125"/>
          </a:xfrm>
          <a:prstGeom prst="roundRect">
            <a:avLst>
              <a:gd name="adj" fmla="val 7619"/>
            </a:avLst>
          </a:prstGeom>
          <a:solidFill>
            <a:srgbClr val="F7FAFD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14" name="r1-alpha-1">
            <a:extLst>
              <a:ext uri="{FF2B5EF4-FFF2-40B4-BE49-F238E27FC236}">
                <a16:creationId xmlns:a16="http://schemas.microsoft.com/office/drawing/2014/main" id="{DEE137C8-1599-4A5C-A0FB-DBAD9784E822}"/>
              </a:ext>
            </a:extLst>
          </p:cNvPr>
          <p:cNvSpPr>
            <a:spLocks noGrp="1"/>
          </p:cNvSpPr>
          <p:nvPr/>
        </p:nvSpPr>
        <p:spPr>
          <a:xfrm>
            <a:off x="4457700" y="4152900"/>
            <a:ext cx="3009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整体覆盖率  97.58%</a:t>
            </a:r>
          </a:p>
        </p:txBody>
      </p:sp>
      <p:sp>
        <p:nvSpPr>
          <p:cNvPr id="15" name="r1-rgb-1">
            <a:extLst>
              <a:ext uri="{FF2B5EF4-FFF2-40B4-BE49-F238E27FC236}">
                <a16:creationId xmlns:a16="http://schemas.microsoft.com/office/drawing/2014/main" id="{AE753E0D-C24B-4FAD-BED2-DADFD25C0FF0}"/>
              </a:ext>
            </a:extLst>
          </p:cNvPr>
          <p:cNvSpPr>
            <a:spLocks noGrp="1"/>
          </p:cNvSpPr>
          <p:nvPr/>
        </p:nvSpPr>
        <p:spPr>
          <a:xfrm>
            <a:off x="4457700" y="4552950"/>
            <a:ext cx="3009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D6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4A4A"/>
                </a:solidFill>
                <a:latin typeface="Microsoft YaHei"/>
                <a:ea typeface="Microsoft YaHei"/>
                <a:cs typeface="Microsoft YaHei"/>
              </a:rPr>
              <a:t>输入画面最差颜色误差  14.235</a:t>
            </a:r>
          </a:p>
        </p:txBody>
      </p:sp>
      <p:sp>
        <p:nvSpPr>
          <p:cNvPr id="16" name="r1-scale-2">
            <a:extLst>
              <a:ext uri="{FF2B5EF4-FFF2-40B4-BE49-F238E27FC236}">
                <a16:creationId xmlns:a16="http://schemas.microsoft.com/office/drawing/2014/main" id="{0070247D-1006-4D74-A05A-00F05E8E6EF1}"/>
              </a:ext>
            </a:extLst>
          </p:cNvPr>
          <p:cNvSpPr>
            <a:spLocks noGrp="1"/>
          </p:cNvSpPr>
          <p:nvPr/>
        </p:nvSpPr>
        <p:spPr>
          <a:xfrm>
            <a:off x="7943850" y="12192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93"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铺展倍数 1.15</a:t>
            </a:r>
          </a:p>
        </p:txBody>
      </p:sp>
      <p:sp>
        <p:nvSpPr>
          <p:cNvPr id="17" name="r1-border-2">
            <a:extLst>
              <a:ext uri="{FF2B5EF4-FFF2-40B4-BE49-F238E27FC236}">
                <a16:creationId xmlns:a16="http://schemas.microsoft.com/office/drawing/2014/main" id="{73465674-653A-4B08-81C9-87A02CF3B28D}"/>
              </a:ext>
            </a:extLst>
          </p:cNvPr>
          <p:cNvSpPr>
            <a:spLocks noGrp="1"/>
          </p:cNvSpPr>
          <p:nvPr/>
        </p:nvSpPr>
        <p:spPr>
          <a:xfrm>
            <a:off x="7943850" y="1562100"/>
            <a:ext cx="3238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81950" y="2140744"/>
            <a:ext cx="3162300" cy="1185863"/>
          </a:xfrm>
          <a:prstGeom prst="rect">
            <a:avLst/>
          </a:prstGeom>
        </p:spPr>
      </p:pic>
      <p:sp>
        <p:nvSpPr>
          <p:cNvPr id="19" name="r1-metric-2">
            <a:extLst>
              <a:ext uri="{FF2B5EF4-FFF2-40B4-BE49-F238E27FC236}">
                <a16:creationId xmlns:a16="http://schemas.microsoft.com/office/drawing/2014/main" id="{2870E480-FD3B-4D09-B067-6C5E575AFD81}"/>
              </a:ext>
            </a:extLst>
          </p:cNvPr>
          <p:cNvSpPr>
            <a:spLocks noGrp="1"/>
          </p:cNvSpPr>
          <p:nvPr/>
        </p:nvSpPr>
        <p:spPr>
          <a:xfrm>
            <a:off x="7943850" y="4038600"/>
            <a:ext cx="3238500" cy="1000125"/>
          </a:xfrm>
          <a:prstGeom prst="roundRect">
            <a:avLst>
              <a:gd name="adj" fmla="val 7619"/>
            </a:avLst>
          </a:prstGeom>
          <a:solidFill>
            <a:srgbClr val="F7FAFD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20" name="r1-alpha-2">
            <a:extLst>
              <a:ext uri="{FF2B5EF4-FFF2-40B4-BE49-F238E27FC236}">
                <a16:creationId xmlns:a16="http://schemas.microsoft.com/office/drawing/2014/main" id="{048CECFC-DC3E-4A99-9E3D-E1CD52AEDC0E}"/>
              </a:ext>
            </a:extLst>
          </p:cNvPr>
          <p:cNvSpPr>
            <a:spLocks noGrp="1"/>
          </p:cNvSpPr>
          <p:nvPr/>
        </p:nvSpPr>
        <p:spPr>
          <a:xfrm>
            <a:off x="8058150" y="4152900"/>
            <a:ext cx="3009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整体覆盖率  98.88%</a:t>
            </a:r>
          </a:p>
        </p:txBody>
      </p:sp>
      <p:sp>
        <p:nvSpPr>
          <p:cNvPr id="21" name="r1-rgb-2">
            <a:extLst>
              <a:ext uri="{FF2B5EF4-FFF2-40B4-BE49-F238E27FC236}">
                <a16:creationId xmlns:a16="http://schemas.microsoft.com/office/drawing/2014/main" id="{05E60B08-58BD-4BDC-A4EA-A6EADB726A0C}"/>
              </a:ext>
            </a:extLst>
          </p:cNvPr>
          <p:cNvSpPr>
            <a:spLocks noGrp="1"/>
          </p:cNvSpPr>
          <p:nvPr/>
        </p:nvSpPr>
        <p:spPr>
          <a:xfrm>
            <a:off x="8058150" y="4552950"/>
            <a:ext cx="3009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D6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4A4A"/>
                </a:solidFill>
                <a:latin typeface="Microsoft YaHei"/>
                <a:ea typeface="Microsoft YaHei"/>
                <a:cs typeface="Microsoft YaHei"/>
              </a:rPr>
              <a:t>输入画面最差颜色误差  15.542</a:t>
            </a:r>
          </a:p>
        </p:txBody>
      </p:sp>
      <p:sp>
        <p:nvSpPr>
          <p:cNvPr id="22" name="r1-trend">
            <a:extLst>
              <a:ext uri="{FF2B5EF4-FFF2-40B4-BE49-F238E27FC236}">
                <a16:creationId xmlns:a16="http://schemas.microsoft.com/office/drawing/2014/main" id="{084F7FF5-D7CF-4C65-9713-10981AEB8188}"/>
              </a:ext>
            </a:extLst>
          </p:cNvPr>
          <p:cNvSpPr>
            <a:spLocks noGrp="1"/>
          </p:cNvSpPr>
          <p:nvPr/>
        </p:nvSpPr>
        <p:spPr>
          <a:xfrm>
            <a:off x="1047750" y="5219700"/>
            <a:ext cx="1009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高斯铺得越宽，覆盖越完整；但输入画面的颜色误差也持续增大。四种设置都没有同时兼顾覆盖和颜色。</a:t>
            </a:r>
          </a:p>
        </p:txBody>
      </p:sp>
      <p:sp>
        <p:nvSpPr>
          <p:cNvPr id="23" name="conclusion-band">
            <a:extLst>
              <a:ext uri="{FF2B5EF4-FFF2-40B4-BE49-F238E27FC236}">
                <a16:creationId xmlns:a16="http://schemas.microsoft.com/office/drawing/2014/main" id="{A3E54E03-AD2A-48E7-8477-C0834EC9BF92}"/>
              </a:ext>
            </a:extLst>
          </p:cNvPr>
          <p:cNvSpPr>
            <a:spLocks noGrp="1"/>
          </p:cNvSpPr>
          <p:nvPr/>
        </p:nvSpPr>
        <p:spPr>
          <a:xfrm>
            <a:off x="666750" y="5829300"/>
            <a:ext cx="10858500" cy="438150"/>
          </a:xfrm>
          <a:prstGeom prst="rect">
            <a:avLst/>
          </a:prstGeom>
          <a:solidFill>
            <a:srgbClr val="EEF5FB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24" name="conclusion">
            <a:extLst>
              <a:ext uri="{FF2B5EF4-FFF2-40B4-BE49-F238E27FC236}">
                <a16:creationId xmlns:a16="http://schemas.microsoft.com/office/drawing/2014/main" id="{86E2C561-239E-40AD-AE7C-73CEBA45B4FC}"/>
              </a:ext>
            </a:extLst>
          </p:cNvPr>
          <p:cNvSpPr>
            <a:spLocks noGrp="1"/>
          </p:cNvSpPr>
          <p:nvPr/>
        </p:nvSpPr>
        <p:spPr>
          <a:xfrm>
            <a:off x="838200" y="5867400"/>
            <a:ext cx="10515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3712" lnSpcReduction="10000"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统一铺宽高斯能够减少孔隙，但同时观察到输入颜色误差增加。具体原因可能涉及表面重叠、透明度累积或颜色差异，目前还不能确认。</a:t>
            </a:r>
          </a:p>
        </p:txBody>
      </p:sp>
      <p:sp>
        <p:nvSpPr>
          <p:cNvPr id="25" name="source">
            <a:extLst>
              <a:ext uri="{FF2B5EF4-FFF2-40B4-BE49-F238E27FC236}">
                <a16:creationId xmlns:a16="http://schemas.microsoft.com/office/drawing/2014/main" id="{CDCBDA69-C600-494D-8032-EEDB9D3A36C6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表中颜色误差采用各设置下的最差样本结果。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-8">
            <a:extLst>
              <a:ext uri="{FF2B5EF4-FFF2-40B4-BE49-F238E27FC236}">
                <a16:creationId xmlns:a16="http://schemas.microsoft.com/office/drawing/2014/main" id="{4FF2AAEA-0E1C-465C-90A7-F4B2C5758931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加入另一视图后颜色误差升高，但原因尚未确认</a:t>
            </a:r>
          </a:p>
        </p:txBody>
      </p:sp>
      <p:sp>
        <p:nvSpPr>
          <p:cNvPr id="2" name="subtitle-8">
            <a:extLst>
              <a:ext uri="{FF2B5EF4-FFF2-40B4-BE49-F238E27FC236}">
                <a16:creationId xmlns:a16="http://schemas.microsoft.com/office/drawing/2014/main" id="{702C4023-5672-4E08-A1FC-59FE947DEFF8}"/>
              </a:ext>
            </a:extLst>
          </p:cNvPr>
          <p:cNvSpPr>
            <a:spLocks noGrp="1"/>
          </p:cNvSpPr>
          <p:nvPr/>
        </p:nvSpPr>
        <p:spPr>
          <a:xfrm>
            <a:off x="685800" y="942975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加入另一视图前后的颜色比较</a:t>
            </a:r>
          </a:p>
        </p:txBody>
      </p:sp>
      <p:sp>
        <p:nvSpPr>
          <p:cNvPr id="3" name="page-8">
            <a:extLst>
              <a:ext uri="{FF2B5EF4-FFF2-40B4-BE49-F238E27FC236}">
                <a16:creationId xmlns:a16="http://schemas.microsoft.com/office/drawing/2014/main" id="{E79C7C1D-C4D3-4291-B7A4-80F9798594D3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own-box">
            <a:extLst>
              <a:ext uri="{FF2B5EF4-FFF2-40B4-BE49-F238E27FC236}">
                <a16:creationId xmlns:a16="http://schemas.microsoft.com/office/drawing/2014/main" id="{F107C01D-01AD-48EE-B3C1-41B02627327C}"/>
              </a:ext>
            </a:extLst>
          </p:cNvPr>
          <p:cNvSpPr>
            <a:spLocks noGrp="1"/>
          </p:cNvSpPr>
          <p:nvPr/>
        </p:nvSpPr>
        <p:spPr>
          <a:xfrm>
            <a:off x="781050" y="1390650"/>
            <a:ext cx="4524375" cy="2095500"/>
          </a:xfrm>
          <a:prstGeom prst="roundRect">
            <a:avLst>
              <a:gd name="adj" fmla="val 3636"/>
            </a:avLst>
          </a:prstGeom>
          <a:solidFill>
            <a:srgbClr val="EEF5FB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5" name="own-title">
            <a:extLst>
              <a:ext uri="{FF2B5EF4-FFF2-40B4-BE49-F238E27FC236}">
                <a16:creationId xmlns:a16="http://schemas.microsoft.com/office/drawing/2014/main" id="{B79AE0C8-5466-474C-A396-546276227726}"/>
              </a:ext>
            </a:extLst>
          </p:cNvPr>
          <p:cNvSpPr>
            <a:spLocks noGrp="1"/>
          </p:cNvSpPr>
          <p:nvPr/>
        </p:nvSpPr>
        <p:spPr>
          <a:xfrm>
            <a:off x="1066800" y="1581150"/>
            <a:ext cx="3952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只使用当前视图自身内容</a:t>
            </a:r>
          </a:p>
        </p:txBody>
      </p:sp>
      <p:sp>
        <p:nvSpPr>
          <p:cNvPr id="6" name="own-values">
            <a:extLst>
              <a:ext uri="{FF2B5EF4-FFF2-40B4-BE49-F238E27FC236}">
                <a16:creationId xmlns:a16="http://schemas.microsoft.com/office/drawing/2014/main" id="{D36DFA93-F851-4BA0-93DA-4EA31368B5F4}"/>
              </a:ext>
            </a:extLst>
          </p:cNvPr>
          <p:cNvSpPr>
            <a:spLocks noGrp="1"/>
          </p:cNvSpPr>
          <p:nvPr/>
        </p:nvSpPr>
        <p:spPr>
          <a:xfrm>
            <a:off x="990600" y="2133600"/>
            <a:ext cx="41052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5393" lnSpcReduction="20000"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整体 4.9423　｜　加权 4.9379　｜　最差 10.2462</a:t>
            </a:r>
          </a:p>
        </p:txBody>
      </p:sp>
      <p:sp>
        <p:nvSpPr>
          <p:cNvPr id="7" name="own-pass">
            <a:extLst>
              <a:ext uri="{FF2B5EF4-FFF2-40B4-BE49-F238E27FC236}">
                <a16:creationId xmlns:a16="http://schemas.microsoft.com/office/drawing/2014/main" id="{50A4B08F-207A-460B-8AE9-97452C1CACCF}"/>
              </a:ext>
            </a:extLst>
          </p:cNvPr>
          <p:cNvSpPr>
            <a:spLocks noGrp="1"/>
          </p:cNvSpPr>
          <p:nvPr/>
        </p:nvSpPr>
        <p:spPr>
          <a:xfrm>
            <a:off x="1352550" y="2800350"/>
            <a:ext cx="3381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原输入画面基本能够保持</a:t>
            </a:r>
          </a:p>
        </p:txBody>
      </p:sp>
      <p:sp>
        <p:nvSpPr>
          <p:cNvPr id="8" name="fused-box">
            <a:extLst>
              <a:ext uri="{FF2B5EF4-FFF2-40B4-BE49-F238E27FC236}">
                <a16:creationId xmlns:a16="http://schemas.microsoft.com/office/drawing/2014/main" id="{AFD1755D-9E8F-47D1-A052-8207594970F8}"/>
              </a:ext>
            </a:extLst>
          </p:cNvPr>
          <p:cNvSpPr>
            <a:spLocks noGrp="1"/>
          </p:cNvSpPr>
          <p:nvPr/>
        </p:nvSpPr>
        <p:spPr>
          <a:xfrm>
            <a:off x="6886575" y="1390650"/>
            <a:ext cx="4524375" cy="2095500"/>
          </a:xfrm>
          <a:prstGeom prst="roundRect">
            <a:avLst>
              <a:gd name="adj" fmla="val 3636"/>
            </a:avLst>
          </a:prstGeom>
          <a:solidFill>
            <a:srgbClr val="FBEDEE"/>
          </a:solidFill>
          <a:ln w="9525">
            <a:solidFill>
              <a:srgbClr val="D64A4A"/>
            </a:solidFill>
            <a:prstDash val="solid"/>
          </a:ln>
        </p:spPr>
      </p:sp>
      <p:sp>
        <p:nvSpPr>
          <p:cNvPr id="9" name="fused-title">
            <a:extLst>
              <a:ext uri="{FF2B5EF4-FFF2-40B4-BE49-F238E27FC236}">
                <a16:creationId xmlns:a16="http://schemas.microsoft.com/office/drawing/2014/main" id="{9351AD28-8CBE-4149-89AC-D925767D798F}"/>
              </a:ext>
            </a:extLst>
          </p:cNvPr>
          <p:cNvSpPr>
            <a:spLocks noGrp="1"/>
          </p:cNvSpPr>
          <p:nvPr/>
        </p:nvSpPr>
        <p:spPr>
          <a:xfrm>
            <a:off x="7172325" y="1581150"/>
            <a:ext cx="3952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D6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64A4A"/>
                </a:solidFill>
                <a:latin typeface="Microsoft YaHei"/>
                <a:ea typeface="Microsoft YaHei"/>
                <a:cs typeface="Microsoft YaHei"/>
              </a:rPr>
              <a:t>再加入另一构建图的内容</a:t>
            </a:r>
          </a:p>
        </p:txBody>
      </p:sp>
      <p:sp>
        <p:nvSpPr>
          <p:cNvPr id="10" name="fused-values">
            <a:extLst>
              <a:ext uri="{FF2B5EF4-FFF2-40B4-BE49-F238E27FC236}">
                <a16:creationId xmlns:a16="http://schemas.microsoft.com/office/drawing/2014/main" id="{1A1CE018-32FF-4352-B1E4-0CBD97DDBD41}"/>
              </a:ext>
            </a:extLst>
          </p:cNvPr>
          <p:cNvSpPr>
            <a:spLocks noGrp="1"/>
          </p:cNvSpPr>
          <p:nvPr/>
        </p:nvSpPr>
        <p:spPr>
          <a:xfrm>
            <a:off x="7096125" y="2133600"/>
            <a:ext cx="41052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5393" lnSpcReduction="20000"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整体 8.0975　｜　加权 8.0970　｜　最差 14.2347</a:t>
            </a:r>
          </a:p>
        </p:txBody>
      </p:sp>
      <p:sp>
        <p:nvSpPr>
          <p:cNvPr id="11" name="fused-fail">
            <a:extLst>
              <a:ext uri="{FF2B5EF4-FFF2-40B4-BE49-F238E27FC236}">
                <a16:creationId xmlns:a16="http://schemas.microsoft.com/office/drawing/2014/main" id="{66CD9868-BB9D-4BB4-8ED3-2ED47701A625}"/>
              </a:ext>
            </a:extLst>
          </p:cNvPr>
          <p:cNvSpPr>
            <a:spLocks noGrp="1"/>
          </p:cNvSpPr>
          <p:nvPr/>
        </p:nvSpPr>
        <p:spPr>
          <a:xfrm>
            <a:off x="7458075" y="2800350"/>
            <a:ext cx="3381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D6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4A4A"/>
                </a:solidFill>
                <a:latin typeface="Microsoft YaHei"/>
                <a:ea typeface="Microsoft YaHei"/>
                <a:cs typeface="Microsoft YaHei"/>
              </a:rPr>
              <a:t>颜色误差明显增加</a:t>
            </a:r>
          </a:p>
        </p:txBody>
      </p:sp>
      <p:sp>
        <p:nvSpPr>
          <p:cNvPr id="12" name="r2-arrow">
            <a:extLst>
              <a:ext uri="{FF2B5EF4-FFF2-40B4-BE49-F238E27FC236}">
                <a16:creationId xmlns:a16="http://schemas.microsoft.com/office/drawing/2014/main" id="{7AD7CA80-BFC5-4E5D-BCCD-DB1DE8C24025}"/>
              </a:ext>
            </a:extLst>
          </p:cNvPr>
          <p:cNvSpPr>
            <a:spLocks noGrp="1"/>
          </p:cNvSpPr>
          <p:nvPr/>
        </p:nvSpPr>
        <p:spPr>
          <a:xfrm>
            <a:off x="5715000" y="2209800"/>
            <a:ext cx="704850" cy="342900"/>
          </a:xfrm>
          <a:prstGeom prst="rightArrow">
            <a:avLst/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</p:sp>
      <p:sp>
        <p:nvSpPr>
          <p:cNvPr id="13" name="r2-arrow-label">
            <a:extLst>
              <a:ext uri="{FF2B5EF4-FFF2-40B4-BE49-F238E27FC236}">
                <a16:creationId xmlns:a16="http://schemas.microsoft.com/office/drawing/2014/main" id="{A8A6B2CE-0274-4AD7-ABB1-80DAB2C434D6}"/>
              </a:ext>
            </a:extLst>
          </p:cNvPr>
          <p:cNvSpPr>
            <a:spLocks noGrp="1"/>
          </p:cNvSpPr>
          <p:nvPr/>
        </p:nvSpPr>
        <p:spPr>
          <a:xfrm>
            <a:off x="5476875" y="1866900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加入外来内容</a:t>
            </a:r>
          </a:p>
        </p:txBody>
      </p:sp>
      <p:sp>
        <p:nvSpPr>
          <p:cNvPr id="14" name="r2-contrib">
            <a:extLst>
              <a:ext uri="{FF2B5EF4-FFF2-40B4-BE49-F238E27FC236}">
                <a16:creationId xmlns:a16="http://schemas.microsoft.com/office/drawing/2014/main" id="{3D222614-BB30-4FC4-AA49-F14E529DBED3}"/>
              </a:ext>
            </a:extLst>
          </p:cNvPr>
          <p:cNvSpPr>
            <a:spLocks noGrp="1"/>
          </p:cNvSpPr>
          <p:nvPr/>
        </p:nvSpPr>
        <p:spPr>
          <a:xfrm>
            <a:off x="1047750" y="3905250"/>
            <a:ext cx="10096500" cy="1219200"/>
          </a:xfrm>
          <a:prstGeom prst="roundRect">
            <a:avLst>
              <a:gd name="adj" fmla="val 6250"/>
            </a:avLst>
          </a:prstGeom>
          <a:solidFill>
            <a:srgbClr val="F7FAFD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5" name="r2-contrib-title">
            <a:extLst>
              <a:ext uri="{FF2B5EF4-FFF2-40B4-BE49-F238E27FC236}">
                <a16:creationId xmlns:a16="http://schemas.microsoft.com/office/drawing/2014/main" id="{CAD53F23-F9EF-47DB-9074-E479EC79A503}"/>
              </a:ext>
            </a:extLst>
          </p:cNvPr>
          <p:cNvSpPr>
            <a:spLocks noGrp="1"/>
          </p:cNvSpPr>
          <p:nvPr/>
        </p:nvSpPr>
        <p:spPr>
          <a:xfrm>
            <a:off x="1285875" y="40386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47766" lnSpcReduction="10000"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加入另一视图后，误差增加的像素主要与哪些内容同时出现</a:t>
            </a:r>
          </a:p>
        </p:txBody>
      </p:sp>
      <p:sp>
        <p:nvSpPr>
          <p:cNvPr id="16" name="r2-8272">
            <a:extLst>
              <a:ext uri="{FF2B5EF4-FFF2-40B4-BE49-F238E27FC236}">
                <a16:creationId xmlns:a16="http://schemas.microsoft.com/office/drawing/2014/main" id="{EF900C4E-149D-4292-89C0-306663C9EA09}"/>
              </a:ext>
            </a:extLst>
          </p:cNvPr>
          <p:cNvSpPr>
            <a:spLocks noGrp="1"/>
          </p:cNvSpPr>
          <p:nvPr/>
        </p:nvSpPr>
        <p:spPr>
          <a:xfrm>
            <a:off x="3810000" y="400050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93"/>
          </a:bodyPr>
          <a:lstStyle/>
          <a:p>
            <a:pPr algn="ctr">
              <a:lnSpc>
                <a:spcPct val="108000"/>
              </a:lnSpc>
              <a:buNone/>
              <a:defRPr sz="2250" b="1">
                <a:solidFill>
                  <a:srgbClr val="D64A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4A4A"/>
                </a:solidFill>
                <a:latin typeface="Arial"/>
                <a:ea typeface="Arial"/>
                <a:cs typeface="Arial"/>
              </a:rPr>
              <a:t>82.72%</a:t>
            </a:r>
          </a:p>
        </p:txBody>
      </p:sp>
      <p:sp>
        <p:nvSpPr>
          <p:cNvPr id="17" name="r2-8272-label">
            <a:extLst>
              <a:ext uri="{FF2B5EF4-FFF2-40B4-BE49-F238E27FC236}">
                <a16:creationId xmlns:a16="http://schemas.microsoft.com/office/drawing/2014/main" id="{AF91F92F-05EB-428A-BB0E-1758239FD39B}"/>
              </a:ext>
            </a:extLst>
          </p:cNvPr>
          <p:cNvSpPr>
            <a:spLocks noGrp="1"/>
          </p:cNvSpPr>
          <p:nvPr/>
        </p:nvSpPr>
        <p:spPr>
          <a:xfrm>
            <a:off x="5095875" y="40195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同表面的其他视图内容</a:t>
            </a:r>
          </a:p>
        </p:txBody>
      </p:sp>
      <p:sp>
        <p:nvSpPr>
          <p:cNvPr id="18" name="r2-675">
            <a:extLst>
              <a:ext uri="{FF2B5EF4-FFF2-40B4-BE49-F238E27FC236}">
                <a16:creationId xmlns:a16="http://schemas.microsoft.com/office/drawing/2014/main" id="{08044076-73A6-42C8-950B-62CDC8D7D1C3}"/>
              </a:ext>
            </a:extLst>
          </p:cNvPr>
          <p:cNvSpPr>
            <a:spLocks noGrp="1"/>
          </p:cNvSpPr>
          <p:nvPr/>
        </p:nvSpPr>
        <p:spPr>
          <a:xfrm>
            <a:off x="7677150" y="4000500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025" b="1">
                <a:solidFill>
                  <a:srgbClr val="667C9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67C97"/>
                </a:solidFill>
                <a:latin typeface="Arial"/>
                <a:ea typeface="Arial"/>
                <a:cs typeface="Arial"/>
              </a:rPr>
              <a:t>6.75%</a:t>
            </a:r>
          </a:p>
        </p:txBody>
      </p:sp>
      <p:sp>
        <p:nvSpPr>
          <p:cNvPr id="19" name="r2-675-label">
            <a:extLst>
              <a:ext uri="{FF2B5EF4-FFF2-40B4-BE49-F238E27FC236}">
                <a16:creationId xmlns:a16="http://schemas.microsoft.com/office/drawing/2014/main" id="{33C1B780-BA1C-4A38-A11A-7AADFEDDF4A8}"/>
              </a:ext>
            </a:extLst>
          </p:cNvPr>
          <p:cNvSpPr>
            <a:spLocks noGrp="1"/>
          </p:cNvSpPr>
          <p:nvPr/>
        </p:nvSpPr>
        <p:spPr>
          <a:xfrm>
            <a:off x="8858250" y="40195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外来前景内容</a:t>
            </a:r>
          </a:p>
        </p:txBody>
      </p:sp>
      <p:sp>
        <p:nvSpPr>
          <p:cNvPr id="20" name="r2-corr">
            <a:extLst>
              <a:ext uri="{FF2B5EF4-FFF2-40B4-BE49-F238E27FC236}">
                <a16:creationId xmlns:a16="http://schemas.microsoft.com/office/drawing/2014/main" id="{23F14382-E252-42C5-83CA-CF40CF2A7DE7}"/>
              </a:ext>
            </a:extLst>
          </p:cNvPr>
          <p:cNvSpPr>
            <a:spLocks noGrp="1"/>
          </p:cNvSpPr>
          <p:nvPr/>
        </p:nvSpPr>
        <p:spPr>
          <a:xfrm>
            <a:off x="1619250" y="4572000"/>
            <a:ext cx="895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不同视图的亮度、色调差异与颜色误差存在一定相关性：0.6503 / 0.7902</a:t>
            </a:r>
          </a:p>
        </p:txBody>
      </p:sp>
      <p:sp>
        <p:nvSpPr>
          <p:cNvPr id="21" name="conclusion-band">
            <a:extLst>
              <a:ext uri="{FF2B5EF4-FFF2-40B4-BE49-F238E27FC236}">
                <a16:creationId xmlns:a16="http://schemas.microsoft.com/office/drawing/2014/main" id="{605E98DD-6433-4909-8477-E48117849471}"/>
              </a:ext>
            </a:extLst>
          </p:cNvPr>
          <p:cNvSpPr>
            <a:spLocks noGrp="1"/>
          </p:cNvSpPr>
          <p:nvPr/>
        </p:nvSpPr>
        <p:spPr>
          <a:xfrm>
            <a:off x="666750" y="5829300"/>
            <a:ext cx="10858500" cy="438150"/>
          </a:xfrm>
          <a:prstGeom prst="rect">
            <a:avLst/>
          </a:prstGeom>
          <a:solidFill>
            <a:srgbClr val="EEF5FB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22" name="conclusion">
            <a:extLst>
              <a:ext uri="{FF2B5EF4-FFF2-40B4-BE49-F238E27FC236}">
                <a16:creationId xmlns:a16="http://schemas.microsoft.com/office/drawing/2014/main" id="{128710CC-E275-4411-9B7D-A728AD4CFBE2}"/>
              </a:ext>
            </a:extLst>
          </p:cNvPr>
          <p:cNvSpPr>
            <a:spLocks noGrp="1"/>
          </p:cNvSpPr>
          <p:nvPr/>
        </p:nvSpPr>
        <p:spPr>
          <a:xfrm>
            <a:off x="838200" y="5867400"/>
            <a:ext cx="10515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212"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加入其他视图与颜色误差升高同时出现。下一步保持位置、尺度、透明度和遮挡关系不变，只改变不同视图之间的颜色对应方式。</a:t>
            </a:r>
          </a:p>
        </p:txBody>
      </p:sp>
      <p:sp>
        <p:nvSpPr>
          <p:cNvPr id="23" name="source">
            <a:extLst>
              <a:ext uri="{FF2B5EF4-FFF2-40B4-BE49-F238E27FC236}">
                <a16:creationId xmlns:a16="http://schemas.microsoft.com/office/drawing/2014/main" id="{03CDC398-0EAC-4C8D-B6B5-DEFEC728E67B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当前只有相关线索，还不能确认颜色差异就是唯一原因。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-9">
            <a:extLst>
              <a:ext uri="{FF2B5EF4-FFF2-40B4-BE49-F238E27FC236}">
                <a16:creationId xmlns:a16="http://schemas.microsoft.com/office/drawing/2014/main" id="{2256B31A-25B3-40DF-8C68-DA84C813DB41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当前重点是表示覆盖与跨视图颜色一致性</a:t>
            </a:r>
          </a:p>
        </p:txBody>
      </p:sp>
      <p:sp>
        <p:nvSpPr>
          <p:cNvPr id="2" name="subtitle-9">
            <a:extLst>
              <a:ext uri="{FF2B5EF4-FFF2-40B4-BE49-F238E27FC236}">
                <a16:creationId xmlns:a16="http://schemas.microsoft.com/office/drawing/2014/main" id="{210717C9-68E9-42A5-931B-E4B74A22B0ED}"/>
              </a:ext>
            </a:extLst>
          </p:cNvPr>
          <p:cNvSpPr>
            <a:spLocks noGrp="1"/>
          </p:cNvSpPr>
          <p:nvPr/>
        </p:nvSpPr>
        <p:spPr>
          <a:xfrm>
            <a:off x="685800" y="942975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现有结论与下一步诊断</a:t>
            </a:r>
          </a:p>
        </p:txBody>
      </p:sp>
      <p:sp>
        <p:nvSpPr>
          <p:cNvPr id="3" name="page-9">
            <a:extLst>
              <a:ext uri="{FF2B5EF4-FFF2-40B4-BE49-F238E27FC236}">
                <a16:creationId xmlns:a16="http://schemas.microsoft.com/office/drawing/2014/main" id="{B3972419-FC19-447E-A42C-4D7ECFB1CBC0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sum-0">
            <a:extLst>
              <a:ext uri="{FF2B5EF4-FFF2-40B4-BE49-F238E27FC236}">
                <a16:creationId xmlns:a16="http://schemas.microsoft.com/office/drawing/2014/main" id="{7B171EEC-7686-49F9-98F6-C09803BD4979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9812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5" name="sum-t-0">
            <a:extLst>
              <a:ext uri="{FF2B5EF4-FFF2-40B4-BE49-F238E27FC236}">
                <a16:creationId xmlns:a16="http://schemas.microsoft.com/office/drawing/2014/main" id="{EC1EB296-C04A-444B-9302-EE6A629AACB6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单图信息不足</a:t>
            </a:r>
          </a:p>
        </p:txBody>
      </p:sp>
      <p:sp>
        <p:nvSpPr>
          <p:cNvPr id="6" name="sum-s-0">
            <a:extLst>
              <a:ext uri="{FF2B5EF4-FFF2-40B4-BE49-F238E27FC236}">
                <a16:creationId xmlns:a16="http://schemas.microsoft.com/office/drawing/2014/main" id="{505965E3-AFF7-4965-B24D-CE669E072AE7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266"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48.33% 没有直接输入来源</a:t>
            </a:r>
          </a:p>
        </p:txBody>
      </p:sp>
      <p:sp>
        <p:nvSpPr>
          <p:cNvPr id="7" name="sum-a-0">
            <a:extLst>
              <a:ext uri="{FF2B5EF4-FFF2-40B4-BE49-F238E27FC236}">
                <a16:creationId xmlns:a16="http://schemas.microsoft.com/office/drawing/2014/main" id="{5819A027-6B73-4942-A084-7DCC476786EC}"/>
              </a:ext>
            </a:extLst>
          </p:cNvPr>
          <p:cNvSpPr>
            <a:spLocks noGrp="1"/>
          </p:cNvSpPr>
          <p:nvPr/>
        </p:nvSpPr>
        <p:spPr>
          <a:xfrm>
            <a:off x="2495550" y="2095500"/>
            <a:ext cx="333375" cy="238125"/>
          </a:xfrm>
          <a:prstGeom prst="rightArrow">
            <a:avLst/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</p:sp>
      <p:sp>
        <p:nvSpPr>
          <p:cNvPr id="8" name="sum-1">
            <a:extLst>
              <a:ext uri="{FF2B5EF4-FFF2-40B4-BE49-F238E27FC236}">
                <a16:creationId xmlns:a16="http://schemas.microsoft.com/office/drawing/2014/main" id="{10DB4461-DD26-4BC6-88F7-C2645D6A88F3}"/>
              </a:ext>
            </a:extLst>
          </p:cNvPr>
          <p:cNvSpPr>
            <a:spLocks noGrp="1"/>
          </p:cNvSpPr>
          <p:nvPr/>
        </p:nvSpPr>
        <p:spPr>
          <a:xfrm>
            <a:off x="2876550" y="1657350"/>
            <a:ext cx="19812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9" name="sum-t-1">
            <a:extLst>
              <a:ext uri="{FF2B5EF4-FFF2-40B4-BE49-F238E27FC236}">
                <a16:creationId xmlns:a16="http://schemas.microsoft.com/office/drawing/2014/main" id="{AC919F32-6DE2-4C5E-90BE-2AFF12EC31A6}"/>
              </a:ext>
            </a:extLst>
          </p:cNvPr>
          <p:cNvSpPr>
            <a:spLocks noGrp="1"/>
          </p:cNvSpPr>
          <p:nvPr/>
        </p:nvSpPr>
        <p:spPr>
          <a:xfrm>
            <a:off x="2971800" y="18097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多张构建图仍有缺口</a:t>
            </a:r>
          </a:p>
        </p:txBody>
      </p:sp>
      <p:sp>
        <p:nvSpPr>
          <p:cNvPr id="10" name="sum-s-1">
            <a:extLst>
              <a:ext uri="{FF2B5EF4-FFF2-40B4-BE49-F238E27FC236}">
                <a16:creationId xmlns:a16="http://schemas.microsoft.com/office/drawing/2014/main" id="{0C32B8B9-65E9-4416-8803-8F1B99749BFC}"/>
              </a:ext>
            </a:extLst>
          </p:cNvPr>
          <p:cNvSpPr>
            <a:spLocks noGrp="1"/>
          </p:cNvSpPr>
          <p:nvPr/>
        </p:nvSpPr>
        <p:spPr>
          <a:xfrm>
            <a:off x="2971800" y="2266950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9128" lnSpcReduction="10000"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25.66% 没有被任何构建图看到</a:t>
            </a:r>
          </a:p>
        </p:txBody>
      </p:sp>
      <p:sp>
        <p:nvSpPr>
          <p:cNvPr id="11" name="sum-a-1">
            <a:extLst>
              <a:ext uri="{FF2B5EF4-FFF2-40B4-BE49-F238E27FC236}">
                <a16:creationId xmlns:a16="http://schemas.microsoft.com/office/drawing/2014/main" id="{467B31CA-F021-49E0-A3D7-374AFB77671E}"/>
              </a:ext>
            </a:extLst>
          </p:cNvPr>
          <p:cNvSpPr>
            <a:spLocks noGrp="1"/>
          </p:cNvSpPr>
          <p:nvPr/>
        </p:nvSpPr>
        <p:spPr>
          <a:xfrm>
            <a:off x="4857750" y="2095500"/>
            <a:ext cx="333375" cy="238125"/>
          </a:xfrm>
          <a:prstGeom prst="rightArrow">
            <a:avLst/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</p:sp>
      <p:sp>
        <p:nvSpPr>
          <p:cNvPr id="12" name="sum-2">
            <a:extLst>
              <a:ext uri="{FF2B5EF4-FFF2-40B4-BE49-F238E27FC236}">
                <a16:creationId xmlns:a16="http://schemas.microsoft.com/office/drawing/2014/main" id="{49FC67C5-A7EC-4BF1-AB99-5EB3CDB9507A}"/>
              </a:ext>
            </a:extLst>
          </p:cNvPr>
          <p:cNvSpPr>
            <a:spLocks noGrp="1"/>
          </p:cNvSpPr>
          <p:nvPr/>
        </p:nvSpPr>
        <p:spPr>
          <a:xfrm>
            <a:off x="5238750" y="1657350"/>
            <a:ext cx="19812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13" name="sum-t-2">
            <a:extLst>
              <a:ext uri="{FF2B5EF4-FFF2-40B4-BE49-F238E27FC236}">
                <a16:creationId xmlns:a16="http://schemas.microsoft.com/office/drawing/2014/main" id="{693F4173-8327-460A-978B-50BACF7F465C}"/>
              </a:ext>
            </a:extLst>
          </p:cNvPr>
          <p:cNvSpPr>
            <a:spLocks noGrp="1"/>
          </p:cNvSpPr>
          <p:nvPr/>
        </p:nvSpPr>
        <p:spPr>
          <a:xfrm>
            <a:off x="5334000" y="18097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2922" lnSpcReduction="10000"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已知表面仍有表示问题</a:t>
            </a:r>
          </a:p>
        </p:txBody>
      </p:sp>
      <p:sp>
        <p:nvSpPr>
          <p:cNvPr id="14" name="sum-s-2">
            <a:extLst>
              <a:ext uri="{FF2B5EF4-FFF2-40B4-BE49-F238E27FC236}">
                <a16:creationId xmlns:a16="http://schemas.microsoft.com/office/drawing/2014/main" id="{E494ACFA-E473-4959-8069-738D9353ED0D}"/>
              </a:ext>
            </a:extLst>
          </p:cNvPr>
          <p:cNvSpPr>
            <a:spLocks noGrp="1"/>
          </p:cNvSpPr>
          <p:nvPr/>
        </p:nvSpPr>
        <p:spPr>
          <a:xfrm>
            <a:off x="5334000" y="2266950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9128" lnSpcReduction="10000"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漏空、错序、颜色不能稳定保持</a:t>
            </a:r>
          </a:p>
        </p:txBody>
      </p:sp>
      <p:sp>
        <p:nvSpPr>
          <p:cNvPr id="15" name="sum-a-2">
            <a:extLst>
              <a:ext uri="{FF2B5EF4-FFF2-40B4-BE49-F238E27FC236}">
                <a16:creationId xmlns:a16="http://schemas.microsoft.com/office/drawing/2014/main" id="{4A9D6BA2-1A78-4ADE-9AB7-6A435BF3BD6C}"/>
              </a:ext>
            </a:extLst>
          </p:cNvPr>
          <p:cNvSpPr>
            <a:spLocks noGrp="1"/>
          </p:cNvSpPr>
          <p:nvPr/>
        </p:nvSpPr>
        <p:spPr>
          <a:xfrm>
            <a:off x="7219950" y="2095500"/>
            <a:ext cx="333375" cy="238125"/>
          </a:xfrm>
          <a:prstGeom prst="rightArrow">
            <a:avLst/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</p:sp>
      <p:sp>
        <p:nvSpPr>
          <p:cNvPr id="16" name="sum-3">
            <a:extLst>
              <a:ext uri="{FF2B5EF4-FFF2-40B4-BE49-F238E27FC236}">
                <a16:creationId xmlns:a16="http://schemas.microsoft.com/office/drawing/2014/main" id="{B8241A20-07AE-4F77-8842-F5FC798C5AC9}"/>
              </a:ext>
            </a:extLst>
          </p:cNvPr>
          <p:cNvSpPr>
            <a:spLocks noGrp="1"/>
          </p:cNvSpPr>
          <p:nvPr/>
        </p:nvSpPr>
        <p:spPr>
          <a:xfrm>
            <a:off x="7600950" y="1657350"/>
            <a:ext cx="19812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17" name="sum-t-3">
            <a:extLst>
              <a:ext uri="{FF2B5EF4-FFF2-40B4-BE49-F238E27FC236}">
                <a16:creationId xmlns:a16="http://schemas.microsoft.com/office/drawing/2014/main" id="{A5A526CA-1B6B-4A2D-8181-E521BD9FCCB7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2922" lnSpcReduction="10000"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统一铺宽只能改善覆盖</a:t>
            </a:r>
          </a:p>
        </p:txBody>
      </p:sp>
      <p:sp>
        <p:nvSpPr>
          <p:cNvPr id="18" name="sum-s-3">
            <a:extLst>
              <a:ext uri="{FF2B5EF4-FFF2-40B4-BE49-F238E27FC236}">
                <a16:creationId xmlns:a16="http://schemas.microsoft.com/office/drawing/2014/main" id="{1CFDA756-53A1-4D70-BFA7-254284E2374A}"/>
              </a:ext>
            </a:extLst>
          </p:cNvPr>
          <p:cNvSpPr>
            <a:spLocks noGrp="1"/>
          </p:cNvSpPr>
          <p:nvPr/>
        </p:nvSpPr>
        <p:spPr>
          <a:xfrm>
            <a:off x="7696200" y="2266950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4266"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空洞减少，但颜色误差增大</a:t>
            </a:r>
          </a:p>
        </p:txBody>
      </p:sp>
      <p:sp>
        <p:nvSpPr>
          <p:cNvPr id="19" name="sum-a-3">
            <a:extLst>
              <a:ext uri="{FF2B5EF4-FFF2-40B4-BE49-F238E27FC236}">
                <a16:creationId xmlns:a16="http://schemas.microsoft.com/office/drawing/2014/main" id="{19E7F1EC-F3C6-418A-BF40-67728DF5A855}"/>
              </a:ext>
            </a:extLst>
          </p:cNvPr>
          <p:cNvSpPr>
            <a:spLocks noGrp="1"/>
          </p:cNvSpPr>
          <p:nvPr/>
        </p:nvSpPr>
        <p:spPr>
          <a:xfrm>
            <a:off x="9582150" y="2095500"/>
            <a:ext cx="333375" cy="238125"/>
          </a:xfrm>
          <a:prstGeom prst="rightArrow">
            <a:avLst/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</p:sp>
      <p:sp>
        <p:nvSpPr>
          <p:cNvPr id="20" name="sum-4">
            <a:extLst>
              <a:ext uri="{FF2B5EF4-FFF2-40B4-BE49-F238E27FC236}">
                <a16:creationId xmlns:a16="http://schemas.microsoft.com/office/drawing/2014/main" id="{4EEDCC80-44EC-4E7B-BD2C-EC78336C6919}"/>
              </a:ext>
            </a:extLst>
          </p:cNvPr>
          <p:cNvSpPr>
            <a:spLocks noGrp="1"/>
          </p:cNvSpPr>
          <p:nvPr/>
        </p:nvSpPr>
        <p:spPr>
          <a:xfrm>
            <a:off x="9963150" y="1657350"/>
            <a:ext cx="1981200" cy="1181100"/>
          </a:xfrm>
          <a:prstGeom prst="roundRect">
            <a:avLst>
              <a:gd name="adj" fmla="val 6452"/>
            </a:avLst>
          </a:prstGeom>
          <a:solidFill>
            <a:srgbClr val="EEF5FB"/>
          </a:solidFill>
          <a:ln w="9525">
            <a:solidFill>
              <a:srgbClr val="22C7E2"/>
            </a:solidFill>
            <a:prstDash val="solid"/>
          </a:ln>
        </p:spPr>
      </p:sp>
      <p:sp>
        <p:nvSpPr>
          <p:cNvPr id="21" name="sum-t-4">
            <a:extLst>
              <a:ext uri="{FF2B5EF4-FFF2-40B4-BE49-F238E27FC236}">
                <a16:creationId xmlns:a16="http://schemas.microsoft.com/office/drawing/2014/main" id="{32FCE574-7196-40D9-ACD5-F61809BD4AFD}"/>
              </a:ext>
            </a:extLst>
          </p:cNvPr>
          <p:cNvSpPr>
            <a:spLocks noGrp="1"/>
          </p:cNvSpPr>
          <p:nvPr/>
        </p:nvSpPr>
        <p:spPr>
          <a:xfrm>
            <a:off x="10058400" y="18097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下一步单独检查颜色</a:t>
            </a:r>
          </a:p>
        </p:txBody>
      </p:sp>
      <p:sp>
        <p:nvSpPr>
          <p:cNvPr id="22" name="sum-s-4">
            <a:extLst>
              <a:ext uri="{FF2B5EF4-FFF2-40B4-BE49-F238E27FC236}">
                <a16:creationId xmlns:a16="http://schemas.microsoft.com/office/drawing/2014/main" id="{3FA79889-39DD-453A-8C3B-D4450877BBCD}"/>
              </a:ext>
            </a:extLst>
          </p:cNvPr>
          <p:cNvSpPr>
            <a:spLocks noGrp="1"/>
          </p:cNvSpPr>
          <p:nvPr/>
        </p:nvSpPr>
        <p:spPr>
          <a:xfrm>
            <a:off x="10058400" y="2266950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其他条件保持不变</a:t>
            </a:r>
          </a:p>
        </p:txBody>
      </p:sp>
      <p:sp>
        <p:nvSpPr>
          <p:cNvPr id="23" name="next-box">
            <a:extLst>
              <a:ext uri="{FF2B5EF4-FFF2-40B4-BE49-F238E27FC236}">
                <a16:creationId xmlns:a16="http://schemas.microsoft.com/office/drawing/2014/main" id="{8E14CF41-1200-4F1B-8098-41639FAC2059}"/>
              </a:ext>
            </a:extLst>
          </p:cNvPr>
          <p:cNvSpPr>
            <a:spLocks noGrp="1"/>
          </p:cNvSpPr>
          <p:nvPr/>
        </p:nvSpPr>
        <p:spPr>
          <a:xfrm>
            <a:off x="1238250" y="3333750"/>
            <a:ext cx="9715500" cy="1809750"/>
          </a:xfrm>
          <a:prstGeom prst="roundRect">
            <a:avLst>
              <a:gd name="adj" fmla="val 4211"/>
            </a:avLst>
          </a:prstGeom>
          <a:solidFill>
            <a:srgbClr val="F7FAFD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4" name="next-title">
            <a:extLst>
              <a:ext uri="{FF2B5EF4-FFF2-40B4-BE49-F238E27FC236}">
                <a16:creationId xmlns:a16="http://schemas.microsoft.com/office/drawing/2014/main" id="{D5D5FC25-64AD-46CB-BDE8-2631747264F6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8765"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下一步：检查不同视图之间的颜色差异</a:t>
            </a:r>
          </a:p>
        </p:txBody>
      </p:sp>
      <p:sp>
        <p:nvSpPr>
          <p:cNvPr id="25" name="next-list">
            <a:extLst>
              <a:ext uri="{FF2B5EF4-FFF2-40B4-BE49-F238E27FC236}">
                <a16:creationId xmlns:a16="http://schemas.microsoft.com/office/drawing/2014/main" id="{8983531E-DE24-4137-BA5B-B02AC9073807}"/>
              </a:ext>
            </a:extLst>
          </p:cNvPr>
          <p:cNvSpPr>
            <a:spLocks noGrp="1"/>
          </p:cNvSpPr>
          <p:nvPr/>
        </p:nvSpPr>
        <p:spPr>
          <a:xfrm>
            <a:off x="1809750" y="4000500"/>
            <a:ext cx="85725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38100" anchor="t">
            <a:normAutofit fontScale="80885" lnSpcReduction="10000"/>
          </a:bodyPr>
          <a:lstStyle/>
          <a:p>
            <a:pPr marL="24" indent="-14">
              <a:buChar char="•"/>
            </a:pPr>
            <a:r>
              <a:t>保持高斯的位置、尺度、透明度、可见性和前后关系不变，只改变另一视图的颜色如何对应到当前表面</a:t>
            </a:r>
          </a:p>
          <a:p>
            <a:pPr marL="24" indent="-14">
              <a:buChar char="•"/>
            </a:pPr>
            <a:r>
              <a:t>完成运行前检查后，开始这组只改变颜色对应方式的对照实验</a:t>
            </a:r>
          </a:p>
          <a:p>
            <a:pPr marL="24" indent="-14">
              <a:buChar char="•"/>
            </a:pPr>
            <a:r>
              <a:t>结果将决定后续优先改融合规则，还是回到表示结构本身</a:t>
            </a:r>
          </a:p>
        </p:txBody>
      </p:sp>
      <p:sp>
        <p:nvSpPr>
          <p:cNvPr id="26" name="conclusion-band">
            <a:extLst>
              <a:ext uri="{FF2B5EF4-FFF2-40B4-BE49-F238E27FC236}">
                <a16:creationId xmlns:a16="http://schemas.microsoft.com/office/drawing/2014/main" id="{99271A27-3A38-4AD5-9E70-7B7D39F2EFA5}"/>
              </a:ext>
            </a:extLst>
          </p:cNvPr>
          <p:cNvSpPr>
            <a:spLocks noGrp="1"/>
          </p:cNvSpPr>
          <p:nvPr/>
        </p:nvSpPr>
        <p:spPr>
          <a:xfrm>
            <a:off x="666750" y="5829300"/>
            <a:ext cx="10858500" cy="438150"/>
          </a:xfrm>
          <a:prstGeom prst="rect">
            <a:avLst/>
          </a:prstGeom>
          <a:solidFill>
            <a:srgbClr val="EEF5FB"/>
          </a:solidFill>
          <a:ln w="9525">
            <a:solidFill>
              <a:srgbClr val="0D569A"/>
            </a:solidFill>
            <a:prstDash val="solid"/>
          </a:ln>
        </p:spPr>
      </p:sp>
      <p:sp>
        <p:nvSpPr>
          <p:cNvPr id="27" name="conclusion">
            <a:extLst>
              <a:ext uri="{FF2B5EF4-FFF2-40B4-BE49-F238E27FC236}">
                <a16:creationId xmlns:a16="http://schemas.microsoft.com/office/drawing/2014/main" id="{F533F296-A08F-4D7B-9977-8ED1AABA775A}"/>
              </a:ext>
            </a:extLst>
          </p:cNvPr>
          <p:cNvSpPr>
            <a:spLocks noGrp="1"/>
          </p:cNvSpPr>
          <p:nvPr/>
        </p:nvSpPr>
        <p:spPr>
          <a:xfrm>
            <a:off x="838200" y="5867400"/>
            <a:ext cx="10515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本周还没有解决 30° 效果问题，但已经把原来混在一起的失败拆成几个可以分别验证的部分。</a:t>
            </a:r>
          </a:p>
        </p:txBody>
      </p:sp>
      <p:sp>
        <p:nvSpPr>
          <p:cNvPr id="28" name="source">
            <a:extLst>
              <a:ext uri="{FF2B5EF4-FFF2-40B4-BE49-F238E27FC236}">
                <a16:creationId xmlns:a16="http://schemas.microsoft.com/office/drawing/2014/main" id="{AEA4755E-A0F6-4AE3-BA2F-482A3AADD989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当前进展：下一步对照实验已经设计完成，尚未开始运行。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443</Words>
  <Application>Microsoft Office PowerPoint</Application>
  <DocSecurity>0</DocSecurity>
  <PresentationFormat>宽屏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微软雅黑</vt:lpstr>
      <vt:lpstr>微软雅黑</vt:lpstr>
      <vt:lpstr>微软雅黑 Light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辰洋 孟</cp:lastModifiedBy>
  <cp:revision>4</cp:revision>
  <dcterms:created xsi:type="dcterms:W3CDTF">2026-08-21T05:34:17Z</dcterms:created>
  <dcterms:modified xsi:type="dcterms:W3CDTF">2026-08-21T05:41:28Z</dcterms:modified>
</cp:coreProperties>
</file>