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9"/>
    <p:sldId id="260" r:id="rId10"/>
    <p:sldId id="261" r:id="rId11"/>
    <p:sldId id="262" r:id="rId12"/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2026-10-21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2026-10-21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FlashReFocus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527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先恢复一张清晰图，再选择对焦主体或背景；同一照片可反复调整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原始照片</a:t>
            </a:r>
          </a:p>
        </p:txBody>
      </p:sp>
      <p:pic>
        <p:nvPicPr>
          <p:cNvPr id="7" name="Picture 6" descr="h11-row1-co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2578608" cy="1713454"/>
          </a:xfrm>
          <a:prstGeom prst="rect">
            <a:avLst/>
          </a:prstGeom>
        </p:spPr>
      </p:pic>
      <p:pic>
        <p:nvPicPr>
          <p:cNvPr id="8" name="Picture 7" descr="h11-row2-c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39312"/>
            <a:ext cx="2578608" cy="17022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68319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恢复后的清晰图</a:t>
            </a:r>
          </a:p>
        </p:txBody>
      </p:sp>
      <p:pic>
        <p:nvPicPr>
          <p:cNvPr id="10" name="Picture 9" descr="h11-row1-co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8319" y="1810512"/>
            <a:ext cx="2578608" cy="1709729"/>
          </a:xfrm>
          <a:prstGeom prst="rect">
            <a:avLst/>
          </a:prstGeom>
        </p:spPr>
      </p:pic>
      <p:pic>
        <p:nvPicPr>
          <p:cNvPr id="11" name="Picture 10" descr="h11-row2-co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319" y="3639312"/>
            <a:ext cx="2578608" cy="1698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9398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对焦人物</a:t>
            </a:r>
          </a:p>
        </p:txBody>
      </p:sp>
      <p:pic>
        <p:nvPicPr>
          <p:cNvPr id="13" name="Picture 12" descr="h11-row1-col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398" y="1810512"/>
            <a:ext cx="2578608" cy="1694990"/>
          </a:xfrm>
          <a:prstGeom prst="rect">
            <a:avLst/>
          </a:prstGeom>
        </p:spPr>
      </p:pic>
      <p:pic>
        <p:nvPicPr>
          <p:cNvPr id="14" name="Picture 13" descr="h11-row2-co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398" y="3639312"/>
            <a:ext cx="2578608" cy="1683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50477" y="1444752"/>
            <a:ext cx="25786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对焦背景</a:t>
            </a:r>
          </a:p>
        </p:txBody>
      </p:sp>
      <p:pic>
        <p:nvPicPr>
          <p:cNvPr id="16" name="Picture 15" descr="h11-row1-col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0477" y="1810512"/>
            <a:ext cx="2578608" cy="1713454"/>
          </a:xfrm>
          <a:prstGeom prst="rect">
            <a:avLst/>
          </a:prstGeom>
        </p:spPr>
      </p:pic>
      <p:pic>
        <p:nvPicPr>
          <p:cNvPr id="17" name="Picture 16" descr="h11-row2-col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0477" y="3639312"/>
            <a:ext cx="2578608" cy="17022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01F37"/>
                </a:solidFill>
                <a:latin typeface="Microsoft YaHei"/>
              </a:rPr>
              <a:t>更换焦点时只运行轻量渲染器，无需再次恢复整张图像</a:t>
            </a:r>
            <a:r>
              <a:rPr sz="18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7512" y="283464"/>
            <a:ext cx="10058400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50" b="1" dirty="0" err="1">
                <a:solidFill>
                  <a:srgbClr val="0D569A"/>
                </a:solidFill>
                <a:latin typeface="Microsoft YaHei"/>
              </a:rPr>
              <a:t>原理</a:t>
            </a:r>
            <a:endParaRPr sz="2850" b="1" dirty="0">
              <a:solidFill>
                <a:srgbClr val="0D569A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52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0D569A"/>
                </a:solidFill>
                <a:latin typeface="Microsoft YaHei"/>
              </a:rPr>
              <a:t>一次恢复清晰图  →  估计深度、确定焦点  →  轻量网络生成虚化</a:t>
            </a:r>
          </a:p>
        </p:txBody>
      </p:sp>
      <p:pic>
        <p:nvPicPr>
          <p:cNvPr id="6" name="Picture 5" descr="fig2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27048"/>
            <a:ext cx="10652760" cy="4354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34456"/>
            <a:ext cx="6943645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 err="1">
                <a:solidFill>
                  <a:srgbClr val="101F37"/>
                </a:solidFill>
                <a:latin typeface="Microsoft YaHei"/>
              </a:rPr>
              <a:t>注意力偏向离焦程度相近的位置；深度估计偏差仍会影响虚化结果</a:t>
            </a:r>
            <a:r>
              <a:rPr sz="1700" b="0" dirty="0">
                <a:solidFill>
                  <a:srgbClr val="101F37"/>
                </a:solidFill>
                <a:latin typeface="Microsoft Ya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0216"/>
            <a:ext cx="53187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dirty="0" err="1">
                <a:solidFill>
                  <a:srgbClr val="5B6D82"/>
                </a:solidFill>
                <a:latin typeface="Microsoft YaHei"/>
              </a:rPr>
              <a:t>图源：FlashReFocus，Fig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. 2（裁去训练图例）；</a:t>
            </a:r>
            <a:r>
              <a:rPr sz="900" b="0" dirty="0" err="1">
                <a:solidFill>
                  <a:srgbClr val="5B6D82"/>
                </a:solidFill>
                <a:latin typeface="Microsoft YaHei"/>
              </a:rPr>
              <a:t>流程解释见讲稿</a:t>
            </a:r>
            <a:r>
              <a:rPr sz="900" b="0" dirty="0">
                <a:solidFill>
                  <a:srgbClr val="5B6D82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修正离焦图后鸭头变清晰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只改送进 ATB 的离焦图，25 帧鸭头全程清晰。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0 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908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8 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16 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960120"/>
            <a:ext cx="2542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第 24 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2141982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D569A"/>
                </a:solidFill>
                <a:latin typeface="Microsoft YaHei"/>
              </a:rPr>
              <a:t>原版</a:t>
            </a:r>
          </a:p>
        </p:txBody>
      </p:sp>
      <p:pic>
        <p:nvPicPr>
          <p:cNvPr id="9" name="Picture 8" descr="b36-A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371600"/>
            <a:ext cx="2542032" cy="1906524"/>
          </a:xfrm>
          <a:prstGeom prst="rect">
            <a:avLst/>
          </a:prstGeom>
        </p:spPr>
      </p:pic>
      <p:pic>
        <p:nvPicPr>
          <p:cNvPr id="10" name="Picture 9" descr="b36-A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371600"/>
            <a:ext cx="2542032" cy="1906524"/>
          </a:xfrm>
          <a:prstGeom prst="rect">
            <a:avLst/>
          </a:prstGeom>
        </p:spPr>
      </p:pic>
      <p:pic>
        <p:nvPicPr>
          <p:cNvPr id="11" name="Picture 10" descr="b36-A-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371600"/>
            <a:ext cx="2542032" cy="1906524"/>
          </a:xfrm>
          <a:prstGeom prst="rect">
            <a:avLst/>
          </a:prstGeom>
        </p:spPr>
      </p:pic>
      <p:pic>
        <p:nvPicPr>
          <p:cNvPr id="12" name="Picture 11" descr="b36-A-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371600"/>
            <a:ext cx="2542032" cy="19065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" y="4231386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D569A"/>
                </a:solidFill>
                <a:latin typeface="Microsoft YaHei"/>
              </a:rPr>
              <a:t>修正后</a:t>
            </a:r>
          </a:p>
        </p:txBody>
      </p:sp>
      <p:pic>
        <p:nvPicPr>
          <p:cNvPr id="14" name="Picture 13" descr="b36-R2-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320" y="3461004"/>
            <a:ext cx="2542032" cy="1906524"/>
          </a:xfrm>
          <a:prstGeom prst="rect">
            <a:avLst/>
          </a:prstGeom>
        </p:spPr>
      </p:pic>
      <p:pic>
        <p:nvPicPr>
          <p:cNvPr id="15" name="Picture 14" descr="b36-R2-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9080" y="3461004"/>
            <a:ext cx="2542032" cy="1906524"/>
          </a:xfrm>
          <a:prstGeom prst="rect">
            <a:avLst/>
          </a:prstGeom>
        </p:spPr>
      </p:pic>
      <p:pic>
        <p:nvPicPr>
          <p:cNvPr id="16" name="Picture 15" descr="b36-R2-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3461004"/>
            <a:ext cx="2542032" cy="1906524"/>
          </a:xfrm>
          <a:prstGeom prst="rect">
            <a:avLst/>
          </a:prstGeom>
        </p:spPr>
      </p:pic>
      <p:pic>
        <p:nvPicPr>
          <p:cNvPr id="17" name="Picture 16" descr="b36-R2-2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2600" y="3461004"/>
            <a:ext cx="2542032" cy="19065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在深度和虚化之间加修正器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VDA 和 ATB 保持不变，只修正送进 ATB 的深度。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RGB 视频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VDA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0D569A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修正器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icrosoft YaHei"/>
              </a:rPr>
              <a:t>轻量，可训练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ATB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冻结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4884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虚化视频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8775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2803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251960" y="17647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深度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6831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92240" y="176479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修正后深度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08592" y="2674620"/>
            <a:ext cx="173736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554480" y="1417320"/>
            <a:ext cx="0" cy="731520"/>
          </a:xfrm>
          <a:prstGeom prst="line">
            <a:avLst/>
          </a:prstGeom>
          <a:ln w="25400">
            <a:solidFill>
              <a:srgbClr val="5B6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54480" y="1417320"/>
            <a:ext cx="4480560" cy="0"/>
          </a:xfrm>
          <a:prstGeom prst="line">
            <a:avLst/>
          </a:prstGeom>
          <a:ln w="25400">
            <a:solidFill>
              <a:srgbClr val="5B6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35040" y="1417320"/>
            <a:ext cx="0" cy="704088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88920" y="10972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RGB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4069080"/>
            <a:ext cx="26517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D56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569A"/>
                </a:solidFill>
                <a:latin typeface="Microsoft YaHei"/>
              </a:rPr>
              <a:t>真值深度</a:t>
            </a:r>
          </a:p>
          <a:p>
            <a:pPr algn="ctr"/>
            <a:r>
              <a:rPr sz="1300" b="0">
                <a:solidFill>
                  <a:srgbClr val="5B6D82"/>
                </a:solidFill>
                <a:latin typeface="Microsoft YaHei"/>
              </a:rPr>
              <a:t>仅训练时使用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035040" y="3227832"/>
            <a:ext cx="0" cy="813816"/>
          </a:xfrm>
          <a:prstGeom prst="line">
            <a:avLst/>
          </a:prstGeom>
          <a:ln w="25400">
            <a:solidFill>
              <a:srgbClr val="0D569A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26479" y="34290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569A"/>
                </a:solidFill>
                <a:latin typeface="Microsoft YaHei"/>
              </a:rPr>
              <a:t>监督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用真值深度训练修正器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VDA 抹掉了毛发细节，前后层次也偏平。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9215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原图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0783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真值深度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2351" y="89611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569A"/>
                </a:solidFill>
                <a:latin typeface="Microsoft YaHei"/>
              </a:rPr>
              <a:t>VDA 预测</a:t>
            </a:r>
          </a:p>
        </p:txBody>
      </p:sp>
      <p:pic>
        <p:nvPicPr>
          <p:cNvPr id="7" name="Picture 6" descr="cave_2-12-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215" y="1243584"/>
            <a:ext cx="3310128" cy="1409390"/>
          </a:xfrm>
          <a:prstGeom prst="rect">
            <a:avLst/>
          </a:prstGeom>
        </p:spPr>
      </p:pic>
      <p:pic>
        <p:nvPicPr>
          <p:cNvPr id="8" name="Picture 7" descr="cave_2-12-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783" y="1243584"/>
            <a:ext cx="3310128" cy="1409390"/>
          </a:xfrm>
          <a:prstGeom prst="rect">
            <a:avLst/>
          </a:prstGeom>
        </p:spPr>
      </p:pic>
      <p:pic>
        <p:nvPicPr>
          <p:cNvPr id="9" name="Picture 8" descr="cave_2-12-v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51" y="1243584"/>
            <a:ext cx="3310128" cy="1409390"/>
          </a:xfrm>
          <a:prstGeom prst="rect">
            <a:avLst/>
          </a:prstGeom>
        </p:spPr>
      </p:pic>
      <p:pic>
        <p:nvPicPr>
          <p:cNvPr id="10" name="Picture 9" descr="bandage_1-12-r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" y="2744414"/>
            <a:ext cx="3310128" cy="1409390"/>
          </a:xfrm>
          <a:prstGeom prst="rect">
            <a:avLst/>
          </a:prstGeom>
        </p:spPr>
      </p:pic>
      <p:pic>
        <p:nvPicPr>
          <p:cNvPr id="11" name="Picture 10" descr="bandage_1-12-g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783" y="2744414"/>
            <a:ext cx="3310128" cy="1409390"/>
          </a:xfrm>
          <a:prstGeom prst="rect">
            <a:avLst/>
          </a:prstGeom>
        </p:spPr>
      </p:pic>
      <p:pic>
        <p:nvPicPr>
          <p:cNvPr id="12" name="Picture 11" descr="bandage_1-12-v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2351" y="2744414"/>
            <a:ext cx="3310128" cy="1409390"/>
          </a:xfrm>
          <a:prstGeom prst="rect">
            <a:avLst/>
          </a:prstGeom>
        </p:spPr>
      </p:pic>
      <p:pic>
        <p:nvPicPr>
          <p:cNvPr id="13" name="Picture 12" descr="shaman_2-12-rg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215" y="4245244"/>
            <a:ext cx="3310128" cy="1409390"/>
          </a:xfrm>
          <a:prstGeom prst="rect">
            <a:avLst/>
          </a:prstGeom>
        </p:spPr>
      </p:pic>
      <p:pic>
        <p:nvPicPr>
          <p:cNvPr id="14" name="Picture 13" descr="shaman_2-12-g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0783" y="4245244"/>
            <a:ext cx="3310128" cy="1409390"/>
          </a:xfrm>
          <a:prstGeom prst="rect">
            <a:avLst/>
          </a:prstGeom>
        </p:spPr>
      </p:pic>
      <p:pic>
        <p:nvPicPr>
          <p:cNvPr id="15" name="Picture 14" descr="shaman_2-12-v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2351" y="4245244"/>
            <a:ext cx="3310128" cy="14093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实验计划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989320"/>
            <a:ext cx="10652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先验证提升空间，再训练修正器。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0D569A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  验证空间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Microsoft YaHei"/>
              </a:rPr>
              <a:t>真值深度送进 ATB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99816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10712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2  训练修正器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Sintel 真值监督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24728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135624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3  方法对比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原版与简单方法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49640" y="3154680"/>
            <a:ext cx="274320" cy="0"/>
          </a:xfrm>
          <a:prstGeom prst="line">
            <a:avLst/>
          </a:prstGeom>
          <a:ln w="25400">
            <a:solidFill>
              <a:srgbClr val="5B6D8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0536" y="2377440"/>
            <a:ext cx="2377440" cy="1554480"/>
          </a:xfrm>
          <a:prstGeom prst="roundRect">
            <a:avLst>
              <a:gd name="adj" fmla="val 12000"/>
            </a:avLst>
          </a:prstGeom>
          <a:solidFill>
            <a:srgbClr val="EEF5FB"/>
          </a:solidFill>
          <a:ln w="19050">
            <a:solidFill>
              <a:srgbClr val="0D5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01F37"/>
                </a:solidFill>
                <a:latin typeface="Microsoft YaHei"/>
              </a:rPr>
              <a:t>4  真实视频</a:t>
            </a:r>
          </a:p>
          <a:p>
            <a:pPr algn="ctr"/>
            <a:r>
              <a:rPr sz="1300" b="0">
                <a:solidFill>
                  <a:srgbClr val="101F37"/>
                </a:solidFill>
                <a:latin typeface="Microsoft YaHei"/>
              </a:rPr>
              <a:t>DAVIS 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569A"/>
                </a:solidFill>
                <a:latin typeface="Microsoft YaHei"/>
              </a:rPr>
              <a:t>下一步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39</Words>
  <Application>Microsoft Office PowerPoint</Application>
  <DocSecurity>0</DocSecurity>
  <PresentationFormat>宽屏</PresentationFormat>
  <Paragraphs>11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23</cp:revision>
  <dcterms:created xsi:type="dcterms:W3CDTF">2026-08-21T05:34:17Z</dcterms:created>
  <dcterms:modified xsi:type="dcterms:W3CDTF">2026-10-21T11:32:43Z</dcterms:modified>
</cp:coreProperties>
</file>