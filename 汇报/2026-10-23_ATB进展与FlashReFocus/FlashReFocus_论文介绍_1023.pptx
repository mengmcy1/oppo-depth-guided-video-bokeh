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9" r:id="rId9"/>
    <p:sldId id="260" r:id="rId10"/>
    <p:sldId id="261" r:id="rId11"/>
    <p:sldId id="262" r:id="rId12"/>
    <p:sldId id="257" r:id="rId2"/>
    <p:sldId id="258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48" d="100"/>
          <a:sy n="148" d="100"/>
        </p:scale>
        <p:origin x="130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2026-10-21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3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wrap="none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r>
              <a:rPr sz="14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47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49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2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7512" y="283464"/>
            <a:ext cx="10058400" cy="4385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50" b="1" dirty="0" err="1">
                <a:solidFill>
                  <a:srgbClr val="0D569A"/>
                </a:solidFill>
                <a:latin typeface="Microsoft YaHei"/>
              </a:rPr>
              <a:t>FlashReFocus</a:t>
            </a:r>
            <a:endParaRPr sz="2850" b="1" dirty="0">
              <a:solidFill>
                <a:srgbClr val="0D569A"/>
              </a:solidFill>
              <a:latin typeface="Microsoft YaHe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7240" y="932688"/>
            <a:ext cx="106527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dirty="0" err="1">
                <a:solidFill>
                  <a:srgbClr val="101F37"/>
                </a:solidFill>
                <a:latin typeface="Microsoft YaHei"/>
              </a:rPr>
              <a:t>先恢复一张清晰图，再选择对焦主体或背景；同一照片可反复调整</a:t>
            </a:r>
            <a:r>
              <a:rPr sz="1800" b="0" dirty="0">
                <a:solidFill>
                  <a:srgbClr val="101F37"/>
                </a:solidFill>
                <a:latin typeface="Microsoft YaHei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25786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0D569A"/>
                </a:solidFill>
                <a:latin typeface="Microsoft YaHei"/>
              </a:rPr>
              <a:t>原始照片</a:t>
            </a:r>
          </a:p>
        </p:txBody>
      </p:sp>
      <p:pic>
        <p:nvPicPr>
          <p:cNvPr id="7" name="Picture 6" descr="h11-row1-co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810512"/>
            <a:ext cx="2578608" cy="1713454"/>
          </a:xfrm>
          <a:prstGeom prst="rect">
            <a:avLst/>
          </a:prstGeom>
        </p:spPr>
      </p:pic>
      <p:pic>
        <p:nvPicPr>
          <p:cNvPr id="8" name="Picture 7" descr="h11-row2-col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639312"/>
            <a:ext cx="2578608" cy="17022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68319" y="1444752"/>
            <a:ext cx="25786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0D569A"/>
                </a:solidFill>
                <a:latin typeface="Microsoft YaHei"/>
              </a:rPr>
              <a:t>恢复后的清晰图</a:t>
            </a:r>
          </a:p>
        </p:txBody>
      </p:sp>
      <p:pic>
        <p:nvPicPr>
          <p:cNvPr id="10" name="Picture 9" descr="h11-row1-col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8319" y="1810512"/>
            <a:ext cx="2578608" cy="1709729"/>
          </a:xfrm>
          <a:prstGeom prst="rect">
            <a:avLst/>
          </a:prstGeom>
        </p:spPr>
      </p:pic>
      <p:pic>
        <p:nvPicPr>
          <p:cNvPr id="11" name="Picture 10" descr="h11-row2-col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68319" y="3639312"/>
            <a:ext cx="2578608" cy="16985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9398" y="1444752"/>
            <a:ext cx="25786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0D569A"/>
                </a:solidFill>
                <a:latin typeface="Microsoft YaHei"/>
              </a:rPr>
              <a:t>对焦人物</a:t>
            </a:r>
          </a:p>
        </p:txBody>
      </p:sp>
      <p:pic>
        <p:nvPicPr>
          <p:cNvPr id="13" name="Picture 12" descr="h11-row1-col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9398" y="1810512"/>
            <a:ext cx="2578608" cy="1694990"/>
          </a:xfrm>
          <a:prstGeom prst="rect">
            <a:avLst/>
          </a:prstGeom>
        </p:spPr>
      </p:pic>
      <p:pic>
        <p:nvPicPr>
          <p:cNvPr id="14" name="Picture 13" descr="h11-row2-col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9398" y="3639312"/>
            <a:ext cx="2578608" cy="168387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50477" y="1444752"/>
            <a:ext cx="25786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0D569A"/>
                </a:solidFill>
                <a:latin typeface="Microsoft YaHei"/>
              </a:rPr>
              <a:t>对焦背景</a:t>
            </a:r>
          </a:p>
        </p:txBody>
      </p:sp>
      <p:pic>
        <p:nvPicPr>
          <p:cNvPr id="16" name="Picture 15" descr="h11-row1-col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0477" y="1810512"/>
            <a:ext cx="2578608" cy="1713454"/>
          </a:xfrm>
          <a:prstGeom prst="rect">
            <a:avLst/>
          </a:prstGeom>
        </p:spPr>
      </p:pic>
      <p:pic>
        <p:nvPicPr>
          <p:cNvPr id="17" name="Picture 16" descr="h11-row2-col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0477" y="3639312"/>
            <a:ext cx="2578608" cy="170221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522976"/>
            <a:ext cx="106527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dirty="0" err="1">
                <a:solidFill>
                  <a:srgbClr val="101F37"/>
                </a:solidFill>
                <a:latin typeface="Microsoft YaHei"/>
              </a:rPr>
              <a:t>更换焦点时只运行轻量渲染器，无需再次恢复整张图像</a:t>
            </a:r>
            <a:r>
              <a:rPr sz="1800" b="0" dirty="0">
                <a:solidFill>
                  <a:srgbClr val="101F37"/>
                </a:solidFill>
                <a:latin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7512" y="283464"/>
            <a:ext cx="10058400" cy="4385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50" b="1" dirty="0" err="1">
                <a:solidFill>
                  <a:srgbClr val="0D569A"/>
                </a:solidFill>
                <a:latin typeface="Microsoft YaHei"/>
              </a:rPr>
              <a:t>原理</a:t>
            </a:r>
            <a:endParaRPr sz="2850" b="1" dirty="0">
              <a:solidFill>
                <a:srgbClr val="0D569A"/>
              </a:solidFill>
              <a:latin typeface="Microsoft YaHe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7240" y="941832"/>
            <a:ext cx="10652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>
                <a:solidFill>
                  <a:srgbClr val="0D569A"/>
                </a:solidFill>
                <a:latin typeface="Microsoft YaHei"/>
              </a:rPr>
              <a:t>一次恢复清晰图  →  估计深度、确定焦点  →  轻量网络生成虚化</a:t>
            </a:r>
          </a:p>
        </p:txBody>
      </p:sp>
      <p:pic>
        <p:nvPicPr>
          <p:cNvPr id="6" name="Picture 5" descr="fig2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527048"/>
            <a:ext cx="10652760" cy="43545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5934456"/>
            <a:ext cx="6943645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dirty="0" err="1">
                <a:solidFill>
                  <a:srgbClr val="101F37"/>
                </a:solidFill>
                <a:latin typeface="Microsoft YaHei"/>
              </a:rPr>
              <a:t>注意力偏向离焦程度相近的位置；深度估计偏差仍会影响虚化结果</a:t>
            </a:r>
            <a:r>
              <a:rPr sz="1700" b="0" dirty="0">
                <a:solidFill>
                  <a:srgbClr val="101F37"/>
                </a:solidFill>
                <a:latin typeface="Microsoft YaHei"/>
              </a:rPr>
              <a:t>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00216"/>
            <a:ext cx="531876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dirty="0" err="1">
                <a:solidFill>
                  <a:srgbClr val="5B6D82"/>
                </a:solidFill>
                <a:latin typeface="Microsoft YaHei"/>
              </a:rPr>
              <a:t>图源：FlashReFocus，Fig</a:t>
            </a:r>
            <a:r>
              <a:rPr sz="900" b="0" dirty="0">
                <a:solidFill>
                  <a:srgbClr val="5B6D82"/>
                </a:solidFill>
                <a:latin typeface="Microsoft YaHei"/>
              </a:rPr>
              <a:t>. 2（裁去训练图例）；</a:t>
            </a:r>
            <a:r>
              <a:rPr sz="900" b="0" dirty="0" err="1">
                <a:solidFill>
                  <a:srgbClr val="5B6D82"/>
                </a:solidFill>
                <a:latin typeface="Microsoft YaHei"/>
              </a:rPr>
              <a:t>流程解释见讲稿</a:t>
            </a:r>
            <a:r>
              <a:rPr sz="900" b="0" dirty="0">
                <a:solidFill>
                  <a:srgbClr val="5B6D82"/>
                </a:solidFill>
                <a:latin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283464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50" b="1">
                <a:solidFill>
                  <a:srgbClr val="0D569A"/>
                </a:solidFill>
                <a:latin typeface="Microsoft YaHei"/>
              </a:rPr>
              <a:t>修正离焦图后鸭头变清晰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989320"/>
            <a:ext cx="10652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01F37"/>
                </a:solidFill>
                <a:latin typeface="Microsoft YaHei"/>
              </a:rPr>
              <a:t>只改送进 ATB 的离焦图，25 帧鸭头全程清晰。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960120"/>
            <a:ext cx="2542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569A"/>
                </a:solidFill>
                <a:latin typeface="Microsoft YaHei"/>
              </a:rPr>
              <a:t>第 0 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9080" y="960120"/>
            <a:ext cx="2542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569A"/>
                </a:solidFill>
                <a:latin typeface="Microsoft YaHei"/>
              </a:rPr>
              <a:t>第 8 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960120"/>
            <a:ext cx="2542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569A"/>
                </a:solidFill>
                <a:latin typeface="Microsoft YaHei"/>
              </a:rPr>
              <a:t>第 16 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960120"/>
            <a:ext cx="2542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569A"/>
                </a:solidFill>
                <a:latin typeface="Microsoft YaHei"/>
              </a:rPr>
              <a:t>第 24 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2141982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D569A"/>
                </a:solidFill>
                <a:latin typeface="Microsoft YaHei"/>
              </a:rPr>
              <a:t>原版</a:t>
            </a:r>
          </a:p>
        </p:txBody>
      </p:sp>
      <p:pic>
        <p:nvPicPr>
          <p:cNvPr id="9" name="Picture 8" descr="b36-A-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371600"/>
            <a:ext cx="2542032" cy="1906524"/>
          </a:xfrm>
          <a:prstGeom prst="rect">
            <a:avLst/>
          </a:prstGeom>
        </p:spPr>
      </p:pic>
      <p:pic>
        <p:nvPicPr>
          <p:cNvPr id="10" name="Picture 9" descr="b36-A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1371600"/>
            <a:ext cx="2542032" cy="1906524"/>
          </a:xfrm>
          <a:prstGeom prst="rect">
            <a:avLst/>
          </a:prstGeom>
        </p:spPr>
      </p:pic>
      <p:pic>
        <p:nvPicPr>
          <p:cNvPr id="11" name="Picture 10" descr="b36-A-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371600"/>
            <a:ext cx="2542032" cy="1906524"/>
          </a:xfrm>
          <a:prstGeom prst="rect">
            <a:avLst/>
          </a:prstGeom>
        </p:spPr>
      </p:pic>
      <p:pic>
        <p:nvPicPr>
          <p:cNvPr id="12" name="Picture 11" descr="b36-A-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0" y="1371600"/>
            <a:ext cx="2542032" cy="19065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" y="4231386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D569A"/>
                </a:solidFill>
                <a:latin typeface="Microsoft YaHei"/>
              </a:rPr>
              <a:t>修正后</a:t>
            </a:r>
          </a:p>
        </p:txBody>
      </p:sp>
      <p:pic>
        <p:nvPicPr>
          <p:cNvPr id="14" name="Picture 13" descr="b36-R2-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7320" y="3461004"/>
            <a:ext cx="2542032" cy="1906524"/>
          </a:xfrm>
          <a:prstGeom prst="rect">
            <a:avLst/>
          </a:prstGeom>
        </p:spPr>
      </p:pic>
      <p:pic>
        <p:nvPicPr>
          <p:cNvPr id="15" name="Picture 14" descr="b36-R2-0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69080" y="3461004"/>
            <a:ext cx="2542032" cy="1906524"/>
          </a:xfrm>
          <a:prstGeom prst="rect">
            <a:avLst/>
          </a:prstGeom>
        </p:spPr>
      </p:pic>
      <p:pic>
        <p:nvPicPr>
          <p:cNvPr id="16" name="Picture 15" descr="b36-R2-1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0840" y="3461004"/>
            <a:ext cx="2542032" cy="1906524"/>
          </a:xfrm>
          <a:prstGeom prst="rect">
            <a:avLst/>
          </a:prstGeom>
        </p:spPr>
      </p:pic>
      <p:pic>
        <p:nvPicPr>
          <p:cNvPr id="17" name="Picture 16" descr="b36-R2-2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72600" y="3461004"/>
            <a:ext cx="2542032" cy="19065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283464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50" b="1">
                <a:solidFill>
                  <a:srgbClr val="0D569A"/>
                </a:solidFill>
                <a:latin typeface="Microsoft YaHei"/>
              </a:rPr>
              <a:t>实验计划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989320"/>
            <a:ext cx="10652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01F37"/>
                </a:solidFill>
                <a:latin typeface="Microsoft YaHei"/>
              </a:rPr>
              <a:t>先验证提升空间，再训练修正器。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77440"/>
            <a:ext cx="2377440" cy="1554480"/>
          </a:xfrm>
          <a:prstGeom prst="roundRect">
            <a:avLst>
              <a:gd name="adj" fmla="val 12000"/>
            </a:avLst>
          </a:prstGeom>
          <a:solidFill>
            <a:srgbClr val="0D569A"/>
          </a:solidFill>
          <a:ln w="19050">
            <a:solidFill>
              <a:srgbClr val="0D5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  验证空间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Microsoft YaHei"/>
              </a:rPr>
              <a:t>真值深度送进 ATB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099816" y="3154680"/>
            <a:ext cx="274320" cy="0"/>
          </a:xfrm>
          <a:prstGeom prst="line">
            <a:avLst/>
          </a:prstGeom>
          <a:ln w="25400">
            <a:solidFill>
              <a:srgbClr val="5B6D8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410712" y="2377440"/>
            <a:ext cx="2377440" cy="1554480"/>
          </a:xfrm>
          <a:prstGeom prst="roundRect">
            <a:avLst>
              <a:gd name="adj" fmla="val 12000"/>
            </a:avLst>
          </a:prstGeom>
          <a:solidFill>
            <a:srgbClr val="EEF5FB"/>
          </a:solidFill>
          <a:ln w="19050">
            <a:solidFill>
              <a:srgbClr val="0D5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01F37"/>
                </a:solidFill>
                <a:latin typeface="Microsoft YaHei"/>
              </a:rPr>
              <a:t>2  训练修正器</a:t>
            </a:r>
          </a:p>
          <a:p>
            <a:pPr algn="ctr"/>
            <a:r>
              <a:rPr sz="1300" b="0">
                <a:solidFill>
                  <a:srgbClr val="101F37"/>
                </a:solidFill>
                <a:latin typeface="Microsoft YaHei"/>
              </a:rPr>
              <a:t>Sintel 真值监督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24728" y="3154680"/>
            <a:ext cx="274320" cy="0"/>
          </a:xfrm>
          <a:prstGeom prst="line">
            <a:avLst/>
          </a:prstGeom>
          <a:ln w="25400">
            <a:solidFill>
              <a:srgbClr val="5B6D8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135624" y="2377440"/>
            <a:ext cx="2377440" cy="1554480"/>
          </a:xfrm>
          <a:prstGeom prst="roundRect">
            <a:avLst>
              <a:gd name="adj" fmla="val 12000"/>
            </a:avLst>
          </a:prstGeom>
          <a:solidFill>
            <a:srgbClr val="EEF5FB"/>
          </a:solidFill>
          <a:ln w="19050">
            <a:solidFill>
              <a:srgbClr val="0D5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01F37"/>
                </a:solidFill>
                <a:latin typeface="Microsoft YaHei"/>
              </a:rPr>
              <a:t>3  方法对比</a:t>
            </a:r>
          </a:p>
          <a:p>
            <a:pPr algn="ctr"/>
            <a:r>
              <a:rPr sz="1300" b="0">
                <a:solidFill>
                  <a:srgbClr val="101F37"/>
                </a:solidFill>
                <a:latin typeface="Microsoft YaHei"/>
              </a:rPr>
              <a:t>原版与简单方法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549640" y="3154680"/>
            <a:ext cx="274320" cy="0"/>
          </a:xfrm>
          <a:prstGeom prst="line">
            <a:avLst/>
          </a:prstGeom>
          <a:ln w="25400">
            <a:solidFill>
              <a:srgbClr val="5B6D8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860536" y="2377440"/>
            <a:ext cx="2377440" cy="1554480"/>
          </a:xfrm>
          <a:prstGeom prst="roundRect">
            <a:avLst>
              <a:gd name="adj" fmla="val 12000"/>
            </a:avLst>
          </a:prstGeom>
          <a:solidFill>
            <a:srgbClr val="EEF5FB"/>
          </a:solidFill>
          <a:ln w="19050">
            <a:solidFill>
              <a:srgbClr val="0D5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01F37"/>
                </a:solidFill>
                <a:latin typeface="Microsoft YaHei"/>
              </a:rPr>
              <a:t>4  真实视频</a:t>
            </a:r>
          </a:p>
          <a:p>
            <a:pPr algn="ctr"/>
            <a:r>
              <a:rPr sz="1300" b="0">
                <a:solidFill>
                  <a:srgbClr val="101F37"/>
                </a:solidFill>
                <a:latin typeface="Microsoft YaHei"/>
              </a:rPr>
              <a:t>DAVIS 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96596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569A"/>
                </a:solidFill>
                <a:latin typeface="Microsoft YaHei"/>
              </a:rPr>
              <a:t>下一步</a:t>
            </a:r>
          </a:p>
        </p:txBody>
      </p:sp>
      <p:sp>
        <p:nvSpPr>
          <p:cNvPr id="12" name="Training strategy 1"/>
          <p:cNvSpPr txBox="1"/>
          <p:nvPr/>
        </p:nvSpPr>
        <p:spPr>
          <a:xfrm>
            <a:off x="777240" y="4343400"/>
            <a:ext cx="10652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F37"/>
                </a:solidFill>
                <a:latin typeface="Microsoft YaHei"/>
              </a:rPr>
              <a:t>训练时同时使用原始视差和人为扰动的视差，目标都是同一份真值。</a:t>
            </a:r>
          </a:p>
        </p:txBody>
      </p:sp>
      <p:sp>
        <p:nvSpPr>
          <p:cNvPr id="13" name="Training strategy 2"/>
          <p:cNvSpPr txBox="1"/>
          <p:nvPr/>
        </p:nvSpPr>
        <p:spPr>
          <a:xfrm>
            <a:off x="777240" y="4782312"/>
            <a:ext cx="10652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F37"/>
                </a:solidFill>
                <a:latin typeface="Microsoft YaHei"/>
              </a:rPr>
              <a:t>先用合成数据训练，再在真实视频上验证，之后决定是否适配。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283464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50" b="1">
                <a:solidFill>
                  <a:srgbClr val="0D569A"/>
                </a:solidFill>
                <a:latin typeface="Microsoft YaHei"/>
              </a:rPr>
              <a:t>用真值深度训练修正器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989320"/>
            <a:ext cx="10652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01F37"/>
                </a:solidFill>
                <a:latin typeface="Microsoft YaHei"/>
              </a:rPr>
              <a:t>VDA 抹掉了毛发细节，前后层次也偏平。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9215" y="896112"/>
            <a:ext cx="33101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569A"/>
                </a:solidFill>
                <a:latin typeface="Microsoft YaHei"/>
              </a:rPr>
              <a:t>原图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0783" y="896112"/>
            <a:ext cx="33101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569A"/>
                </a:solidFill>
                <a:latin typeface="Microsoft YaHei"/>
              </a:rPr>
              <a:t>真值深度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42351" y="896112"/>
            <a:ext cx="33101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569A"/>
                </a:solidFill>
                <a:latin typeface="Microsoft YaHei"/>
              </a:rPr>
              <a:t>VDA 预测</a:t>
            </a:r>
          </a:p>
        </p:txBody>
      </p:sp>
      <p:pic>
        <p:nvPicPr>
          <p:cNvPr id="7" name="Picture 6" descr="cave_2-12-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215" y="1243584"/>
            <a:ext cx="3310128" cy="1409390"/>
          </a:xfrm>
          <a:prstGeom prst="rect">
            <a:avLst/>
          </a:prstGeom>
        </p:spPr>
      </p:pic>
      <p:pic>
        <p:nvPicPr>
          <p:cNvPr id="8" name="Picture 7" descr="cave_2-12-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0783" y="1243584"/>
            <a:ext cx="3310128" cy="1409390"/>
          </a:xfrm>
          <a:prstGeom prst="rect">
            <a:avLst/>
          </a:prstGeom>
        </p:spPr>
      </p:pic>
      <p:pic>
        <p:nvPicPr>
          <p:cNvPr id="9" name="Picture 8" descr="cave_2-12-v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2351" y="1243584"/>
            <a:ext cx="3310128" cy="1409390"/>
          </a:xfrm>
          <a:prstGeom prst="rect">
            <a:avLst/>
          </a:prstGeom>
        </p:spPr>
      </p:pic>
      <p:pic>
        <p:nvPicPr>
          <p:cNvPr id="10" name="Picture 9" descr="bandage_1-12-rg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215" y="2744414"/>
            <a:ext cx="3310128" cy="1409390"/>
          </a:xfrm>
          <a:prstGeom prst="rect">
            <a:avLst/>
          </a:prstGeom>
        </p:spPr>
      </p:pic>
      <p:pic>
        <p:nvPicPr>
          <p:cNvPr id="11" name="Picture 10" descr="bandage_1-12-g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0783" y="2744414"/>
            <a:ext cx="3310128" cy="1409390"/>
          </a:xfrm>
          <a:prstGeom prst="rect">
            <a:avLst/>
          </a:prstGeom>
        </p:spPr>
      </p:pic>
      <p:pic>
        <p:nvPicPr>
          <p:cNvPr id="12" name="Picture 11" descr="bandage_1-12-vd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42351" y="2744414"/>
            <a:ext cx="3310128" cy="1409390"/>
          </a:xfrm>
          <a:prstGeom prst="rect">
            <a:avLst/>
          </a:prstGeom>
        </p:spPr>
      </p:pic>
      <p:pic>
        <p:nvPicPr>
          <p:cNvPr id="13" name="Picture 12" descr="shaman_2-12-rg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9215" y="4245244"/>
            <a:ext cx="3310128" cy="1409390"/>
          </a:xfrm>
          <a:prstGeom prst="rect">
            <a:avLst/>
          </a:prstGeom>
        </p:spPr>
      </p:pic>
      <p:pic>
        <p:nvPicPr>
          <p:cNvPr id="14" name="Picture 13" descr="shaman_2-12-g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40783" y="4245244"/>
            <a:ext cx="3310128" cy="1409390"/>
          </a:xfrm>
          <a:prstGeom prst="rect">
            <a:avLst/>
          </a:prstGeom>
        </p:spPr>
      </p:pic>
      <p:pic>
        <p:nvPicPr>
          <p:cNvPr id="15" name="Picture 14" descr="shaman_2-12-vd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2351" y="4245244"/>
            <a:ext cx="3310128" cy="140939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283464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50" b="1">
                <a:solidFill>
                  <a:srgbClr val="0D569A"/>
                </a:solidFill>
                <a:latin typeface="Microsoft YaHei"/>
              </a:rPr>
              <a:t>实验计划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989320"/>
            <a:ext cx="10652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01F37"/>
                </a:solidFill>
                <a:latin typeface="Microsoft YaHei"/>
              </a:rPr>
              <a:t>先验证提升空间，再训练修正器。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77440"/>
            <a:ext cx="2377440" cy="1554480"/>
          </a:xfrm>
          <a:prstGeom prst="roundRect">
            <a:avLst>
              <a:gd name="adj" fmla="val 12000"/>
            </a:avLst>
          </a:prstGeom>
          <a:solidFill>
            <a:srgbClr val="0D569A"/>
          </a:solidFill>
          <a:ln w="19050">
            <a:solidFill>
              <a:srgbClr val="0D5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  验证空间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Microsoft YaHei"/>
              </a:rPr>
              <a:t>真值深度送进 ATB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099816" y="3154680"/>
            <a:ext cx="274320" cy="0"/>
          </a:xfrm>
          <a:prstGeom prst="line">
            <a:avLst/>
          </a:prstGeom>
          <a:ln w="25400">
            <a:solidFill>
              <a:srgbClr val="5B6D8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410712" y="2377440"/>
            <a:ext cx="2377440" cy="1554480"/>
          </a:xfrm>
          <a:prstGeom prst="roundRect">
            <a:avLst>
              <a:gd name="adj" fmla="val 12000"/>
            </a:avLst>
          </a:prstGeom>
          <a:solidFill>
            <a:srgbClr val="EEF5FB"/>
          </a:solidFill>
          <a:ln w="19050">
            <a:solidFill>
              <a:srgbClr val="0D5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01F37"/>
                </a:solidFill>
                <a:latin typeface="Microsoft YaHei"/>
              </a:rPr>
              <a:t>2  训练修正器</a:t>
            </a:r>
          </a:p>
          <a:p>
            <a:pPr algn="ctr"/>
            <a:r>
              <a:rPr sz="1300" b="0">
                <a:solidFill>
                  <a:srgbClr val="101F37"/>
                </a:solidFill>
                <a:latin typeface="Microsoft YaHei"/>
              </a:rPr>
              <a:t>Sintel 真值监督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24728" y="3154680"/>
            <a:ext cx="274320" cy="0"/>
          </a:xfrm>
          <a:prstGeom prst="line">
            <a:avLst/>
          </a:prstGeom>
          <a:ln w="25400">
            <a:solidFill>
              <a:srgbClr val="5B6D8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135624" y="2377440"/>
            <a:ext cx="2377440" cy="1554480"/>
          </a:xfrm>
          <a:prstGeom prst="roundRect">
            <a:avLst>
              <a:gd name="adj" fmla="val 12000"/>
            </a:avLst>
          </a:prstGeom>
          <a:solidFill>
            <a:srgbClr val="EEF5FB"/>
          </a:solidFill>
          <a:ln w="19050">
            <a:solidFill>
              <a:srgbClr val="0D5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01F37"/>
                </a:solidFill>
                <a:latin typeface="Microsoft YaHei"/>
              </a:rPr>
              <a:t>3  方法对比</a:t>
            </a:r>
          </a:p>
          <a:p>
            <a:pPr algn="ctr"/>
            <a:r>
              <a:rPr sz="1300" b="0">
                <a:solidFill>
                  <a:srgbClr val="101F37"/>
                </a:solidFill>
                <a:latin typeface="Microsoft YaHei"/>
              </a:rPr>
              <a:t>原版与简单方法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549640" y="3154680"/>
            <a:ext cx="274320" cy="0"/>
          </a:xfrm>
          <a:prstGeom prst="line">
            <a:avLst/>
          </a:prstGeom>
          <a:ln w="25400">
            <a:solidFill>
              <a:srgbClr val="5B6D8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860536" y="2377440"/>
            <a:ext cx="2377440" cy="1554480"/>
          </a:xfrm>
          <a:prstGeom prst="roundRect">
            <a:avLst>
              <a:gd name="adj" fmla="val 12000"/>
            </a:avLst>
          </a:prstGeom>
          <a:solidFill>
            <a:srgbClr val="EEF5FB"/>
          </a:solidFill>
          <a:ln w="19050">
            <a:solidFill>
              <a:srgbClr val="0D5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01F37"/>
                </a:solidFill>
                <a:latin typeface="Microsoft YaHei"/>
              </a:rPr>
              <a:t>4  真实视频</a:t>
            </a:r>
          </a:p>
          <a:p>
            <a:pPr algn="ctr"/>
            <a:r>
              <a:rPr sz="1300" b="0">
                <a:solidFill>
                  <a:srgbClr val="101F37"/>
                </a:solidFill>
                <a:latin typeface="Microsoft YaHei"/>
              </a:rPr>
              <a:t>DAVIS 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96596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569A"/>
                </a:solidFill>
                <a:latin typeface="Microsoft YaHei"/>
              </a:rPr>
              <a:t>下一步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39</Words>
  <Application>Microsoft Office PowerPoint</Application>
  <DocSecurity>0</DocSecurity>
  <PresentationFormat>宽屏</PresentationFormat>
  <Paragraphs>11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等线</vt:lpstr>
      <vt:lpstr>Microsoft YaHei</vt:lpstr>
      <vt:lpstr>Microsoft YaHei</vt:lpstr>
      <vt:lpstr>微软雅黑 Light</vt:lpstr>
      <vt:lpstr>Arial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23</cp:revision>
  <dcterms:created xsi:type="dcterms:W3CDTF">2026-08-21T05:34:17Z</dcterms:created>
  <dcterms:modified xsi:type="dcterms:W3CDTF">2026-10-21T11:32:43Z</dcterms:modified>
</cp:coreProperties>
</file>