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67" r:id="rId18"/>
    <p:sldId id="268" r:id="rId19"/>
    <p:sldId id="269" r:id="rId20"/>
    <p:sldId id="270" r:id="rId21"/>
    <p:sldId id="271" r:id="rId22"/>
    <p:sldId id="274" r:id="rId25"/>
    <p:sldId id="272" r:id="rId23"/>
    <p:sldId id="275" r:id="rId12"/>
    <p:sldId id="276" r:id="rId11"/>
    <p:sldId id="277" r:id="rId10"/>
    <p:sldId id="278" r:id="rId9"/>
    <p:sldId id="279" r:id="rId8"/>
    <p:sldId id="280" r:id="rId7"/>
    <p:sldId id="281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3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16.xml"/><Relationship Id="rId7" Type="http://schemas.openxmlformats.org/officeDocument/2006/relationships/slide" Target="slides/slide15.xml"/><Relationship Id="rId8" Type="http://schemas.openxmlformats.org/officeDocument/2006/relationships/slide" Target="slides/slide14.xml"/><Relationship Id="rId9" Type="http://schemas.openxmlformats.org/officeDocument/2006/relationships/slide" Target="slides/slide13.xml"/><Relationship Id="rId10" Type="http://schemas.openxmlformats.org/officeDocument/2006/relationships/slide" Target="slides/slide12.xml"/><Relationship Id="rId11" Type="http://schemas.openxmlformats.org/officeDocument/2006/relationships/slide" Target="slides/slide11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8.xml"/><Relationship Id="rId25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内容依据：</a:t>
            </a:r>
            <a:r>
              <a:rPr lang="en-US" altLang="zh-CN"/>
              <a:t>OPPO_</a:t>
            </a:r>
            <a:r>
              <a:rPr lang="zh-CN" altLang="en-US"/>
              <a:t>技术路线梳理</a:t>
            </a:r>
            <a:r>
              <a:rPr lang="en-US" altLang="zh-CN"/>
              <a:t>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5.png"/><Relationship Id="rId5" Type="http://schemas.microsoft.com/office/2007/relationships/media" Target="../media/media4.mp4"/><Relationship Id="rId6" Type="http://schemas.openxmlformats.org/officeDocument/2006/relationships/video" Target="../media/media4.mp4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视频虚化：基线补充</a:t>
            </a:r>
          </a:p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与 Any-to-Bokeh 分析</a:t>
            </a: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2026.10.16</a:t>
            </a: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主体保留与背景虚化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goa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山羊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lackswan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黑天鹅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背景变虚，主体和细节基本保留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运动场景下的视频虚化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danc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舞蹈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reakdance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街舞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人在运动时，肢体边缘和前后帧也比较稳定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合成数据：ATB 各项指标最好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200 段 × 25 帧，1024×576。上表是我们复现的，下表是论文报的，仅供对照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68680" y="1426464"/>
          <a:ext cx="10332720" cy="23042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本项目复现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MagicBokeh†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97.79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0.0268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六法平均偏差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1.79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0.032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20.64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0.136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0.0051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868680" y="3840480"/>
          <a:ext cx="10332720" cy="20482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论文报告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24.574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0.819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125.338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0.030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31.273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32.710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0.522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27.992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39.102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31.390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35.766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27.525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0.834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0.127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65.678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38.899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9.005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0.431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BokehCrafter*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27.86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0.886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0.122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68680" y="5961888"/>
            <a:ext cx="103327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6B7A90"/>
                </a:solidFill>
                <a:latin typeface="Arial"/>
                <a:ea typeface="Microsoft YaHei"/>
              </a:rPr>
              <a:t>† MagicBokeh 选焦点时用到了真值目标区域；Dr.Bokeh 用了真值 alpha。最后一行“平均偏差”只算原来六个方法。</a:t>
            </a:r>
          </a:p>
          <a:p>
            <a:pPr algn="l"/>
            <a:r>
              <a:rPr sz="1050" b="0">
                <a:solidFill>
                  <a:srgbClr val="6B7A90"/>
                </a:solidFill>
                <a:latin typeface="Arial"/>
                <a:ea typeface="Microsoft YaHei"/>
              </a:rPr>
              <a:t>* BokehCrafter 是它论文里另一个数据集上的结果，不能直接比。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真实视频：主体边缘保留情况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DAVIS 50 段 × 25 帧，没有虚化真值；VEPI 看主体边缘保留得好不好，越高越好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737360" y="1645920"/>
          <a:ext cx="859536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↑（本项目）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↑（论文）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0.715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0.863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0.859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577840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MagicBokeh 还没在 DAVIS 上测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模型成本：ATB 显存最高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01F37"/>
                </a:solidFill>
                <a:latin typeface="Arial"/>
                <a:ea typeface="Microsoft YaHei"/>
              </a:rPr>
              <a:t>RTX 4090 D，1024×576。时间按每输出一帧算，显存取运行中的最高值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  <a:gridCol w="25603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 (s/输出帧)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0.342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1.269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1398.55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44068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只算模型本身，不含读数据、预处理和后处理。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ATB 一次处理一段视频，这里的单帧时间是平均下来的，不是单帧延迟。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完整处理 25 帧视频的耗时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01F37"/>
                </a:solidFill>
                <a:latin typeface="Arial"/>
                <a:ea typeface="Microsoft YaHei"/>
              </a:rPr>
              <a:t>RTX 4090 D，1024×576、25 帧；每个输入先预热 1 次，再正式测 5 次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7307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822960"/>
                <a:gridCol w="1874520"/>
                <a:gridCol w="1874520"/>
                <a:gridCol w="1234440"/>
                <a:gridCol w="2103120"/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Core (s/25帧)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E2E (s/25帧)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峰值内存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46.733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48.789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1.52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8.584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21.789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1.139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21.953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5.956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7.536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3.317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23.151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23.957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32.571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36.570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6.79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21.860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57784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Core：只算模型；E2E：从读入输入到输出 25 帧 RGB，不含加载模型和写盘。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† MagicBokeh 的 E2E 包含自己估深度、选焦点和颜色校正。DeepLens 跑在 CPU 上，内存一列是 CPU 内存。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的时间主要花在 VAE 编码和解码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固定 4 段视频，每段 25 帧。为了拆分各阶段加了计时点，总时间比正常运行略长</a:t>
            </a:r>
          </a:p>
        </p:txBody>
      </p:sp>
      <p:sp>
        <p:nvSpPr>
          <p:cNvPr id="100" name="Updated note 100"/>
          <p:cNvSpPr txBox="1"/>
          <p:nvPr/>
        </p:nvSpPr>
        <p:spPr>
          <a:xfrm>
            <a:off x="914400" y="4754880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101F37"/>
                </a:solidFill>
                <a:latin typeface="Arial"/>
                <a:ea typeface="Microsoft YaHei"/>
              </a:rPr>
              <a:t>VAE 相关三项合计约 80%，UNet 不到 20%</a:t>
            </a: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/>
        </p:nvGraphicFramePr>
        <p:xfrm>
          <a:off x="914400" y="1645920"/>
          <a:ext cx="10241280" cy="2926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/>
                <a:gridCol w="1828800"/>
                <a:gridCol w="173736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耗时 (s/25帧)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时间占比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显存峰值 (GiB)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CLIP 图像编码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0.160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0.79%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11.92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RGB VAE 编码与缓存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4.581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22.71%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CoC VAE 编码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3.787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18.78%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UNet 时空条件处理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3.742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18.55%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14.39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重叠拼接与时序解码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7.841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38.87%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29.65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未归入上述阶段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0.059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0.29%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完整带插桩 Core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20.171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100%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去掉一处“除以 1”，显存降 4.5 GiB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1024128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0">
                <a:solidFill>
                  <a:srgbClr val="101F37"/>
                </a:solidFill>
                <a:latin typeface="Arial"/>
                <a:ea typeface="Microsoft YaHei"/>
              </a:rPr>
              <a:t>VAE 编码器残差输出原本会再除以 1，多申请一块 4.5 GiB 的显存；改成直接跳过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/>
                <a:gridCol w="2377440"/>
                <a:gridCol w="2377440"/>
                <a:gridCol w="164592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指标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原版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候选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变化</a:t>
                      </a:r>
                    </a:p>
                  </a:txBody>
                  <a:tcPr anchor="ctr" marL="45720" marR="45720" marT="9144" marB="9144">
                    <a:solidFill>
                      <a:srgbClr val="0D569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 帧耗时 (s)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20.273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20.049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−1.10%</a:t>
                      </a:r>
                    </a:p>
                  </a:txBody>
                  <a:tcPr anchor="ctr" marL="45720" marR="45720" marT="9144" marB="914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设备显存峰值 (GiB)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42.116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37.616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−10.68%</a:t>
                      </a:r>
                    </a:p>
                  </a:txBody>
                  <a:tcPr anchor="ctr" marL="45720" marR="45720" marT="9144" marB="9144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14400" y="3200000"/>
          <a:ext cx="10241280" cy="1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2384"/>
                <a:gridCol w="2048256"/>
                <a:gridCol w="2048256"/>
                <a:gridCol w="3072384"/>
              </a:tblGrid>
              <a:tr h="38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检查片段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K（虚化强度）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输出帧数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与原版输出的差异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repro_004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完全一致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repro_006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完全一致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repro_003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16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完全一致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repro_000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完全一致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68680" y="5300000"/>
            <a:ext cx="1045464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Microsoft YaHei"/>
              </a:rPr>
              <a:t>逐个浮点值比较，差异为 0。只改了编码器，解码器和 UNet 没动。</a:t>
            </a:r>
          </a:p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Microsoft YaHei"/>
              </a:rPr>
              <a:t>降低后约 37.6 GiB，仍放不进 32 GB 显卡。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在哪些场景会出问题：做法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00000"/>
            <a:ext cx="106375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1F37"/>
                </a:solidFill>
                <a:latin typeface="Arial"/>
                <a:ea typeface="Microsoft YaHei"/>
              </a:rPr>
              <a:t>先把数据分成两组：一组用来找问题，另一组留着之后验证，目前没打开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550000"/>
          <a:ext cx="10241280" cy="1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760"/>
                <a:gridCol w="2275840"/>
                <a:gridCol w="2275840"/>
                <a:gridCol w="2275840"/>
              </a:tblGrid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数据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用来找问题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留着验证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两组共用素材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Synthetic 合成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140 段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60 段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DAVIS 真实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35 段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15 段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14400" y="3050000"/>
          <a:ext cx="1024128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5120640"/>
                <a:gridCol w="3413760"/>
              </a:tblGrid>
              <a:tr h="4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步骤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看什么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数量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第一批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输入 + ATB 输出，先不看别的方法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Synthetic 16 段 + DAVIS 8 段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第二批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只用真实视频，侧重细绳、遮挡、复杂边缘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DAVIS 12 段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对比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对有疑问的位置，看 6 个方法在同一帧同一位置的结果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有疑问的样本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68680" y="5000000"/>
            <a:ext cx="1045464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Microsoft YaHei"/>
              </a:rPr>
              <a:t>选样本时只看输入，没参考 ATB 的分数或效果。</a:t>
            </a:r>
          </a:p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Microsoft YaHei"/>
              </a:rPr>
              <a:t>合成数据看不太出问题，所以第二批只看真实视频。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看下来的结果：大多数正常，几处有疑问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77240" y="1150000"/>
          <a:ext cx="10637520" cy="355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380"/>
                <a:gridCol w="4432300"/>
                <a:gridCol w="3545840"/>
              </a:tblGrid>
              <a:tr h="395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视频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看到的现象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输入深度能不能解释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</a:tr>
              <a:tr h="395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paragliding-launch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头顶的伞绳基本全程都模糊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绳子的视差和背景接近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  <a:tr h="395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car-shadow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车顶细结构被模糊，几乎每帧都有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部分区域视差接近背景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</a:tr>
              <a:tr h="395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car-turn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车开近后，旁边栏杆的细绳反而更糊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焦点在变，绳和草地视差接近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  <a:tr h="395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mallard-water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鸭头被虚化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头被估得比焦点更近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</a:tr>
              <a:tr h="395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stroller / drift-turn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鞋子被虚化；背景人物和墙上文字没怎么虚化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输入深度本身就要求这样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  <a:tr h="395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scooter-gray / cows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部分背景虚化不明显；竖杆、铃铛有疑问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有输入线索，还不明确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</a:tr>
              <a:tr h="395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soccerball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足球旁边的草地被虚化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还没查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  <a:tr h="395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其他 11 段 DAVIS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没发现明显问题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868680" y="5200000"/>
            <a:ext cx="1045464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Microsoft YaHei"/>
              </a:rPr>
              <a:t>“输入深度能不能解释”只是看输入，没有真实深度，不能说明 ATB 本身有错。</a:t>
            </a:r>
          </a:p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Microsoft YaHei"/>
              </a:rPr>
              <a:t>合成数据整体看不出太多问题（K 小于 16 时虚化弱，不好判断），只有一段背景偶尔闪。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伞绳：ATB 也有损失，但比其他方法清楚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50000"/>
            <a:ext cx="25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1F37"/>
                </a:solidFill>
                <a:latin typeface="Arial"/>
                <a:ea typeface="Microsoft YaHei"/>
              </a:rPr>
              <a:t>输入（第 0 帧，头顶伞绳）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1420000"/>
            <a:ext cx="2560000" cy="1600000"/>
          </a:xfrm>
          <a:prstGeom prst="rect">
            <a:avLst/>
          </a:prstGeom>
          <a:solidFill>
            <a:srgbClr val="F5F8FC"/>
          </a:solidFill>
          <a:ln w="15875">
            <a:solidFill>
              <a:srgbClr val="9FB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6B7A90"/>
                </a:solidFill>
                <a:latin typeface="Arial"/>
                <a:ea typeface="Microsoft YaHei"/>
              </a:rPr>
              <a:t>图片待补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7240" y="1050000"/>
            <a:ext cx="25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1F37"/>
                </a:solidFill>
                <a:latin typeface="Arial"/>
                <a:ea typeface="Microsoft YaHei"/>
              </a:rPr>
              <a:t>ATB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57240" y="1420000"/>
            <a:ext cx="2560000" cy="1600000"/>
          </a:xfrm>
          <a:prstGeom prst="rect">
            <a:avLst/>
          </a:prstGeom>
          <a:solidFill>
            <a:srgbClr val="F5F8FC"/>
          </a:solidFill>
          <a:ln w="15875">
            <a:solidFill>
              <a:srgbClr val="9FB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6B7A90"/>
                </a:solidFill>
                <a:latin typeface="Arial"/>
                <a:ea typeface="Microsoft YaHei"/>
              </a:rPr>
              <a:t>图片待补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37240" y="1050000"/>
            <a:ext cx="25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1F37"/>
                </a:solidFill>
                <a:latin typeface="Arial"/>
                <a:ea typeface="Microsoft YaHei"/>
              </a:rPr>
              <a:t>MPIB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37240" y="1420000"/>
            <a:ext cx="2560000" cy="1600000"/>
          </a:xfrm>
          <a:prstGeom prst="rect">
            <a:avLst/>
          </a:prstGeom>
          <a:solidFill>
            <a:srgbClr val="F5F8FC"/>
          </a:solidFill>
          <a:ln w="15875">
            <a:solidFill>
              <a:srgbClr val="9FB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6B7A90"/>
                </a:solidFill>
                <a:latin typeface="Arial"/>
                <a:ea typeface="Microsoft YaHei"/>
              </a:rPr>
              <a:t>图片待补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17240" y="1050000"/>
            <a:ext cx="25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1F37"/>
                </a:solidFill>
                <a:latin typeface="Arial"/>
                <a:ea typeface="Microsoft YaHei"/>
              </a:rPr>
              <a:t>BokehMe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17240" y="1420000"/>
            <a:ext cx="2560000" cy="1600000"/>
          </a:xfrm>
          <a:prstGeom prst="rect">
            <a:avLst/>
          </a:prstGeom>
          <a:solidFill>
            <a:srgbClr val="F5F8FC"/>
          </a:solidFill>
          <a:ln w="15875">
            <a:solidFill>
              <a:srgbClr val="9FB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6B7A90"/>
                </a:solidFill>
                <a:latin typeface="Arial"/>
                <a:ea typeface="Microsoft YaHei"/>
              </a:rPr>
              <a:t>图片待补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777240" y="3300000"/>
          <a:ext cx="10637520" cy="1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5008"/>
                <a:gridCol w="3191256"/>
                <a:gridCol w="3191256"/>
              </a:tblGrid>
              <a:tr h="38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位置（第 0 帧）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视差中位数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应有虚化（像素）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人物身上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0.663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上方细绳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0.027 ~ 0.067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8.4 ~ 9.0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旁边背景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0.059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8.5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868680" y="5000000"/>
            <a:ext cx="1045464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Microsoft YaHei"/>
              </a:rPr>
              <a:t>上方细绳的视差和背景几乎一样，所以输入就要求它和背景一起虚化。</a:t>
            </a:r>
          </a:p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Microsoft YaHei"/>
              </a:rPr>
              <a:t>6 个方法里只有 ATB 比较清楚，说明这不是 ATB 独有的问题。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栏杆细绳：车开近后变得更糊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50000"/>
            <a:ext cx="525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1F37"/>
                </a:solidFill>
                <a:latin typeface="Arial"/>
                <a:ea typeface="Microsoft YaHei"/>
              </a:rPr>
              <a:t>第 1 帧 ATB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1420000"/>
            <a:ext cx="5250000" cy="1650000"/>
          </a:xfrm>
          <a:prstGeom prst="rect">
            <a:avLst/>
          </a:prstGeom>
          <a:solidFill>
            <a:srgbClr val="F5F8FC"/>
          </a:solidFill>
          <a:ln w="15875">
            <a:solidFill>
              <a:srgbClr val="9FB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6B7A90"/>
                </a:solidFill>
                <a:latin typeface="Arial"/>
                <a:ea typeface="Microsoft YaHei"/>
              </a:rPr>
              <a:t>图片待补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7240" y="1050000"/>
            <a:ext cx="525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1F37"/>
                </a:solidFill>
                <a:latin typeface="Arial"/>
                <a:ea typeface="Microsoft YaHei"/>
              </a:rPr>
              <a:t>第 22 帧 ATB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57240" y="1420000"/>
            <a:ext cx="5250000" cy="1650000"/>
          </a:xfrm>
          <a:prstGeom prst="rect">
            <a:avLst/>
          </a:prstGeom>
          <a:solidFill>
            <a:srgbClr val="F5F8FC"/>
          </a:solidFill>
          <a:ln w="15875">
            <a:solidFill>
              <a:srgbClr val="9FB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6B7A90"/>
                </a:solidFill>
                <a:latin typeface="Arial"/>
                <a:ea typeface="Microsoft YaHei"/>
              </a:rPr>
              <a:t>图片待补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77240" y="3300000"/>
          <a:ext cx="10637520" cy="1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5840"/>
                <a:gridCol w="1772920"/>
                <a:gridCol w="1772920"/>
                <a:gridCol w="1772920"/>
                <a:gridCol w="1772920"/>
              </a:tblGrid>
              <a:tr h="38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焦点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绳段 1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绳段 2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绳段 3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第 1 帧 应有虚化（像素）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0.323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0.71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1.02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1.40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第 22 帧 应有虚化（像素）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0.417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2.40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2.03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2.84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绳与旁边草地的视差差（全程中位数）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0.004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868680" y="5000000"/>
            <a:ext cx="1045464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Microsoft YaHei"/>
              </a:rPr>
              <a:t>焦点随车靠近而变化，细绳应有的虚化变大，和看到的变糊一致。</a:t>
            </a:r>
          </a:p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Microsoft YaHei"/>
              </a:rPr>
              <a:t>绳和草地视差很接近，猜测是绳太细、视差被草地带过去了；目前分辨率下还分不清。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鸭头：深度估得比焦点更近，被额外虚化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50000"/>
            <a:ext cx="25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1F37"/>
                </a:solidFill>
                <a:latin typeface="Arial"/>
                <a:ea typeface="Microsoft YaHei"/>
              </a:rPr>
              <a:t>输入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1420000"/>
            <a:ext cx="2560000" cy="1600000"/>
          </a:xfrm>
          <a:prstGeom prst="rect">
            <a:avLst/>
          </a:prstGeom>
          <a:solidFill>
            <a:srgbClr val="F5F8FC"/>
          </a:solidFill>
          <a:ln w="15875">
            <a:solidFill>
              <a:srgbClr val="9FB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6B7A90"/>
                </a:solidFill>
                <a:latin typeface="Arial"/>
                <a:ea typeface="Microsoft YaHei"/>
              </a:rPr>
              <a:t>图片待补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7240" y="1050000"/>
            <a:ext cx="25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1F37"/>
                </a:solidFill>
                <a:latin typeface="Arial"/>
                <a:ea typeface="Microsoft YaHei"/>
              </a:rPr>
              <a:t>ATB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57240" y="1420000"/>
            <a:ext cx="2560000" cy="1600000"/>
          </a:xfrm>
          <a:prstGeom prst="rect">
            <a:avLst/>
          </a:prstGeom>
          <a:solidFill>
            <a:srgbClr val="F5F8FC"/>
          </a:solidFill>
          <a:ln w="15875">
            <a:solidFill>
              <a:srgbClr val="9FB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6B7A90"/>
                </a:solidFill>
                <a:latin typeface="Arial"/>
                <a:ea typeface="Microsoft YaHei"/>
              </a:rPr>
              <a:t>图片待补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37240" y="1050000"/>
            <a:ext cx="25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1F37"/>
                </a:solidFill>
                <a:latin typeface="Arial"/>
                <a:ea typeface="Microsoft YaHei"/>
              </a:rPr>
              <a:t>MPIB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37240" y="1420000"/>
            <a:ext cx="2560000" cy="1600000"/>
          </a:xfrm>
          <a:prstGeom prst="rect">
            <a:avLst/>
          </a:prstGeom>
          <a:solidFill>
            <a:srgbClr val="F5F8FC"/>
          </a:solidFill>
          <a:ln w="15875">
            <a:solidFill>
              <a:srgbClr val="9FB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6B7A90"/>
                </a:solidFill>
                <a:latin typeface="Arial"/>
                <a:ea typeface="Microsoft YaHei"/>
              </a:rPr>
              <a:t>图片待补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17240" y="1050000"/>
            <a:ext cx="25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1F37"/>
                </a:solidFill>
                <a:latin typeface="Arial"/>
                <a:ea typeface="Microsoft YaHei"/>
              </a:rPr>
              <a:t>BokehMe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17240" y="1420000"/>
            <a:ext cx="2560000" cy="1600000"/>
          </a:xfrm>
          <a:prstGeom prst="rect">
            <a:avLst/>
          </a:prstGeom>
          <a:solidFill>
            <a:srgbClr val="F5F8FC"/>
          </a:solidFill>
          <a:ln w="15875">
            <a:solidFill>
              <a:srgbClr val="9FB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>
                <a:solidFill>
                  <a:srgbClr val="6B7A90"/>
                </a:solidFill>
                <a:latin typeface="Arial"/>
                <a:ea typeface="Microsoft YaHei"/>
              </a:rPr>
              <a:t>图片待补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777240" y="3250000"/>
          <a:ext cx="1063752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3752"/>
                <a:gridCol w="2127504"/>
                <a:gridCol w="3191256"/>
                <a:gridCol w="2127504"/>
                <a:gridCol w="2127504"/>
              </a:tblGrid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帧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焦点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头部 应有虚化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颈部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身体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0.576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2.40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0.20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0.586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2.23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0.16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0.53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12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0.584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2.21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0.14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0.33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0.585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2.38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0.18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0.585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3.45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0.69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0.26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868680" y="5350000"/>
            <a:ext cx="1045464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Microsoft YaHei"/>
              </a:rPr>
              <a:t>单位都是像素。头部一直比颈部和身体多约 2~3 像素的虚化。</a:t>
            </a:r>
          </a:p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Microsoft YaHei"/>
              </a:rPr>
              <a:t>旁边水面的视差约 0.2，比头部低很多，所以不是背景混进来。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下一步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14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14400" y="1300000"/>
          <a:ext cx="10241280" cy="2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8256"/>
                <a:gridCol w="5120640"/>
                <a:gridCol w="3072384"/>
              </a:tblGrid>
              <a:tr h="56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步骤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做什么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想回答的问题</a:t>
                      </a:r>
                    </a:p>
                  </a:txBody>
                  <a:tcPr anchor="ctr" marL="68580" marR="68580" marT="9144" marB="9144">
                    <a:solidFill>
                      <a:srgbClr val="0D569A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 调局部输入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只修正伞绳、细绳、鸭头这些位置的深度，再跑 ATB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问题是不是深度输入造成的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 换视频验证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在留着没看的 15 段 DAVIS 上检查同类现象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是偶然还是会重复出现</a:t>
                      </a:r>
                    </a:p>
                  </a:txBody>
                  <a:tcPr anchor="ctr" marL="68580" marR="68580" marT="9144" marB="9144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 设计改进方法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根据前两步结果，决定从深度、细结构还是效率入手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Ours 具体改什么</a:t>
                      </a:r>
                    </a:p>
                  </a:txBody>
                  <a:tcPr anchor="ctr" marL="68580" marR="68580" marT="9144" marB="9144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868680" y="4000000"/>
            <a:ext cx="1045464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效率方面：显存优化先停在这一处改动，后面看需要再继续。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1255</Words>
  <Application>Microsoft Office PowerPoint</Application>
  <DocSecurity>0</DocSecurity>
  <PresentationFormat>宽屏</PresentationFormat>
  <Paragraphs>173</Paragraphs>
  <Slides>9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微软雅黑</vt:lpstr>
      <vt:lpstr>微软雅黑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12</cp:revision>
  <dcterms:created xsi:type="dcterms:W3CDTF">2026-08-21T05:34:17Z</dcterms:created>
  <dcterms:modified xsi:type="dcterms:W3CDTF">2026-09-20T07:48:37Z</dcterms:modified>
</cp:coreProperties>
</file>