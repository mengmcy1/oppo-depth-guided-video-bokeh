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6"/>
  </p:notesMasterIdLst>
  <p:sldIdLst>
    <p:sldId id="256" r:id="rId2"/>
    <p:sldId id="257" r:id="rId8"/>
    <p:sldId id="258" r:id="rId9"/>
    <p:sldId id="259" r:id="rId10"/>
    <p:sldId id="260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1998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来源：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</a:t>
            </a:r>
            <a:r>
              <a:rPr lang="zh-CN" altLang="en-US"/>
              <a:t>当前实验进度与方法论</a:t>
            </a:r>
            <a:r>
              <a:rPr lang="en-US" altLang="zh-CN"/>
              <a:t>.md</a:t>
            </a:r>
            <a:r>
              <a:rPr lang="zh-CN" altLang="en-US"/>
              <a:t>；</a:t>
            </a:r>
            <a:r>
              <a:rPr lang="en-US" altLang="zh-CN"/>
              <a:t>03_</a:t>
            </a:r>
            <a:r>
              <a:rPr lang="zh-CN" altLang="en-US"/>
              <a:t>实验记录</a:t>
            </a:r>
            <a:r>
              <a:rPr lang="en-US" altLang="zh-CN"/>
              <a:t>/Benchmark</a:t>
            </a:r>
            <a:r>
              <a:rPr lang="zh-CN" altLang="en-US"/>
              <a:t>与</a:t>
            </a:r>
            <a:r>
              <a:rPr lang="en-US" altLang="zh-CN"/>
              <a:t>Baseline</a:t>
            </a:r>
            <a:r>
              <a:rPr lang="zh-CN" altLang="en-US"/>
              <a:t>统一评价协议</a:t>
            </a:r>
            <a:r>
              <a:rPr lang="en-US" altLang="zh-CN"/>
              <a:t>.md</a:t>
            </a:r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来源：03_实验记录/当前实验进度与方法论.md；Benchmark与Baseline统一评价协议.md。PSNR/LPIPS/FVD为Synthetic 200段×25帧，参考为MPIB-public proxy GT；VEPI为DAVIS 50段，只衡量主体边缘保留，不代表整体虚化质量。E2E为给定输入下完整25帧处理时间（Table 3B），峰值为设备显存，DeepLens为CPU内存。Dr.Bokeh合成结果使用GT Alpha；MagicBokeh合成结果使用GT区域辅助选焦。原14页版本保留不变。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来源：records/any2bokeh-native-module-profile-4090d-20261001.json；records/any2bokeh-encoder-scale1-experiment-4090d-20261008.json。耗时分布为RTX 4090 D上带同步插桩的分阶段测量，各阶段allocated峰值含常驻模型与缓存，不能相加。优化只改VAE编码器残差返回表达式，缩放值严格等于1时省去除法；四个固定片段（K=4/8/16/32）浮点输出逐位一致、RGB8一致。原生ATB仍为正式基线；未在32GB显卡上实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records/any2bokeh-B36-causal-diagnosis-20261015.json、any2bokeh-B33-geometry-diagnosis-20261015.json、any2bokeh-B33-causal-diagnosis-20261015.json、any2bokeh-failure-analysis-20261009-human-review.json。“输入虚化强度”=K×|视差−焦点|，是输入控制量，不是实测输出模糊半径。鸭头（B36）：把鸭头预测视差调到颈部代表值，原图、焦点、K、模型不变；同面积水面对照几乎无变化。颈部值是诊断参考，不是真实深度。细绳（B33）：离焦增长主要由跟焦驱动；只修第22帧细绳窄带，输出变化很小。伞绳（B19）：用户第0帧同ROI对照认为ATB相对最清楚，作为反向证据保留，尚未做局部修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来源：MagicBokeh arXiv v2 §3.2–3.4（教师蒸馏见附录A.1/A.2，焦点感知注意力见公式2/3）。MagicBokeh是单图方法，原问题针对低质量输入；本项目合成数据上六项指标最低，以下仅借鉴思路，尚未实现。下一步第1步为最小对照：模型、随机种子和其他输入不变，只改选定位置的离焦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0D827FC-13EC-4534-943C-1B6B237D5F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>
            <a:normAutofit/>
          </a:bodyPr>
          <a:lstStyle>
            <a:lvl1pPr algn="ctr">
              <a:buNone/>
              <a:defRPr sz="6000"/>
            </a:lvl1pPr>
          </a:lstStyle>
          <a:p>
            <a:r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3D191A6-740D-4559-932B-C68CD38E37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sp>
        <p:nvSpPr>
          <p:cNvPr id="16" name="日期占位符 15">
            <a:extLst>
              <a:ext uri="{FF2B5EF4-FFF2-40B4-BE49-F238E27FC236}">
                <a16:creationId xmlns:a16="http://schemas.microsoft.com/office/drawing/2014/main" id="{DC92720F-CEDE-462A-9258-2F6F8E4F4E2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01FAF7BB-96E7-474F-8E13-2A3F228E59E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39F46F67-CF60-41D7-ADA6-BDE73F9616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C1D75B2-BB23-4948-84C7-EB6CF064FB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8EE921-E731-43F3-8919-D567B38E78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4B3765-C182-4421-8F29-6A9DEAAEBEA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4729A8-8D35-4E1E-B947-4B029492F6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3570143-5261-415B-8113-51EF8007CD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4713B2D-E8C6-43F5-A859-87472410D36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>
            <a:normAutofit/>
          </a:bodyPr>
          <a:lstStyle>
            <a:lvl1pPr>
              <a:buNone/>
              <a:defRPr sz="4400"/>
            </a:lvl1pPr>
          </a:lstStyle>
          <a:p>
            <a:r>
              <a:t>单击此处编辑标题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60B62CB-720E-4D14-9DC8-B279D19AF5F6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6EBC76B-9044-435D-93B4-E983D6D6ADB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6BFBDAA-2CE0-4826-86F9-FC15D559EA0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776A62A-7005-4B8A-8635-DC174853138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08C66C-5979-4AA9-943C-8C2145027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F784C1F-6CFA-4FAE-93E9-F41EB3B62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0351BE2-C379-4212-AAB9-07437BE792BA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F551DC6-0261-4DD5-A68A-10D2D8BE3721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1E987A-C040-4F0C-BA48-38851B53EC9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8488445-9CE9-4801-8575-688F822000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CBCE97-C159-4A8D-BB25-D20DBCB4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D84D4FE-8F76-4E37-B3D6-25C02F2E4F35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0EEC01-B1DC-4313-8539-F35516E76EE7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2419646-66E0-4D48-AEB8-A9FCE9E4C41A}"/>
              </a:ext>
            </a:extLst>
          </p:cNvPr>
          <p:cNvSpPr>
            <a:spLocks noGrp="1"/>
          </p:cNvSpPr>
          <p:nvPr>
            <p:ph type="body" idx="3" hasCustomPrompt="1"/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anchor="t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>
              <a:buNone/>
            </a:pPr>
            <a:r>
              <a:t>单击此处编辑文本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D2DFDDD-8310-42F6-8351-27F8F125191F}"/>
              </a:ext>
            </a:extLst>
          </p:cNvPr>
          <p:cNvSpPr>
            <a:spLocks noGrp="1"/>
          </p:cNvSpPr>
          <p:nvPr>
            <p:ph idx="4"/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5D4EB3D-F163-4969-B497-1252F8D7186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B107DFD-FD9F-4976-9EF0-B7B55E59077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B7F6A92-5D5F-46AE-93BF-527FD6D13D2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C7054DC-D709-49D8-8331-FC6AE8E36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anchor="ctr">
            <a:normAutofit/>
          </a:bodyPr>
          <a:lstStyle/>
          <a:p>
            <a:pPr>
              <a:buNone/>
            </a:pPr>
            <a:r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6D7A751D-BE1B-40DA-9C0F-042E3D798C1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EAA8944-91D1-428C-A566-F69CEB78A1F2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B27E16-828F-41B4-BF2C-1667452C213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68F2686-FB7E-462C-9EC7-DDD4CB5E88E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C9584A8-757F-48B4-AE1D-54A674B7270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A044F15-89E6-4327-A0C6-90FEB269C3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BCE772D-D555-41A5-8F20-149C45C8AF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endParaRPr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0097360-FF83-4663-8485-4CE379645D0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>
            <a:normAutofit/>
          </a:bodyPr>
          <a:lstStyle>
            <a:lvl1pPr>
              <a:buNone/>
              <a:defRPr sz="16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5F748D8-86DC-47F7-A68F-80B43749690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9EFD9D74-47D9-4702-A33C-335B63B48DBF}" type="datetimeFigureOut">
              <a:t>2026-10-15</a:t>
            </a:fld>
            <a:endParaRPr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07D1DEA-A29F-4AAD-B7FB-E4FE2D656C55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291BC6B-6A01-426B-8DA0-CB9EF19E71E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FABC47A4-756D-490B-A52F-7D9E2C9FC05F}" type="slidenum">
              <a:t>‹#›</a:t>
            </a:fld>
            <a:endParaRPr/>
          </a:p>
        </p:txBody>
      </p:sp>
      <p:sp>
        <p:nvSpPr>
          <p:cNvPr id="9" name="标题 8">
            <a:extLst>
              <a:ext uri="{FF2B5EF4-FFF2-40B4-BE49-F238E27FC236}">
                <a16:creationId xmlns:a16="http://schemas.microsoft.com/office/drawing/2014/main" id="{4F4E188D-011B-4DC6-B48C-D4EDBF5E1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A170318-5361-428D-8A0E-984E39D201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anchor="ctr">
            <a:normAutofit/>
          </a:bodyPr>
          <a:lstStyle>
            <a:lvl1pPr>
              <a:buNone/>
              <a:defRPr sz="28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4CB72-AAF1-4918-A7DB-1CFCEE6D0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buNone/>
              <a:defRPr spc="300"/>
            </a:lvl1pPr>
            <a:lvl2pPr marL="685800" indent="-228600">
              <a:buNone/>
              <a:defRPr spc="300"/>
            </a:lvl2pPr>
            <a:lvl3pPr marL="1143000" indent="-228600">
              <a:buNone/>
              <a:defRPr spc="300"/>
            </a:lvl3pPr>
            <a:lvl4pPr marL="1600200" indent="-228600">
              <a:buNone/>
              <a:defRPr spc="300"/>
            </a:lvl4pPr>
            <a:lvl5pPr marL="2057400" indent="-228600">
              <a:buNone/>
              <a:defRPr spc="300"/>
            </a:lvl5pPr>
          </a:lstStyle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25F2C6F-AC8A-469B-BFD9-FE81950669C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EF39F2-BB37-4DF8-9772-A1D5E4B1068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2B431A0-5D32-4443-8514-CB4FBA2656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27C3940-28EF-4142-B7B8-CB87F29165B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D386E29-7E6D-4EA5-9C69-93A4C311F35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60BE97B-BDBD-4151-B6AB-2159534455D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05B87756-BC33-45BC-894F-164D91CFB152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992C23E-7253-44AB-9397-C800533DCB9D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6B64AD8-89D9-43A1-BCEB-C34CB4CAA53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CC6365B8-68FE-4E57-A954-41410FA3B76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9AE70B2-8BF9-45C0-BB95-33D1B9D3A854}" type="slidenum">
              <a:t>‹#›</a:t>
            </a:fld>
            <a:endParaRPr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38204CC8-C14D-4A0B-8988-6EDC2CC999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anchor="t">
            <a:normAutofit/>
          </a:bodyPr>
          <a:lstStyle>
            <a:lvl1pPr algn="ctr">
              <a:buNone/>
              <a:defRPr sz="6000"/>
            </a:lvl1pPr>
          </a:lstStyle>
          <a:p>
            <a:pPr>
              <a:buNone/>
            </a:pPr>
            <a:r>
              <a:t>单击此处编辑标题</a:t>
            </a:r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CE75E29-F427-4503-B2EE-1DAE3AFD3989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>
              <a:buNone/>
            </a:pPr>
            <a:r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1663FBA5-BDA6-4C8C-B397-D60D211930AE}"/>
              </a:ext>
            </a:extLst>
          </p:cNvPr>
          <p:cNvSpPr>
            <a:spLocks noGrp="1"/>
          </p:cNvSpPr>
          <p:nvPr/>
        </p:nvSpPr>
        <p:spPr>
          <a:xfrm>
            <a:off x="191344" y="737562"/>
            <a:ext cx="11809312" cy="5067699"/>
          </a:xfrm>
          <a:prstGeom prst="rect">
            <a:avLst/>
          </a:prstGeom>
          <a:solidFill>
            <a:srgbClr val="005BAC">
              <a:alpha val="90000"/>
            </a:srgbClr>
          </a:solidFill>
          <a:ln w="12700" cmpd="sng">
            <a:noFill/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文本占位符 73">
            <a:extLst>
              <a:ext uri="{FF2B5EF4-FFF2-40B4-BE49-F238E27FC236}">
                <a16:creationId xmlns:a16="http://schemas.microsoft.com/office/drawing/2014/main" id="{1CD044CB-B0D8-448E-B78F-0071202101E9}"/>
              </a:ext>
            </a:extLst>
          </p:cNvPr>
          <p:cNvSpPr>
            <a:spLocks noGrp="1"/>
          </p:cNvSpPr>
          <p:nvPr>
            <p:ph type="body" idx="11" hasCustomPrompt="1"/>
          </p:nvPr>
        </p:nvSpPr>
        <p:spPr>
          <a:xfrm>
            <a:off x="4583773" y="4851298"/>
            <a:ext cx="3024188" cy="358941"/>
          </a:xfrm>
        </p:spPr>
        <p:txBody>
          <a:bodyPr anchor="ctr"/>
          <a:lstStyle>
            <a:lvl1pPr algn="ctr">
              <a:buNone/>
              <a:defRPr sz="18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  <a:lvl2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2pPr>
            <a:lvl3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3pPr>
            <a:lvl4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4pPr>
            <a:lvl5pPr>
              <a:buNone/>
              <a:defRPr b="0" i="0">
                <a:solidFill>
                  <a:schemeClr val="bg1"/>
                </a:solidFill>
                <a:latin typeface="等线"/>
                <a:ea typeface="等线"/>
                <a:cs typeface="等线"/>
              </a:defRPr>
            </a:lvl5pPr>
          </a:lstStyle>
          <a:p>
            <a:pPr>
              <a:buNone/>
            </a:pPr>
            <a:r>
              <a:t>单击此处编辑</a:t>
            </a:r>
          </a:p>
        </p:txBody>
      </p:sp>
      <p:sp>
        <p:nvSpPr>
          <p:cNvPr id="76" name="标题 75">
            <a:extLst>
              <a:ext uri="{FF2B5EF4-FFF2-40B4-BE49-F238E27FC236}">
                <a16:creationId xmlns:a16="http://schemas.microsoft.com/office/drawing/2014/main" id="{B7CA6298-7645-4B76-9C7B-5900BAC516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23867" y="2087714"/>
            <a:ext cx="9144000" cy="677108"/>
          </a:xfrm>
        </p:spPr>
        <p:txBody>
          <a:bodyPr/>
          <a:lstStyle>
            <a:lvl1pPr algn="ctr">
              <a:buNone/>
              <a:defRPr sz="4400" b="1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r>
              <a:t>编辑标题样式</a:t>
            </a:r>
          </a:p>
        </p:txBody>
      </p:sp>
      <p:sp>
        <p:nvSpPr>
          <p:cNvPr id="79" name="文本占位符 78">
            <a:extLst>
              <a:ext uri="{FF2B5EF4-FFF2-40B4-BE49-F238E27FC236}">
                <a16:creationId xmlns:a16="http://schemas.microsoft.com/office/drawing/2014/main" id="{7F7BE5F6-56D0-4E82-B9AB-E1E707A00BB2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3431248" y="4266698"/>
            <a:ext cx="5329238" cy="440681"/>
          </a:xfrm>
        </p:spPr>
        <p:txBody>
          <a:bodyPr anchor="ctr"/>
          <a:lstStyle>
            <a:lvl1pPr algn="ctr">
              <a:buNone/>
              <a:defRPr sz="20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电子信息与通信学院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2733C61-8216-4B81-8E92-D7C6839AC68A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142FAE4-9786-4A46-BDEF-71076D530B5A}"/>
              </a:ext>
            </a:extLst>
          </p:cNvPr>
          <p:cNvSpPr>
            <a:spLocks noGrp="1"/>
          </p:cNvSpPr>
          <p:nvPr/>
        </p:nvSpPr>
        <p:spPr>
          <a:xfrm flipH="1">
            <a:off x="11664353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A4C046B-35ED-4F4B-B0F4-433B6A3B0A6C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FA3A01FF-2F41-4BDE-96CD-D24A509B8DE8}"/>
              </a:ext>
            </a:extLst>
          </p:cNvPr>
          <p:cNvSpPr>
            <a:spLocks noGrp="1"/>
          </p:cNvSpPr>
          <p:nvPr/>
        </p:nvSpPr>
        <p:spPr>
          <a:xfrm flipH="1">
            <a:off x="11712656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04" name="直接连接符 23"/>
          <p:cNvCxnSpPr>
            <a:stCxn id="14" idx="2"/>
            <a:endCxn id="15" idx="2"/>
          </p:cNvCxnSpPr>
          <p:nvPr/>
        </p:nvCxnSpPr>
        <p:spPr>
          <a:xfrm>
            <a:off x="455647" y="652498"/>
            <a:ext cx="11280706" cy="0"/>
          </a:xfrm>
          <a:prstGeom prst="line">
            <a:avLst/>
          </a:prstGeom>
          <a:ln w="6350" cap="flat">
            <a:solidFill>
              <a:srgbClr val="005BAD"/>
            </a:solidFill>
            <a:prstDash val="solid"/>
            <a:miter/>
          </a:ln>
        </p:spPr>
      </p:cxnSp>
      <p:pic>
        <p:nvPicPr>
          <p:cNvPr id="305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94193" y="5877272"/>
            <a:ext cx="1203613" cy="914400"/>
          </a:xfrm>
          <a:prstGeom prst="rect">
            <a:avLst/>
          </a:prstGeom>
        </p:spPr>
      </p:pic>
      <p:sp>
        <p:nvSpPr>
          <p:cNvPr id="21" name="页脚占位符 136">
            <a:extLst>
              <a:ext uri="{FF2B5EF4-FFF2-40B4-BE49-F238E27FC236}">
                <a16:creationId xmlns:a16="http://schemas.microsoft.com/office/drawing/2014/main" id="{8B54C9D5-2C73-4D6E-90F9-33F606667DC9}"/>
              </a:ext>
            </a:extLst>
          </p:cNvPr>
          <p:cNvSpPr>
            <a:spLocks noGrp="1"/>
          </p:cNvSpPr>
          <p:nvPr/>
        </p:nvSpPr>
        <p:spPr>
          <a:xfrm>
            <a:off x="2895600" y="284390"/>
            <a:ext cx="6400800" cy="364987"/>
          </a:xfrm>
          <a:prstGeom prst="rect">
            <a:avLst/>
          </a:prstGeom>
        </p:spPr>
        <p:txBody>
          <a:bodyPr vert="horz" wrap="none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r>
              <a:rPr sz="1400">
                <a:solidFill>
                  <a:srgbClr val="005BAC"/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25" name="文本占位符 78">
            <a:extLst>
              <a:ext uri="{FF2B5EF4-FFF2-40B4-BE49-F238E27FC236}">
                <a16:creationId xmlns:a16="http://schemas.microsoft.com/office/drawing/2014/main" id="{A3195E40-966D-4383-8765-FC401833B07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2351451" y="2944162"/>
            <a:ext cx="7488832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编辑副标题</a:t>
            </a:r>
          </a:p>
        </p:txBody>
      </p:sp>
      <p:sp>
        <p:nvSpPr>
          <p:cNvPr id="26" name="文本占位符 78">
            <a:extLst>
              <a:ext uri="{FF2B5EF4-FFF2-40B4-BE49-F238E27FC236}">
                <a16:creationId xmlns:a16="http://schemas.microsoft.com/office/drawing/2014/main" id="{FC7891A1-B4C6-46BD-A955-71C3D974ABE0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3431248" y="3732590"/>
            <a:ext cx="5329238" cy="440681"/>
          </a:xfrm>
        </p:spPr>
        <p:txBody>
          <a:bodyPr anchor="ctr"/>
          <a:lstStyle>
            <a:lvl1pPr algn="ctr">
              <a:buNone/>
              <a:defRPr sz="2400" b="1" i="0">
                <a:solidFill>
                  <a:schemeClr val="bg1"/>
                </a:solidFill>
                <a:latin typeface="微软雅黑 Light"/>
                <a:ea typeface="微软雅黑 Light"/>
                <a:cs typeface="微软雅黑 Light"/>
              </a:defRPr>
            </a:lvl1pPr>
          </a:lstStyle>
          <a:p>
            <a:pPr>
              <a:buNone/>
            </a:pPr>
            <a:r>
              <a:t>xxx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4" name="Straight Arrow Connector 4"/>
          <p:cNvCxnSpPr/>
          <p:nvPr/>
        </p:nvCxnSpPr>
        <p:spPr>
          <a:xfrm>
            <a:off x="-1145117" y="6303964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5" name="Straight Arrow Connector 5"/>
          <p:cNvCxnSpPr/>
          <p:nvPr/>
        </p:nvCxnSpPr>
        <p:spPr>
          <a:xfrm>
            <a:off x="4720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6" name="Straight Arrow Connector 7"/>
          <p:cNvCxnSpPr/>
          <p:nvPr/>
        </p:nvCxnSpPr>
        <p:spPr>
          <a:xfrm>
            <a:off x="11703051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7" name="Straight Arrow Connector 8"/>
          <p:cNvCxnSpPr/>
          <p:nvPr/>
        </p:nvCxnSpPr>
        <p:spPr>
          <a:xfrm>
            <a:off x="-1145117" y="12588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8" name="Straight Arrow Connector 9"/>
          <p:cNvCxnSpPr/>
          <p:nvPr/>
        </p:nvCxnSpPr>
        <p:spPr>
          <a:xfrm>
            <a:off x="-1145117" y="763589"/>
            <a:ext cx="960967" cy="1587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9" name="Straight Arrow Connector 10"/>
          <p:cNvCxnSpPr/>
          <p:nvPr/>
        </p:nvCxnSpPr>
        <p:spPr>
          <a:xfrm>
            <a:off x="5856817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0" name="Straight Arrow Connector 11"/>
          <p:cNvCxnSpPr/>
          <p:nvPr/>
        </p:nvCxnSpPr>
        <p:spPr>
          <a:xfrm>
            <a:off x="6335184" y="7010400"/>
            <a:ext cx="0" cy="360363"/>
          </a:xfrm>
          <a:prstGeom prst="straightConnector1">
            <a:avLst/>
          </a:prstGeom>
          <a:ln w="19050" cap="sq">
            <a:solidFill>
              <a:schemeClr val="bg1"/>
            </a:solidFill>
            <a:round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6">
            <a:extLst>
              <a:ext uri="{FF2B5EF4-FFF2-40B4-BE49-F238E27FC236}">
                <a16:creationId xmlns:a16="http://schemas.microsoft.com/office/drawing/2014/main" id="{960A2AB8-24E5-402F-BD05-4E4F7773E26C}"/>
              </a:ext>
            </a:extLst>
          </p:cNvPr>
          <p:cNvSpPr>
            <a:spLocks noGrp="1"/>
          </p:cNvSpPr>
          <p:nvPr/>
        </p:nvSpPr>
        <p:spPr>
          <a:xfrm>
            <a:off x="-2423583" y="6581776"/>
            <a:ext cx="2239433" cy="276225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9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White markers indicate position of  Drawing Guides</a:t>
            </a:r>
          </a:p>
        </p:txBody>
      </p:sp>
      <p:sp>
        <p:nvSpPr>
          <p:cNvPr id="14" name="TextBox 17">
            <a:extLst>
              <a:ext uri="{FF2B5EF4-FFF2-40B4-BE49-F238E27FC236}">
                <a16:creationId xmlns:a16="http://schemas.microsoft.com/office/drawing/2014/main" id="{816D9D75-5ED9-438D-BAFB-60E52F4EEC7C}"/>
              </a:ext>
            </a:extLst>
          </p:cNvPr>
          <p:cNvSpPr>
            <a:spLocks noGrp="1"/>
          </p:cNvSpPr>
          <p:nvPr/>
        </p:nvSpPr>
        <p:spPr>
          <a:xfrm>
            <a:off x="-1255183" y="896938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7.40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2.91 Inches</a:t>
            </a:r>
          </a:p>
        </p:txBody>
      </p:sp>
      <p:sp>
        <p:nvSpPr>
          <p:cNvPr id="15" name="TextBox 18">
            <a:extLst>
              <a:ext uri="{FF2B5EF4-FFF2-40B4-BE49-F238E27FC236}">
                <a16:creationId xmlns:a16="http://schemas.microsoft.com/office/drawing/2014/main" id="{C72E5887-D42D-4561-8490-9D84415B44D5}"/>
              </a:ext>
            </a:extLst>
          </p:cNvPr>
          <p:cNvSpPr>
            <a:spLocks noGrp="1"/>
          </p:cNvSpPr>
          <p:nvPr/>
        </p:nvSpPr>
        <p:spPr>
          <a:xfrm>
            <a:off x="-1255183" y="15049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2.36 Inches</a:t>
            </a:r>
          </a:p>
        </p:txBody>
      </p:sp>
      <p:sp>
        <p:nvSpPr>
          <p:cNvPr id="16" name="TextBox 19">
            <a:extLst>
              <a:ext uri="{FF2B5EF4-FFF2-40B4-BE49-F238E27FC236}">
                <a16:creationId xmlns:a16="http://schemas.microsoft.com/office/drawing/2014/main" id="{280CC5A8-EF79-4781-8053-815653A129D1}"/>
              </a:ext>
            </a:extLst>
          </p:cNvPr>
          <p:cNvSpPr>
            <a:spLocks noGrp="1"/>
          </p:cNvSpPr>
          <p:nvPr/>
        </p:nvSpPr>
        <p:spPr>
          <a:xfrm>
            <a:off x="-1255183" y="5921375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b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8.00 cm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3.15 Inches</a:t>
            </a:r>
          </a:p>
        </p:txBody>
      </p:sp>
      <p:sp>
        <p:nvSpPr>
          <p:cNvPr id="17" name="TextBox 20">
            <a:extLst>
              <a:ext uri="{FF2B5EF4-FFF2-40B4-BE49-F238E27FC236}">
                <a16:creationId xmlns:a16="http://schemas.microsoft.com/office/drawing/2014/main" id="{C356099A-FA8D-405D-8BCC-EDFB94BFD4DC}"/>
              </a:ext>
            </a:extLst>
          </p:cNvPr>
          <p:cNvSpPr>
            <a:spLocks noGrp="1"/>
          </p:cNvSpPr>
          <p:nvPr/>
        </p:nvSpPr>
        <p:spPr>
          <a:xfrm>
            <a:off x="4783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11.70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4.61 inches</a:t>
            </a:r>
          </a:p>
        </p:txBody>
      </p:sp>
      <p:sp>
        <p:nvSpPr>
          <p:cNvPr id="18" name="TextBox 21">
            <a:extLst>
              <a:ext uri="{FF2B5EF4-FFF2-40B4-BE49-F238E27FC236}">
                <a16:creationId xmlns:a16="http://schemas.microsoft.com/office/drawing/2014/main" id="{BB9E398F-52CB-4C46-8B02-3DE0A6B13E08}"/>
              </a:ext>
            </a:extLst>
          </p:cNvPr>
          <p:cNvSpPr>
            <a:spLocks noGrp="1"/>
          </p:cNvSpPr>
          <p:nvPr/>
        </p:nvSpPr>
        <p:spPr>
          <a:xfrm>
            <a:off x="4770968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0.2 inches </a:t>
            </a:r>
          </a:p>
        </p:txBody>
      </p:sp>
      <p:sp>
        <p:nvSpPr>
          <p:cNvPr id="19" name="TextBox 22">
            <a:extLst>
              <a:ext uri="{FF2B5EF4-FFF2-40B4-BE49-F238E27FC236}">
                <a16:creationId xmlns:a16="http://schemas.microsoft.com/office/drawing/2014/main" id="{B47805AC-2EF0-441C-97BB-E71FEE2AC1F2}"/>
              </a:ext>
            </a:extLst>
          </p:cNvPr>
          <p:cNvSpPr>
            <a:spLocks noGrp="1"/>
          </p:cNvSpPr>
          <p:nvPr/>
        </p:nvSpPr>
        <p:spPr>
          <a:xfrm>
            <a:off x="6350001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>
              <a:spcAft>
                <a:spcPts val="300"/>
              </a:spcAft>
              <a:buChar char="ß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0.50 cm</a:t>
            </a:r>
          </a:p>
          <a:p>
            <a:pPr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 0.2 inches</a:t>
            </a:r>
          </a:p>
        </p:txBody>
      </p:sp>
      <p:sp>
        <p:nvSpPr>
          <p:cNvPr id="20" name="TextBox 23">
            <a:extLst>
              <a:ext uri="{FF2B5EF4-FFF2-40B4-BE49-F238E27FC236}">
                <a16:creationId xmlns:a16="http://schemas.microsoft.com/office/drawing/2014/main" id="{FAE8641A-FC9E-470B-9C29-AE3021BF1275}"/>
              </a:ext>
            </a:extLst>
          </p:cNvPr>
          <p:cNvSpPr>
            <a:spLocks noGrp="1"/>
          </p:cNvSpPr>
          <p:nvPr/>
        </p:nvSpPr>
        <p:spPr>
          <a:xfrm>
            <a:off x="10627785" y="7067550"/>
            <a:ext cx="1071033" cy="25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spAutoFit/>
          </a:bodyPr>
          <a:lstStyle>
            <a:lvl1pPr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  <a:lvl2pPr marL="742950" indent="-28575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2pPr>
            <a:lvl3pPr marL="1143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3pPr>
            <a:lvl4pPr marL="1600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4pPr>
            <a:lvl5pPr marL="20574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5pPr>
            <a:lvl6pPr marL="25146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6pPr>
            <a:lvl7pPr marL="29718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7pPr>
            <a:lvl8pPr marL="34290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8pPr>
            <a:lvl9pPr marL="3886200" indent="-228600">
              <a:buNone/>
              <a:defRPr>
                <a:solidFill>
                  <a:schemeClr val="tx1"/>
                </a:solidFill>
                <a:latin typeface="Arial"/>
                <a:ea typeface="Arial"/>
                <a:cs typeface="Arial"/>
              </a:defRPr>
            </a:lvl9pPr>
          </a:lstStyle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11.70 cm </a:t>
            </a:r>
          </a:p>
          <a:p>
            <a:pPr algn="r">
              <a:spcAft>
                <a:spcPts val="300"/>
              </a:spcAft>
              <a:buNone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 4.61 inches </a:t>
            </a:r>
          </a:p>
        </p:txBody>
      </p:sp>
      <p:cxnSp>
        <p:nvCxnSpPr>
          <p:cNvPr id="479" name="Straight Arrow Connector 20"/>
          <p:cNvCxnSpPr/>
          <p:nvPr/>
        </p:nvCxnSpPr>
        <p:spPr>
          <a:xfrm rot="5400000" flipH="1" flipV="1">
            <a:off x="-296863" y="1308630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0" name="Straight Arrow Connector 21"/>
          <p:cNvCxnSpPr/>
          <p:nvPr/>
        </p:nvCxnSpPr>
        <p:spPr>
          <a:xfrm rot="5400000" flipH="1" flipV="1">
            <a:off x="-296863" y="81174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tailEnd type="arrow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1" name="Straight Arrow Connector 22"/>
          <p:cNvCxnSpPr/>
          <p:nvPr/>
        </p:nvCxnSpPr>
        <p:spPr>
          <a:xfrm rot="5400000" flipH="1" flipV="1">
            <a:off x="-296863" y="6240993"/>
            <a:ext cx="92075" cy="2117"/>
          </a:xfrm>
          <a:prstGeom prst="straightConnector1">
            <a:avLst/>
          </a:prstGeom>
          <a:ln w="3175">
            <a:solidFill>
              <a:schemeClr val="bg1"/>
            </a:solidFill>
            <a:headEnd type="arrow" w="med" len="sm"/>
            <a:tailEnd type="non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AutoShape 4">
            <a:extLst>
              <a:ext uri="{FF2B5EF4-FFF2-40B4-BE49-F238E27FC236}">
                <a16:creationId xmlns:a16="http://schemas.microsoft.com/office/drawing/2014/main" id="{4CD9ABC4-8223-4F02-ACB0-D63D0B95EECF}"/>
              </a:ext>
            </a:extLst>
          </p:cNvPr>
          <p:cNvSpPr>
            <a:spLocks noGrp="1"/>
          </p:cNvSpPr>
          <p:nvPr/>
        </p:nvSpPr>
        <p:spPr>
          <a:xfrm>
            <a:off x="-2055284" y="0"/>
            <a:ext cx="1871133" cy="692497"/>
          </a:xfrm>
          <a:prstGeom prst="rect">
            <a:avLst/>
          </a:prstGeom>
          <a:noFill/>
          <a:ln w="12700">
            <a:noFill/>
          </a:ln>
        </p:spPr>
        <p:txBody>
          <a:bodyPr lIns="0" tIns="0" rIns="0" bIns="0">
            <a:spAutoFit/>
          </a:bodyPr>
          <a:lstStyle/>
          <a:p>
            <a:pPr>
              <a:buNone/>
            </a:pPr>
            <a:r>
              <a:rPr sz="7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To view  drawing guides:</a:t>
            </a:r>
          </a:p>
          <a:p>
            <a:pPr>
              <a:buNone/>
            </a:pPr>
            <a:endParaRPr sz="7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Right-click on slide and select ’Grid and Guides...’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Check ’Display drawing guides on screen’</a:t>
            </a:r>
          </a:p>
          <a:p>
            <a:pPr marL="180975" indent="-180975">
              <a:buAutoNum type="arabicPeriod"/>
            </a:pPr>
            <a:r>
              <a:rPr sz="70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Select ’OK’</a:t>
            </a:r>
          </a:p>
        </p:txBody>
      </p:sp>
      <p:sp>
        <p:nvSpPr>
          <p:cNvPr id="64" name="内容占位符 3">
            <a:extLst>
              <a:ext uri="{FF2B5EF4-FFF2-40B4-BE49-F238E27FC236}">
                <a16:creationId xmlns:a16="http://schemas.microsoft.com/office/drawing/2014/main" id="{D7011FCB-A859-4BFD-83F2-0660B72F7BA4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77838" y="1066523"/>
            <a:ext cx="11231562" cy="5317329"/>
          </a:xfrm>
        </p:spPr>
        <p:txBody>
          <a:bodyPr vert="horz" lIns="91440" tIns="45720" rIns="91440" bIns="45720">
            <a:normAutofit/>
          </a:bodyPr>
          <a:lstStyle>
            <a:lvl1pPr marL="0" indent="0" algn="l">
              <a:lnSpc>
                <a:spcPct val="150000"/>
              </a:lnSpc>
              <a:spcBef>
                <a:spcPts val="15"/>
              </a:spcBef>
              <a:buNone/>
              <a:defRPr sz="20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1pPr>
            <a:lvl2pPr marL="179705" indent="-179705" algn="l">
              <a:lnSpc>
                <a:spcPct val="150000"/>
              </a:lnSpc>
              <a:spcBef>
                <a:spcPts val="400"/>
              </a:spcBef>
              <a:buChar char="n"/>
              <a:defRPr sz="18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2pPr>
            <a:lvl3pPr marL="358775" indent="-179705" algn="l">
              <a:lnSpc>
                <a:spcPct val="150000"/>
              </a:lnSpc>
              <a:spcBef>
                <a:spcPts val="400"/>
              </a:spcBef>
              <a:buChar char="n"/>
              <a:defRPr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3pPr>
            <a:lvl4pPr marL="539750" indent="-179705" algn="l">
              <a:lnSpc>
                <a:spcPct val="150000"/>
              </a:lnSpc>
              <a:spcBef>
                <a:spcPts val="400"/>
              </a:spcBef>
              <a:buChar char="n"/>
              <a:defRPr sz="1400" b="0" i="0">
                <a:solidFill>
                  <a:schemeClr val="tx2"/>
                </a:solidFill>
                <a:latin typeface="微软雅黑"/>
                <a:ea typeface="微软雅黑"/>
                <a:cs typeface="微软雅黑"/>
              </a:defRPr>
            </a:lvl4pPr>
            <a:lvl5pPr marL="2114550" indent="-285750">
              <a:buChar char="n"/>
              <a:defRPr sz="1400" b="0" i="0">
                <a:solidFill>
                  <a:schemeClr val="tx2"/>
                </a:solidFill>
                <a:latin typeface="等线"/>
                <a:ea typeface="等线"/>
                <a:cs typeface="等线"/>
              </a:defRPr>
            </a:lvl5pPr>
          </a:lstStyle>
          <a:p>
            <a:pPr marL="0" indent="0" algn="l">
              <a:lnSpc>
                <a:spcPct val="100000"/>
              </a:lnSpc>
              <a:spcBef>
                <a:spcPts val="15"/>
              </a:spcBef>
              <a:spcAft>
                <a:spcPts val="0"/>
              </a:spcAft>
              <a:buNone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单击此处编辑母版文本样式</a:t>
            </a:r>
          </a:p>
          <a:p>
            <a:pPr marL="17970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8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第二级</a:t>
            </a:r>
          </a:p>
          <a:p>
            <a:pPr marL="358775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第三级</a:t>
            </a:r>
          </a:p>
          <a:p>
            <a:pPr marL="539750" indent="-17970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har char="n"/>
            </a:pPr>
            <a:r>
              <a:rPr sz="1600" b="0" i="0" u="none" cap="none">
                <a:ln>
                  <a:noFill/>
                </a:ln>
                <a:solidFill>
                  <a:srgbClr val="002776"/>
                </a:solidFill>
                <a:latin typeface="等线"/>
                <a:ea typeface="等线"/>
                <a:cs typeface="等线"/>
              </a:rPr>
              <a:t>第四级</a:t>
            </a:r>
          </a:p>
        </p:txBody>
      </p:sp>
      <p:sp>
        <p:nvSpPr>
          <p:cNvPr id="42" name="矩形 41">
            <a:extLst>
              <a:ext uri="{FF2B5EF4-FFF2-40B4-BE49-F238E27FC236}">
                <a16:creationId xmlns:a16="http://schemas.microsoft.com/office/drawing/2014/main" id="{A06F666D-3D77-45CE-9E36-7D43AAB1AFBF}"/>
              </a:ext>
            </a:extLst>
          </p:cNvPr>
          <p:cNvSpPr>
            <a:spLocks noGrp="1"/>
          </p:cNvSpPr>
          <p:nvPr/>
        </p:nvSpPr>
        <p:spPr>
          <a:xfrm>
            <a:off x="383647" y="508498"/>
            <a:ext cx="144000" cy="144000"/>
          </a:xfrm>
          <a:prstGeom prst="rect">
            <a:avLst/>
          </a:prstGeom>
          <a:solidFill>
            <a:srgbClr val="FFFFFF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" name="矩形 42">
            <a:extLst>
              <a:ext uri="{FF2B5EF4-FFF2-40B4-BE49-F238E27FC236}">
                <a16:creationId xmlns:a16="http://schemas.microsoft.com/office/drawing/2014/main" id="{4A9F9444-981D-482B-B1B1-E6B8B90BD969}"/>
              </a:ext>
            </a:extLst>
          </p:cNvPr>
          <p:cNvSpPr>
            <a:spLocks noGrp="1"/>
          </p:cNvSpPr>
          <p:nvPr/>
        </p:nvSpPr>
        <p:spPr>
          <a:xfrm>
            <a:off x="191344" y="305562"/>
            <a:ext cx="288000" cy="288000"/>
          </a:xfrm>
          <a:prstGeom prst="rect">
            <a:avLst/>
          </a:prstGeom>
          <a:solidFill>
            <a:srgbClr val="005BAC"/>
          </a:solidFill>
          <a:ln w="12700" cmpd="sng">
            <a:solidFill>
              <a:srgbClr val="005BAC"/>
            </a:solidFill>
            <a:prstDash val="solid"/>
          </a:ln>
        </p:spPr>
        <p:txBody>
          <a:bodyPr anchor="ctr"/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日期占位符 135">
            <a:extLst>
              <a:ext uri="{FF2B5EF4-FFF2-40B4-BE49-F238E27FC236}">
                <a16:creationId xmlns:a16="http://schemas.microsoft.com/office/drawing/2014/main" id="{AEAC94EA-4735-4835-8D0B-6AF5E5DBC1BE}"/>
              </a:ext>
            </a:extLst>
          </p:cNvPr>
          <p:cNvSpPr>
            <a:spLocks noGrp="1"/>
          </p:cNvSpPr>
          <p:nvPr/>
        </p:nvSpPr>
        <p:spPr>
          <a:xfrm>
            <a:off x="9048328" y="6555494"/>
            <a:ext cx="2883976" cy="267573"/>
          </a:xfrm>
          <a:prstGeom prst="rect">
            <a:avLst/>
          </a:prstGeom>
        </p:spPr>
        <p:txBody>
          <a:bodyPr anchor="ctr"/>
          <a:lstStyle>
            <a:lvl1pPr marL="0" algn="r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buNone/>
            </a:pPr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华中科技大学电子信息与通信学院</a:t>
            </a:r>
          </a:p>
        </p:txBody>
      </p:sp>
      <p:sp>
        <p:nvSpPr>
          <p:cNvPr id="60" name="页脚占位符 136">
            <a:extLst>
              <a:ext uri="{FF2B5EF4-FFF2-40B4-BE49-F238E27FC236}">
                <a16:creationId xmlns:a16="http://schemas.microsoft.com/office/drawing/2014/main" id="{0E878418-DF82-4DAF-B41B-267BBB6CF5A0}"/>
              </a:ext>
            </a:extLst>
          </p:cNvPr>
          <p:cNvSpPr>
            <a:spLocks noGrp="1"/>
          </p:cNvSpPr>
          <p:nvPr/>
        </p:nvSpPr>
        <p:spPr>
          <a:xfrm>
            <a:off x="187688" y="6552438"/>
            <a:ext cx="2880000" cy="27368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marL="0">
              <a:buNone/>
              <a:defRPr sz="1000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r>
              <a:rPr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明德厚学 求是创新</a:t>
            </a:r>
          </a:p>
        </p:txBody>
      </p:sp>
      <p:sp>
        <p:nvSpPr>
          <p:cNvPr id="61" name="Slide Number Placeholder 5">
            <a:extLst>
              <a:ext uri="{FF2B5EF4-FFF2-40B4-BE49-F238E27FC236}">
                <a16:creationId xmlns:a16="http://schemas.microsoft.com/office/drawing/2014/main" id="{17029273-9C77-40E6-9DCD-4AEAEAF594B8}"/>
              </a:ext>
            </a:extLst>
          </p:cNvPr>
          <p:cNvSpPr>
            <a:spLocks noGrp="1"/>
          </p:cNvSpPr>
          <p:nvPr/>
        </p:nvSpPr>
        <p:spPr>
          <a:xfrm>
            <a:off x="5853936" y="6626574"/>
            <a:ext cx="480484" cy="125413"/>
          </a:xfrm>
          <a:prstGeom prst="rect">
            <a:avLst/>
          </a:prstGeom>
        </p:spPr>
        <p:txBody>
          <a:bodyPr vert="horz" lIns="0" tIns="0" rIns="0" bIns="0" anchor="b">
            <a:noAutofit/>
          </a:bodyPr>
          <a:lstStyle>
            <a:lvl1pPr marL="0" algn="l"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tx2"/>
                </a:solidFill>
                <a:latin typeface="+mn-lt"/>
                <a:ea typeface="+mn-lt"/>
                <a:cs typeface="+mn-lt"/>
              </a:defRPr>
            </a:lvl1pPr>
            <a:lvl2pPr marL="457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>
              <a:buNone/>
              <a:defRPr sz="18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ctr">
              <a:buNone/>
            </a:pPr>
            <a:fld id="{73DA0BB7-265A-403C-9275-D587AB510EDC}" type="slidenum">
              <a:rPr b="0">
                <a:solidFill>
                  <a:srgbClr val="005BAD">
                    <a:alpha val="75000"/>
                  </a:srgbClr>
                </a:solidFill>
                <a:latin typeface="微软雅黑"/>
                <a:ea typeface="微软雅黑"/>
                <a:cs typeface="微软雅黑"/>
              </a:rPr>
              <a:t>‹#›</a:t>
            </a:fld>
            <a:endParaRPr b="0">
              <a:solidFill>
                <a:srgbClr val="005BAD">
                  <a:alpha val="75000"/>
                </a:srgbClr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2" name="直接连接符 23">
            <a:extLst>
              <a:ext uri="{FF2B5EF4-FFF2-40B4-BE49-F238E27FC236}">
                <a16:creationId xmlns:a16="http://schemas.microsoft.com/office/drawing/2014/main" id="{E253B85C-8C1F-412F-9C7F-095F739F2DB1}"/>
              </a:ext>
            </a:extLst>
          </p:cNvPr>
          <p:cNvSpPr>
            <a:spLocks noGrp="1"/>
          </p:cNvSpPr>
          <p:nvPr/>
        </p:nvSpPr>
        <p:spPr>
          <a:xfrm>
            <a:off x="0" y="908720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80000"/>
              </a:srgbClr>
            </a:solidFill>
            <a:prstDash val="solid"/>
          </a:ln>
        </p:spPr>
      </p:sp>
      <p:sp>
        <p:nvSpPr>
          <p:cNvPr id="63" name="直接连接符 23">
            <a:extLst>
              <a:ext uri="{FF2B5EF4-FFF2-40B4-BE49-F238E27FC236}">
                <a16:creationId xmlns:a16="http://schemas.microsoft.com/office/drawing/2014/main" id="{BD997483-1081-451E-8214-A9CE4E2AC154}"/>
              </a:ext>
            </a:extLst>
          </p:cNvPr>
          <p:cNvSpPr>
            <a:spLocks noGrp="1"/>
          </p:cNvSpPr>
          <p:nvPr/>
        </p:nvSpPr>
        <p:spPr>
          <a:xfrm>
            <a:off x="-2381" y="6512981"/>
            <a:ext cx="12192000" cy="12363"/>
          </a:xfrm>
          <a:prstGeom prst="line">
            <a:avLst/>
          </a:prstGeom>
          <a:noFill/>
          <a:ln w="6350">
            <a:solidFill>
              <a:srgbClr val="005BAD">
                <a:alpha val="75000"/>
              </a:srgbClr>
            </a:solidFill>
            <a:prstDash val="solid"/>
          </a:ln>
        </p:spPr>
      </p:sp>
      <p:sp>
        <p:nvSpPr>
          <p:cNvPr id="39" name="Title 1">
            <a:extLst>
              <a:ext uri="{FF2B5EF4-FFF2-40B4-BE49-F238E27FC236}">
                <a16:creationId xmlns:a16="http://schemas.microsoft.com/office/drawing/2014/main" id="{2F6DEA72-91AD-4351-9CAD-117F5BDD4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647" y="395289"/>
            <a:ext cx="10209277" cy="430887"/>
          </a:xfrm>
        </p:spPr>
        <p:txBody>
          <a:bodyPr lIns="108000"/>
          <a:lstStyle>
            <a:lvl1pPr>
              <a:buNone/>
              <a:defRPr sz="2800" b="1">
                <a:latin typeface="微软雅黑"/>
                <a:ea typeface="微软雅黑"/>
                <a:cs typeface="微软雅黑"/>
              </a:defRPr>
            </a:lvl1pPr>
          </a:lstStyle>
          <a:p>
            <a:r>
              <a:t>单击此处编辑母版标题样式</a:t>
            </a:r>
          </a:p>
        </p:txBody>
      </p:sp>
      <p:pic>
        <p:nvPicPr>
          <p:cNvPr id="492" name="HUST Solid Log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49000" y="279400"/>
            <a:ext cx="952500" cy="594827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2F185F6-9137-4DFB-B797-3A9101BB7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anchor="ctr">
            <a:normAutofit/>
          </a:bodyPr>
          <a:lstStyle/>
          <a:p>
            <a:r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53E79E5-3F5F-4ED2-8393-FB980B24A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>
            <a:normAutofit/>
          </a:bodyPr>
          <a:lstStyle/>
          <a:p>
            <a:pPr>
              <a:buNone/>
            </a:pPr>
            <a:r>
              <a:t>单击此处编辑母版文本样式</a:t>
            </a:r>
          </a:p>
          <a:p>
            <a:pPr>
              <a:buNone/>
            </a:pPr>
            <a:r>
              <a:t>第二级</a:t>
            </a:r>
          </a:p>
          <a:p>
            <a:pPr>
              <a:buNone/>
            </a:pPr>
            <a:r>
              <a:t>第三级</a:t>
            </a:r>
          </a:p>
          <a:p>
            <a:pPr>
              <a:buNone/>
            </a:pPr>
            <a:r>
              <a:t>第四级</a:t>
            </a:r>
          </a:p>
          <a:p>
            <a:pPr>
              <a:buNone/>
            </a:pPr>
            <a:r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FE5CCB-59CA-4982-9F85-C811B6D1BA90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l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t>2026-10-15</a:t>
            </a:fld>
            <a:endParaRPr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53843F2-921C-4A04-A4B2-C0C698A3A299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ct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AF50A50-05BE-4F64-9B56-8F57DD8A58E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>
            <a:lvl1pPr algn="r">
              <a:buNone/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>
        <a:lnSpc>
          <a:spcPct val="100000"/>
        </a:lnSpc>
        <a:buNone/>
        <a:defRPr sz="3600" b="0" u="none" cap="none" spc="300">
          <a:solidFill>
            <a:schemeClr val="tx1">
              <a:lumMod val="85000"/>
              <a:lumOff val="15000"/>
            </a:schemeClr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130000"/>
        </a:lnSpc>
        <a:spcBef>
          <a:spcPts val="0"/>
        </a:spcBef>
        <a:spcAft>
          <a:spcPts val="1000"/>
        </a:spcAft>
        <a:buChar char="●"/>
        <a:defRPr sz="18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1pPr>
      <a:lvl2pPr marL="6858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marL="1143000" indent="-228600" algn="l">
        <a:lnSpc>
          <a:spcPct val="120000"/>
        </a:lnSpc>
        <a:spcBef>
          <a:spcPts val="0"/>
        </a:spcBef>
        <a:spcAft>
          <a:spcPts val="600"/>
        </a:spcAft>
        <a:buChar char="●"/>
        <a:defRPr sz="16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marL="1600200" indent="-228600" algn="l">
        <a:lnSpc>
          <a:spcPct val="120000"/>
        </a:lnSpc>
        <a:spcBef>
          <a:spcPts val="0"/>
        </a:spcBef>
        <a:spcAft>
          <a:spcPts val="300"/>
        </a:spcAft>
        <a:buChar char="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marL="2057400" indent="-228600" algn="l">
        <a:lnSpc>
          <a:spcPct val="120000"/>
        </a:lnSpc>
        <a:spcBef>
          <a:spcPts val="0"/>
        </a:spcBef>
        <a:spcAft>
          <a:spcPts val="300"/>
        </a:spcAft>
        <a:buChar char="•"/>
        <a:defRPr sz="1400" u="none" cap="none" spc="15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ver-title">
            <a:extLst>
              <a:ext uri="{FF2B5EF4-FFF2-40B4-BE49-F238E27FC236}">
                <a16:creationId xmlns:a16="http://schemas.microsoft.com/office/drawing/2014/main" id="{34FCF1B0-383E-411C-AC5A-4680BA8F2732}"/>
              </a:ext>
            </a:extLst>
          </p:cNvPr>
          <p:cNvSpPr>
            <a:spLocks noGrp="1"/>
          </p:cNvSpPr>
          <p:nvPr/>
        </p:nvSpPr>
        <p:spPr>
          <a:xfrm>
            <a:off x="1524000" y="1764030"/>
            <a:ext cx="9144000" cy="1959578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0202" tIns="46958" rIns="90202" bIns="46958" anchor="ctr">
            <a:noAutofit/>
          </a:bodyPr>
          <a:lstStyle/>
          <a:p>
            <a:pPr algn="ctr">
              <a:buNone/>
            </a:pP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视频虚化：基线更新</a:t>
            </a:r>
          </a:p>
          <a:p>
            <a:pPr algn="ctr">
              <a:buNone/>
            </a:pPr>
            <a:r>
              <a:rPr lang="en-US" altLang="zh-CN" sz="3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ATB </a:t>
            </a:r>
            <a:r>
              <a:rPr lang="zh-CN" altLang="en-US" sz="3200" b="1">
                <a:solidFill>
                  <a:srgbClr val="FFFFFF"/>
                </a:solidFill>
                <a:latin typeface="Microsoft YaHei" panose="020B0503020204020204" pitchFamily="34" charset="-122"/>
                <a:ea typeface="Microsoft YaHei"/>
                <a:cs typeface="Microsoft YaHei"/>
              </a:rPr>
              <a:t>效率优化与案例分析</a:t>
            </a:r>
          </a:p>
        </p:txBody>
      </p:sp>
      <p:sp>
        <p:nvSpPr>
          <p:cNvPr id="2" name="cover-subtitle">
            <a:extLst>
              <a:ext uri="{FF2B5EF4-FFF2-40B4-BE49-F238E27FC236}">
                <a16:creationId xmlns:a16="http://schemas.microsoft.com/office/drawing/2014/main" id="{9E702C5D-B811-466D-87B9-4469F8E55496}"/>
              </a:ext>
            </a:extLst>
          </p:cNvPr>
          <p:cNvSpPr>
            <a:spLocks noGrp="1"/>
          </p:cNvSpPr>
          <p:nvPr/>
        </p:nvSpPr>
        <p:spPr>
          <a:xfrm>
            <a:off x="3335655" y="4516088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4874CB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2025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3" name="cover-line">
            <a:extLst>
              <a:ext uri="{FF2B5EF4-FFF2-40B4-BE49-F238E27FC236}">
                <a16:creationId xmlns:a16="http://schemas.microsoft.com/office/drawing/2014/main" id="{156E7023-1426-46F1-88A1-85B75EFCF0E6}"/>
              </a:ext>
            </a:extLst>
          </p:cNvPr>
          <p:cNvSpPr>
            <a:spLocks noGrp="1"/>
          </p:cNvSpPr>
          <p:nvPr/>
        </p:nvSpPr>
        <p:spPr>
          <a:xfrm>
            <a:off x="3159728" y="4580287"/>
            <a:ext cx="2531078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0011" tIns="46768" rIns="90011" bIns="46768" anchor="ctr">
            <a:normAutofit/>
          </a:bodyPr>
          <a:lstStyle/>
          <a:p>
            <a:pPr algn="ctr">
              <a:buNone/>
              <a:defRPr sz="200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汇报人：孟辰洋</a:t>
            </a:r>
          </a:p>
        </p:txBody>
      </p:sp>
      <p:sp>
        <p:nvSpPr>
          <p:cNvPr id="4" name="cover-meta">
            <a:extLst>
              <a:ext uri="{FF2B5EF4-FFF2-40B4-BE49-F238E27FC236}">
                <a16:creationId xmlns:a16="http://schemas.microsoft.com/office/drawing/2014/main" id="{A9B675D7-E24D-45A9-A92F-1E365CD38FDE}"/>
              </a:ext>
            </a:extLst>
          </p:cNvPr>
          <p:cNvSpPr>
            <a:spLocks noGrp="1"/>
          </p:cNvSpPr>
          <p:nvPr/>
        </p:nvSpPr>
        <p:spPr>
          <a:xfrm>
            <a:off x="6307455" y="4516088"/>
            <a:ext cx="21793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383">
            <a:solidFill>
              <a:srgbClr val="4874CB"/>
            </a:solidFill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350" b="0">
                <a:solidFill>
                  <a:srgbClr val="D9ECFA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5" name="cover-date">
            <a:extLst>
              <a:ext uri="{FF2B5EF4-FFF2-40B4-BE49-F238E27FC236}">
                <a16:creationId xmlns:a16="http://schemas.microsoft.com/office/drawing/2014/main" id="{B30BD35B-0B78-4147-8308-E7DBA3CFAF23}"/>
              </a:ext>
            </a:extLst>
          </p:cNvPr>
          <p:cNvSpPr>
            <a:spLocks noGrp="1"/>
          </p:cNvSpPr>
          <p:nvPr/>
        </p:nvSpPr>
        <p:spPr>
          <a:xfrm>
            <a:off x="6131528" y="4580287"/>
            <a:ext cx="2531078" cy="438817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none" lIns="91440" tIns="45720" rIns="91440" bIns="4572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800" b="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800" b="0">
                <a:solidFill>
                  <a:srgbClr val="4874CB"/>
                </a:solidFill>
                <a:latin typeface="Microsoft YaHei"/>
                <a:ea typeface="Microsoft YaHei"/>
                <a:cs typeface="Microsoft YaHei"/>
              </a:rPr>
              <a:t>2026.10.16</a:t>
            </a:r>
            <a:endParaRPr lang="zh-CN" altLang="en-US" sz="1800" b="0">
              <a:solidFill>
                <a:srgbClr val="4874C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58490399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基线方法对比结果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77240" y="960120"/>
          <a:ext cx="10652760" cy="3877056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423160"/>
                <a:gridCol w="1325880"/>
                <a:gridCol w="1325880"/>
                <a:gridCol w="1325880"/>
                <a:gridCol w="1417320"/>
                <a:gridCol w="1463040"/>
                <a:gridCol w="1371600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方法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合成 PSNR ↑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合成 LPIPS ↓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合成 FVD ↓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真实 VEPI ↑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E2E (s/25帧) ↓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峰值显存 (GiB) ↓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Any-to-Bokeh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39.71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0.015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8.94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0.950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21.86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42.14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BokehMe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33.33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18.55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0.954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1.14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0.75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MPIB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31.62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0.028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24.96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0.930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7.54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2.18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Dr.Bokeh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555F6D"/>
                          </a:solidFill>
                          <a:latin typeface="Arial"/>
                          <a:ea typeface="Microsoft YaHei"/>
                        </a:rPr>
                        <a:t>GT Alpha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31.59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0.029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25.86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0.877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21.79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2.63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DeepLens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28.17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0.063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40.12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0.929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48.79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1.52 (CPU)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BokehDiff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27.06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0.132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66.00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0.847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23.96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17.57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5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MagicBokeh</a:t>
                      </a:r>
                    </a:p>
                    <a:p>
                      <a:pPr algn="ctr"/>
                      <a:r>
                        <a:rPr sz="950" b="0">
                          <a:solidFill>
                            <a:srgbClr val="555F6D"/>
                          </a:solidFill>
                          <a:latin typeface="Arial"/>
                          <a:ea typeface="Microsoft YaHei"/>
                        </a:rPr>
                        <a:t>GT区域辅助选焦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25.12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0.198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97.79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0.670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36.57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6.79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</a:tr>
            </a:tbl>
          </a:graphicData>
        </a:graphic>
      </p:graphicFrame>
      <p:sp>
        <p:nvSpPr>
          <p:cNvPr id="24" name="Rectangle 23"/>
          <p:cNvSpPr/>
          <p:nvPr/>
        </p:nvSpPr>
        <p:spPr>
          <a:xfrm>
            <a:off x="777240" y="5074920"/>
            <a:ext cx="10652760" cy="77724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5074920"/>
            <a:ext cx="64008" cy="777240"/>
          </a:xfrm>
          <a:prstGeom prst="rect">
            <a:avLst/>
          </a:prstGeom>
          <a:solidFill>
            <a:srgbClr val="0D5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5120640"/>
            <a:ext cx="10332720" cy="7315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01F37"/>
                </a:solidFill>
                <a:latin typeface="Microsoft YaHei"/>
              </a:rPr>
              <a:t>ATB：</a:t>
            </a:r>
            <a:r>
              <a:rPr sz="1500" b="0">
                <a:solidFill>
                  <a:srgbClr val="101F37"/>
                </a:solidFill>
                <a:latin typeface="Microsoft YaHei"/>
              </a:rPr>
              <a:t>合成数据三项指标最好，真实视频边缘保留接近最好（0.950 / 0.954）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01F37"/>
                </a:solidFill>
                <a:latin typeface="Microsoft YaHei"/>
              </a:rPr>
              <a:t>代价：</a:t>
            </a:r>
            <a:r>
              <a:rPr sz="1500" b="0">
                <a:solidFill>
                  <a:srgbClr val="101F37"/>
                </a:solidFill>
                <a:latin typeface="Microsoft YaHei"/>
              </a:rPr>
              <a:t>峰值显存 42 GiB，是所有方法中最高的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ATB 效率分析与优化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914400"/>
            <a:ext cx="5669280" cy="365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01F37"/>
                </a:solidFill>
                <a:latin typeface="Microsoft YaHei"/>
              </a:rPr>
              <a:t>各阶段耗时（25 帧）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777240" y="1325880"/>
          <a:ext cx="5623560" cy="320040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2788920"/>
                <a:gridCol w="1417320"/>
                <a:gridCol w="14173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阶段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耗时 (s)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占比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CLIP 图像编码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0.16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0.8%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RGB VAE 编码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4.58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22.7%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CoC VAE 编码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3.79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18.8%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UNet 时空处理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3.74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18.6%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拼接与时序解码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7.84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38.9%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5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合计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20.17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5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100%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777240" y="4709160"/>
            <a:ext cx="5623560" cy="105156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4709160"/>
            <a:ext cx="64008" cy="1051560"/>
          </a:xfrm>
          <a:prstGeom prst="rect">
            <a:avLst/>
          </a:prstGeom>
          <a:solidFill>
            <a:srgbClr val="0D5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" y="4800600"/>
            <a:ext cx="5349240" cy="9144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01F37"/>
                </a:solidFill>
                <a:latin typeface="Microsoft YaHei"/>
              </a:rPr>
              <a:t>VAE 相关阶段占 </a:t>
            </a:r>
            <a:r>
              <a:rPr sz="1500" b="1">
                <a:solidFill>
                  <a:srgbClr val="101F37"/>
                </a:solidFill>
                <a:latin typeface="Microsoft YaHei"/>
              </a:rPr>
              <a:t>80.36%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01F37"/>
                </a:solidFill>
                <a:latin typeface="Microsoft YaHei"/>
              </a:rPr>
              <a:t>UNet 只占 18.6%，耗时主要在编解码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914400"/>
            <a:ext cx="4754880" cy="365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01F37"/>
                </a:solidFill>
                <a:latin typeface="Microsoft YaHei"/>
              </a:rPr>
              <a:t>去掉冗余计算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20840" y="1325880"/>
            <a:ext cx="4709160" cy="77724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12280" y="1371600"/>
            <a:ext cx="4526280" cy="685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ctr">
              <a:spcAft>
                <a:spcPts val="300"/>
              </a:spcAft>
            </a:pPr>
            <a:r>
              <a:rPr sz="1350" b="0">
                <a:solidFill>
                  <a:srgbClr val="101F37"/>
                </a:solidFill>
                <a:latin typeface="Microsoft YaHei"/>
              </a:rPr>
              <a:t>VAE 编码器中</a:t>
            </a:r>
          </a:p>
          <a:p>
            <a:pPr algn="ctr">
              <a:spcAft>
                <a:spcPts val="300"/>
              </a:spcAft>
            </a:pPr>
            <a:r>
              <a:rPr sz="1350" b="0">
                <a:solidFill>
                  <a:srgbClr val="101F37"/>
                </a:solidFill>
                <a:latin typeface="Microsoft YaHei"/>
              </a:rPr>
              <a:t>(残差 + 分支输出) ÷ 1  →  残差 + 分支输出</a:t>
            </a:r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720840" y="2331720"/>
          <a:ext cx="4709160" cy="1463040"/>
        </p:xfrm>
        <a:graphic>
          <a:graphicData uri="http://schemas.openxmlformats.org/drawingml/2006/table">
            <a:tbl>
              <a:tblPr firstRow="1" bandRow="0">
                <a:tableStyleId>{5C22544A-7EE6-4342-B048-85BDC9FD1C3A}</a:tableStyleId>
              </a:tblPr>
              <a:tblGrid>
                <a:gridCol w="1691640"/>
                <a:gridCol w="1005840"/>
                <a:gridCol w="1005840"/>
                <a:gridCol w="100584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指标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原版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优化后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Arial"/>
                          <a:ea typeface="Microsoft YaHei"/>
                        </a:rPr>
                        <a:t>变化</a:t>
                      </a:r>
                    </a:p>
                  </a:txBody>
                  <a:tcPr anchor="ctr" marL="36576" marR="36576" marT="18288" marB="18288">
                    <a:solidFill>
                      <a:srgbClr val="0D569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峰值显存 (GiB)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42.12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37.62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−10.7%</a:t>
                      </a:r>
                    </a:p>
                  </a:txBody>
                  <a:tcPr anchor="ctr" marL="36576" marR="36576" marT="18288" marB="18288">
                    <a:solidFill>
                      <a:srgbClr val="EEF5F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25 帧耗时 (s)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20.27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20.05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101F37"/>
                          </a:solidFill>
                          <a:latin typeface="Arial"/>
                          <a:ea typeface="Microsoft YaHei"/>
                        </a:rPr>
                        <a:t>−1.1%</a:t>
                      </a:r>
                    </a:p>
                  </a:txBody>
                  <a:tcPr anchor="ctr" marL="36576" marR="36576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" name="Rectangle 31"/>
          <p:cNvSpPr/>
          <p:nvPr/>
        </p:nvSpPr>
        <p:spPr>
          <a:xfrm>
            <a:off x="6720840" y="4709160"/>
            <a:ext cx="4709160" cy="105156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720840" y="4709160"/>
            <a:ext cx="64008" cy="1051560"/>
          </a:xfrm>
          <a:prstGeom prst="rect">
            <a:avLst/>
          </a:prstGeom>
          <a:solidFill>
            <a:srgbClr val="0D5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03720" y="4800600"/>
            <a:ext cx="4434840" cy="9144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101F37"/>
                </a:solidFill>
                <a:latin typeface="Microsoft YaHei"/>
              </a:rPr>
              <a:t>显存减少 </a:t>
            </a:r>
            <a:r>
              <a:rPr sz="1500" b="1">
                <a:solidFill>
                  <a:srgbClr val="101F37"/>
                </a:solidFill>
                <a:latin typeface="Microsoft YaHei"/>
              </a:rPr>
              <a:t>4.50 GiB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101F37"/>
                </a:solidFill>
                <a:latin typeface="Microsoft YaHei"/>
              </a:rPr>
              <a:t>4 个固定片段输出逐位一致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案例分析：细结构的局部深度偏差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777240" y="914400"/>
            <a:ext cx="10652760" cy="141732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914400"/>
            <a:ext cx="64008" cy="1417320"/>
          </a:xfrm>
          <a:prstGeom prst="rect">
            <a:avLst/>
          </a:prstGeom>
          <a:solidFill>
            <a:srgbClr val="0D5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" y="969264"/>
            <a:ext cx="4206240" cy="365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101F37"/>
                </a:solidFill>
                <a:latin typeface="Microsoft YaHei"/>
              </a:rPr>
              <a:t>鸭头：头比身体更模糊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1325880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55F6D"/>
                </a:solidFill>
                <a:latin typeface="Microsoft YaHei"/>
              </a:rPr>
              <a:t>左：原版 ATB　右：只调鸭头局部深度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1609344"/>
            <a:ext cx="4206240" cy="685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01F37"/>
                </a:solidFill>
                <a:latin typeface="Microsoft YaHei"/>
              </a:rPr>
              <a:t>输入虚化强度：头 2.40，身体 0.58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01F37"/>
                </a:solidFill>
                <a:latin typeface="Microsoft YaHei"/>
              </a:rPr>
              <a:t>局部调整后，头部明显变清楚</a:t>
            </a:r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3"/>
          <a:srcRect l="59570" r="22852" t="22569" b="56597"/>
          <a:stretch>
            <a:fillRect/>
          </a:stretch>
        </p:blipFill>
        <p:spPr>
          <a:xfrm>
            <a:off x="7397645" y="987552"/>
            <a:ext cx="1906449" cy="127101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/>
          <a:srcRect l="59570" r="22852" t="22569" b="56597"/>
          <a:stretch>
            <a:fillRect/>
          </a:stretch>
        </p:blipFill>
        <p:spPr>
          <a:xfrm>
            <a:off x="9413822" y="987552"/>
            <a:ext cx="1906449" cy="1271015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777240" y="2423160"/>
            <a:ext cx="10652760" cy="141732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77240" y="2423160"/>
            <a:ext cx="64008" cy="1417320"/>
          </a:xfrm>
          <a:prstGeom prst="rect">
            <a:avLst/>
          </a:prstGeom>
          <a:solidFill>
            <a:srgbClr val="0D5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" y="2478024"/>
            <a:ext cx="4206240" cy="365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101F37"/>
                </a:solidFill>
                <a:latin typeface="Microsoft YaHei"/>
              </a:rPr>
              <a:t>细绳：跟焦后变得更模糊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2834640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55F6D"/>
                </a:solidFill>
                <a:latin typeface="Microsoft YaHei"/>
              </a:rPr>
              <a:t>左：第 1 帧　右：第 22 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3118104"/>
            <a:ext cx="4206240" cy="685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01F37"/>
                </a:solidFill>
                <a:latin typeface="Microsoft YaHei"/>
              </a:rPr>
              <a:t>焦点随车移动，细绳离焦量被放大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101F37"/>
                </a:solidFill>
                <a:latin typeface="Microsoft YaHei"/>
              </a:rPr>
              <a:t>只修细绳局部，变化很小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5"/>
          <a:srcRect l="47266" t="36806" b="16319"/>
          <a:stretch>
            <a:fillRect/>
          </a:stretch>
        </p:blipFill>
        <p:spPr>
          <a:xfrm>
            <a:off x="6126516" y="2496312"/>
            <a:ext cx="2542013" cy="127101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6"/>
          <a:srcRect l="47266" t="36806" b="16319"/>
          <a:stretch>
            <a:fillRect/>
          </a:stretch>
        </p:blipFill>
        <p:spPr>
          <a:xfrm>
            <a:off x="8778258" y="2496312"/>
            <a:ext cx="2542013" cy="1271015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777240" y="3931920"/>
            <a:ext cx="10652760" cy="141732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77240" y="3931920"/>
            <a:ext cx="64008" cy="1417320"/>
          </a:xfrm>
          <a:prstGeom prst="rect">
            <a:avLst/>
          </a:prstGeom>
          <a:solidFill>
            <a:srgbClr val="0D5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3986784"/>
            <a:ext cx="4206240" cy="365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550" b="1">
                <a:solidFill>
                  <a:srgbClr val="101F37"/>
                </a:solidFill>
                <a:latin typeface="Microsoft YaHei"/>
              </a:rPr>
              <a:t>伞绳：多种方法都模糊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4343400"/>
            <a:ext cx="4206240" cy="2743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100" b="0">
                <a:solidFill>
                  <a:srgbClr val="555F6D"/>
                </a:solidFill>
                <a:latin typeface="Microsoft YaHei"/>
              </a:rPr>
              <a:t>左：Any-to-Bokeh　右：MPIB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60120" y="4626864"/>
            <a:ext cx="4206240" cy="685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0">
                <a:solidFill>
                  <a:srgbClr val="101F37"/>
                </a:solidFill>
                <a:latin typeface="Microsoft YaHei"/>
              </a:rPr>
              <a:t>所有方法共用同一份深度输入</a:t>
            </a:r>
          </a:p>
          <a:p>
            <a:pPr algn="l">
              <a:spcAft>
                <a:spcPts val="300"/>
              </a:spcAft>
            </a:pPr>
            <a:r>
              <a:rPr sz="1300" b="1">
                <a:solidFill>
                  <a:srgbClr val="101F37"/>
                </a:solidFill>
                <a:latin typeface="Microsoft YaHei"/>
              </a:rPr>
              <a:t>ATB 相对最清楚</a:t>
            </a:r>
            <a:r>
              <a:rPr sz="1300" b="0">
                <a:solidFill>
                  <a:srgbClr val="101F37"/>
                </a:solidFill>
                <a:latin typeface="Microsoft YaHei"/>
              </a:rPr>
              <a:t>，细节仍有损失</a:t>
            </a:r>
          </a:p>
        </p:txBody>
      </p:sp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7"/>
          <a:srcRect l="33984" r="41797" t="3299" b="71701"/>
          <a:stretch>
            <a:fillRect/>
          </a:stretch>
        </p:blipFill>
        <p:spPr>
          <a:xfrm>
            <a:off x="6832554" y="4005072"/>
            <a:ext cx="2188994" cy="127101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8"/>
          <a:srcRect l="33984" r="41797" t="3299" b="71701"/>
          <a:stretch>
            <a:fillRect/>
          </a:stretch>
        </p:blipFill>
        <p:spPr>
          <a:xfrm>
            <a:off x="9131277" y="4005072"/>
            <a:ext cx="2188994" cy="1271015"/>
          </a:xfrm>
          <a:prstGeom prst="rect">
            <a:avLst/>
          </a:prstGeom>
        </p:spPr>
      </p:pic>
      <p:sp>
        <p:nvSpPr>
          <p:cNvPr id="44" name="Rectangle 43"/>
          <p:cNvSpPr/>
          <p:nvPr/>
        </p:nvSpPr>
        <p:spPr>
          <a:xfrm>
            <a:off x="777240" y="5486400"/>
            <a:ext cx="10652760" cy="329184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77240" y="5486400"/>
            <a:ext cx="64008" cy="329184"/>
          </a:xfrm>
          <a:prstGeom prst="rect">
            <a:avLst/>
          </a:prstGeom>
          <a:solidFill>
            <a:srgbClr val="0D5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60120" y="5486400"/>
            <a:ext cx="10332720" cy="329184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0D569A"/>
                </a:solidFill>
                <a:latin typeface="Microsoft YaHei"/>
              </a:rPr>
              <a:t>初步判断：</a:t>
            </a:r>
            <a:r>
              <a:rPr sz="1500" b="0">
                <a:solidFill>
                  <a:srgbClr val="0D569A"/>
                </a:solidFill>
                <a:latin typeface="Microsoft YaHei"/>
              </a:rPr>
              <a:t>细结构的局部深度偏差会传到虚化结果。目前只有鸭头做了局部修正，另两例还需验证。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2" name="title-1">
            <a:extLst>
              <a:ext uri="{FF2B5EF4-FFF2-40B4-BE49-F238E27FC236}">
                <a16:creationId xmlns:a16="http://schemas.microsoft.com/office/drawing/2014/main" id="{33E4F7E3-0ECF-47D1-B36B-CB979572AC6C}"/>
              </a:ext>
            </a:extLst>
          </p:cNvPr>
          <p:cNvSpPr>
            <a:spLocks noGrp="1"/>
          </p:cNvSpPr>
          <p:nvPr/>
        </p:nvSpPr>
        <p:spPr>
          <a:xfrm>
            <a:off x="666750" y="285750"/>
            <a:ext cx="96202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38100" tIns="19050" rIns="38100" bIns="19050" anchor="ctr">
            <a:noAutofit/>
          </a:bodyPr>
          <a:lstStyle/>
          <a:p>
            <a:pPr algn="l">
              <a:lnSpc>
                <a:spcPct val="108000"/>
              </a:lnSpc>
              <a:buNone/>
              <a:defRPr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50" b="1">
                <a:solidFill>
                  <a:srgbClr val="101F37"/>
                </a:solidFill>
                <a:latin typeface="Microsoft YaHei"/>
                <a:ea typeface="Microsoft YaHei"/>
                <a:cs typeface="Microsoft YaHei"/>
              </a:rPr>
              <a:t>可借鉴的思路与下一步</a:t>
            </a:r>
            <a:endParaRPr sz="2850" b="1">
              <a:solidFill>
                <a:srgbClr val="101F37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" name="page-1">
            <a:extLst>
              <a:ext uri="{FF2B5EF4-FFF2-40B4-BE49-F238E27FC236}">
                <a16:creationId xmlns:a16="http://schemas.microsoft.com/office/drawing/2014/main" id="{BFFD0FF9-9FAE-46B4-A60A-3AF6342E5A88}"/>
              </a:ext>
            </a:extLst>
          </p:cNvPr>
          <p:cNvSpPr>
            <a:spLocks noGrp="1"/>
          </p:cNvSpPr>
          <p:nvPr/>
        </p:nvSpPr>
        <p:spPr>
          <a:xfrm>
            <a:off x="5810250" y="6515100"/>
            <a:ext cx="571500" cy="228600"/>
          </a:xfrm>
          <a:prstGeom prst="rect">
            <a:avLst/>
          </a:prstGeom>
          <a:solidFill>
            <a:srgbClr val="0D569A"/>
          </a:solidFill>
          <a:ln w="0">
            <a:noFill/>
            <a:prstDash val="solid"/>
          </a:ln>
        </p:spPr>
        <p:txBody>
          <a:bodyPr wrap="square" lIns="38100" tIns="19050" rIns="38100" bIns="19050" anchor="ctr">
            <a:normAutofit/>
          </a:bodyPr>
          <a:lstStyle/>
          <a:p>
            <a:pPr algn="ctr">
              <a:lnSpc>
                <a:spcPct val="108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  <a:endParaRPr sz="1050" b="1">
              <a:solidFill>
                <a:srgbClr val="FFFFFF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7240" y="914400"/>
            <a:ext cx="10652760" cy="365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01F37"/>
                </a:solidFill>
                <a:latin typeface="Microsoft YaHei"/>
              </a:rPr>
              <a:t>MagicBokeh 可借鉴的思路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1353312"/>
            <a:ext cx="3429000" cy="178308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77240" y="1353312"/>
            <a:ext cx="3429000" cy="64008"/>
          </a:xfrm>
          <a:prstGeom prst="rect">
            <a:avLst/>
          </a:prstGeom>
          <a:solidFill>
            <a:srgbClr val="0D5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1508760"/>
            <a:ext cx="3154680" cy="384048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D569A"/>
                </a:solidFill>
                <a:latin typeface="Microsoft YaHei"/>
              </a:rPr>
              <a:t>教师蒸馏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1938528"/>
            <a:ext cx="3154680" cy="11430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01F37"/>
                </a:solidFill>
                <a:latin typeface="Microsoft YaHei"/>
              </a:rPr>
              <a:t>用清晰输入的深度指导低质量输入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01F37"/>
                </a:solidFill>
                <a:latin typeface="Microsoft YaHei"/>
              </a:rPr>
              <a:t>借鉴：让细结构、跨帧的深度更可靠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389120" y="1353312"/>
            <a:ext cx="3429000" cy="178308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1353312"/>
            <a:ext cx="3429000" cy="64008"/>
          </a:xfrm>
          <a:prstGeom prst="rect">
            <a:avLst/>
          </a:prstGeom>
          <a:solidFill>
            <a:srgbClr val="0D5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26280" y="1508760"/>
            <a:ext cx="3154680" cy="384048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D569A"/>
                </a:solidFill>
                <a:latin typeface="Microsoft YaHei"/>
              </a:rPr>
              <a:t>焦点感知注意力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6280" y="1938528"/>
            <a:ext cx="3154680" cy="11430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01F37"/>
                </a:solidFill>
                <a:latin typeface="Microsoft YaHei"/>
              </a:rPr>
              <a:t>按清晰 / 模糊区域限制注意力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01F37"/>
                </a:solidFill>
                <a:latin typeface="Microsoft YaHei"/>
              </a:rPr>
              <a:t>借鉴：保护对焦主体的细节不被虚化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01000" y="1353312"/>
            <a:ext cx="3429000" cy="178308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01000" y="1353312"/>
            <a:ext cx="3429000" cy="64008"/>
          </a:xfrm>
          <a:prstGeom prst="rect">
            <a:avLst/>
          </a:prstGeom>
          <a:solidFill>
            <a:srgbClr val="0D5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138160" y="1508760"/>
            <a:ext cx="3154680" cy="384048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0D569A"/>
                </a:solidFill>
                <a:latin typeface="Microsoft YaHei"/>
              </a:rPr>
              <a:t>交替训练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60" y="1938528"/>
            <a:ext cx="3154680" cy="11430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>
                <a:solidFill>
                  <a:srgbClr val="101F37"/>
                </a:solidFill>
                <a:latin typeface="Microsoft YaHei"/>
              </a:rPr>
              <a:t>恢复与虚化参数分开更新</a:t>
            </a:r>
          </a:p>
          <a:p>
            <a:pPr algn="l">
              <a:spcAft>
                <a:spcPts val="600"/>
              </a:spcAft>
            </a:pPr>
            <a:r>
              <a:rPr sz="1350" b="0">
                <a:solidFill>
                  <a:srgbClr val="101F37"/>
                </a:solidFill>
                <a:latin typeface="Microsoft YaHei"/>
              </a:rPr>
              <a:t>借鉴：减少两项任务互相干扰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401568"/>
            <a:ext cx="10652760" cy="3657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600" b="1">
                <a:solidFill>
                  <a:srgbClr val="101F37"/>
                </a:solidFill>
                <a:latin typeface="Microsoft YaHei"/>
              </a:rPr>
              <a:t>下一步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" y="3840480"/>
            <a:ext cx="10652760" cy="54864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14400" y="3931920"/>
            <a:ext cx="365760" cy="365760"/>
          </a:xfrm>
          <a:prstGeom prst="ellipse">
            <a:avLst/>
          </a:prstGeom>
          <a:solidFill>
            <a:srgbClr val="0D5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463040" y="3913632"/>
            <a:ext cx="219456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01F37"/>
                </a:solidFill>
                <a:latin typeface="Microsoft YaHei"/>
              </a:rPr>
              <a:t>调整局部输入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657600" y="3913632"/>
            <a:ext cx="768096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01F37"/>
                </a:solidFill>
                <a:latin typeface="Microsoft YaHei"/>
              </a:rPr>
              <a:t>模型不变，只改选定位置的离焦量，看结果怎么变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77240" y="4498848"/>
            <a:ext cx="10652760" cy="5486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914400" y="4590288"/>
            <a:ext cx="365760" cy="365760"/>
          </a:xfrm>
          <a:prstGeom prst="ellipse">
            <a:avLst/>
          </a:prstGeom>
          <a:solidFill>
            <a:srgbClr val="0D5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463040" y="4572000"/>
            <a:ext cx="219456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01F37"/>
                </a:solidFill>
                <a:latin typeface="Microsoft YaHei"/>
              </a:rPr>
              <a:t>换视频验证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0" y="4572000"/>
            <a:ext cx="768096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01F37"/>
                </a:solidFill>
                <a:latin typeface="Microsoft YaHei"/>
              </a:rPr>
              <a:t>检查同样的调整在其他视频上是否有效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7240" y="5157216"/>
            <a:ext cx="10652760" cy="548640"/>
          </a:xfrm>
          <a:prstGeom prst="rect">
            <a:avLst/>
          </a:prstGeom>
          <a:solidFill>
            <a:srgbClr val="EE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914400" y="5248656"/>
            <a:ext cx="365760" cy="365760"/>
          </a:xfrm>
          <a:prstGeom prst="ellipse">
            <a:avLst/>
          </a:prstGeom>
          <a:solidFill>
            <a:srgbClr val="0D56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463040" y="5230368"/>
            <a:ext cx="219456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01F37"/>
                </a:solidFill>
                <a:latin typeface="Microsoft YaHei"/>
              </a:rPr>
              <a:t>设计改进方法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0" y="5230368"/>
            <a:ext cx="7680960" cy="4114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0">
                <a:solidFill>
                  <a:srgbClr val="101F37"/>
                </a:solidFill>
                <a:latin typeface="Microsoft YaHei"/>
              </a:rPr>
              <a:t>自动发现并修正不可靠的局部深度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1602</Words>
  <Application>Microsoft Office PowerPoint</Application>
  <DocSecurity>0</DocSecurity>
  <PresentationFormat>宽屏</PresentationFormat>
  <Paragraphs>304</Paragraphs>
  <Slides>14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0" baseType="lpstr">
      <vt:lpstr>等线</vt:lpstr>
      <vt:lpstr>Microsoft YaHei</vt:lpstr>
      <vt:lpstr>Microsoft YaHei</vt:lpstr>
      <vt:lpstr>微软雅黑 Light</vt:lpstr>
      <vt:lpstr>Arial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辰洋 孟</cp:lastModifiedBy>
  <cp:revision>20</cp:revision>
  <dcterms:created xsi:type="dcterms:W3CDTF">2026-08-21T05:34:17Z</dcterms:created>
  <dcterms:modified xsi:type="dcterms:W3CDTF">2026-10-15T13:12:09Z</dcterms:modified>
</cp:coreProperties>
</file>