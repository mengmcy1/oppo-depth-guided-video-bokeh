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67" r:id="rId3"/>
    <p:sldId id="268" r:id="rId4"/>
    <p:sldId id="269" r:id="rId5"/>
    <p:sldId id="270" r:id="rId6"/>
    <p:sldId id="271" r:id="rId7"/>
    <p:sldId id="274" r:id="rId8"/>
    <p:sldId id="272" r:id="rId9"/>
    <p:sldId id="275" r:id="rId10"/>
    <p:sldId id="276" r:id="rId11"/>
    <p:sldId id="277" r:id="rId12"/>
    <p:sldId id="278" r:id="rId13"/>
    <p:sldId id="279" r:id="rId14"/>
    <p:sldId id="273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3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/>
              <a:t>https://vivocameraresearch.github.io/any2bokeh/；DAVIS</a:t>
            </a:r>
            <a:r>
              <a:rPr lang="zh-CN" altLang="en-US"/>
              <a:t>本地复现，</a:t>
            </a:r>
            <a:r>
              <a:rPr lang="en-US"/>
              <a:t>K16，25</a:t>
            </a:r>
            <a:r>
              <a:rPr lang="zh-CN" altLang="en-US"/>
              <a:t>帧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/>
              <a:t>https://vivocameraresearch.github.io/any2bokeh/；DAVIS</a:t>
            </a:r>
            <a:r>
              <a:rPr lang="zh-CN" altLang="en-US"/>
              <a:t>本地复现，</a:t>
            </a:r>
            <a:r>
              <a:rPr lang="en-US"/>
              <a:t>K16，25</a:t>
            </a:r>
            <a:r>
              <a:rPr lang="zh-CN" altLang="en-US"/>
              <a:t>帧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69503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60695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39993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01158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77720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/records/any2bokeh-encoder-scale1-experiment-4090d-20261008.json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68260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34175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/records/any2bokeh-B33-B36-diagnostics-20261014-B33-numeric-summary.json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4052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/records/any2bokeh-B33-B36-diagnostics-20261014-B36-input-statistics.json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78902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/records/any2bokeh-failure-analysis-20261009-human-review.json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17722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3517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microsoft.com/office/2007/relationships/media" Target="../media/media2.mp4"/><Relationship Id="rId7" Type="http://schemas.openxmlformats.org/officeDocument/2006/relationships/image" Target="../media/image3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13.xml"/><Relationship Id="rId4" Type="http://schemas.openxmlformats.org/officeDocument/2006/relationships/video" Target="../media/media2.mp4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microsoft.com/office/2007/relationships/media" Target="../media/media4.mp4"/><Relationship Id="rId7" Type="http://schemas.openxmlformats.org/officeDocument/2006/relationships/image" Target="../media/image5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3.xml"/><Relationship Id="rId4" Type="http://schemas.openxmlformats.org/officeDocument/2006/relationships/video" Target="../media/media4.mp4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视频虚化：基线更新</a:t>
            </a:r>
          </a:p>
          <a:p>
            <a:pPr algn="ctr">
              <a:buNone/>
            </a:pPr>
            <a:r>
              <a:rPr lang="en-US" altLang="zh-CN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ATB </a:t>
            </a: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效率优化与案例分析</a:t>
            </a: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2026.10.16</a:t>
            </a:r>
            <a:endParaRPr lang="zh-CN" altLang="en-US" sz="1800" b="0">
              <a:solidFill>
                <a:srgbClr val="4874C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主体保留与背景虚化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goat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山羊</a:t>
            </a:r>
          </a:p>
        </p:txBody>
      </p:sp>
      <p:pic>
        <p:nvPicPr>
          <p:cNvPr id="29" name="blackswa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黑天鹅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repeatCount="indefinite" fill="hold" display="0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repeatCount="indefinite" fill="hold" display="0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运动场景下的视频虚化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dance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舞蹈</a:t>
            </a:r>
          </a:p>
        </p:txBody>
      </p:sp>
      <p:pic>
        <p:nvPicPr>
          <p:cNvPr id="29" name="breakdanc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街舞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repeatCount="indefinite" fill="hold" display="0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repeatCount="indefinite" fill="hold" display="0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71572"/>
              </p:ext>
            </p:extLst>
          </p:nvPr>
        </p:nvGraphicFramePr>
        <p:xfrm>
          <a:off x="868680" y="1485900"/>
          <a:ext cx="10332720" cy="4191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  <a:endParaRPr sz="17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  <a:p>
                      <a:pPr algn="ctr"/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GT Alpha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GT</a:t>
                      </a:r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区域辅助选焦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0.198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97.79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0.871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0.0268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真实视频主体边缘保留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609854"/>
              </p:ext>
            </p:extLst>
          </p:nvPr>
        </p:nvGraphicFramePr>
        <p:xfrm>
          <a:off x="1737360" y="1645920"/>
          <a:ext cx="859536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5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</a:t>
                      </a:r>
                      <a:endParaRPr sz="17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 (s/输出帧)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0.342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0.236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1.269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1398.55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5.13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给定输入下的视频处理效率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4241527"/>
              </p:ext>
            </p:extLst>
          </p:nvPr>
        </p:nvGraphicFramePr>
        <p:xfrm>
          <a:off x="914400" y="1645920"/>
          <a:ext cx="10241280" cy="37307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Core (s/25帧)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E2E (s/25帧)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显存 </a:t>
                      </a:r>
                      <a:r>
                        <a:rPr lang="en-US" altLang="zh-CN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/ </a:t>
                      </a:r>
                      <a:r>
                        <a:rPr lang="zh-CN" alt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内存</a:t>
                      </a:r>
                    </a:p>
                    <a:p>
                      <a:pPr algn="ctr"/>
                      <a:r>
                        <a:rPr lang="en-US" altLang="zh-CN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(</a:t>
                      </a:r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GiB) ↓</a:t>
                      </a:r>
                      <a:endParaRPr sz="16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46.733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48.789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1.52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8.584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21.789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1.139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21.953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5.956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7.536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3.317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23.151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23.957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lang="en-US"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  <a:endParaRPr sz="19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32.571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36.570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6.79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20.113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21.860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用时集中在编码与解码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100" name="Updated note 100"/>
          <p:cNvSpPr txBox="1"/>
          <p:nvPr/>
        </p:nvSpPr>
        <p:spPr>
          <a:xfrm>
            <a:off x="914400" y="5382111"/>
            <a:ext cx="10241280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altLang="zh-CN" sz="2300" b="0">
                <a:solidFill>
                  <a:srgbClr val="101F37"/>
                </a:solidFill>
                <a:latin typeface="Arial"/>
                <a:ea typeface="Microsoft YaHei"/>
              </a:rPr>
              <a:t>VAE </a:t>
            </a:r>
            <a:r>
              <a:rPr lang="zh-CN" altLang="en-US" sz="2300" b="0">
                <a:solidFill>
                  <a:srgbClr val="101F37"/>
                </a:solidFill>
                <a:latin typeface="Arial"/>
                <a:ea typeface="Microsoft YaHei"/>
              </a:rPr>
              <a:t>相关阶段占总耗时的 </a:t>
            </a:r>
            <a:r>
              <a:rPr lang="en-US" altLang="zh-CN" sz="2300" b="0">
                <a:solidFill>
                  <a:srgbClr val="101F37"/>
                </a:solidFill>
                <a:latin typeface="Arial"/>
                <a:ea typeface="Microsoft YaHei"/>
              </a:rPr>
              <a:t>80.36%</a:t>
            </a:r>
            <a:endParaRPr sz="2300" b="0">
              <a:solidFill>
                <a:srgbClr val="101F37"/>
              </a:solidFill>
              <a:latin typeface="Arial"/>
              <a:ea typeface="Microsoft YaHei"/>
            </a:endParaRPr>
          </a:p>
        </p:txBody>
      </p:sp>
      <p:graphicFrame>
        <p:nvGraphicFramePr>
          <p:cNvPr id="102" name="Table 101"/>
          <p:cNvGraphicFramePr>
            <a:graphicFrameLocks noGrp="1"/>
          </p:cNvGraphicFramePr>
          <p:nvPr/>
        </p:nvGraphicFramePr>
        <p:xfrm>
          <a:off x="914400" y="1645920"/>
          <a:ext cx="10241280" cy="2926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耗时 (s/25帧)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时间占比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allocated峰值 (GiB)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CLIP 图像编码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0.160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0.79%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11.92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RGB VAE 编码与缓存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4.581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22.71%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CoC VAE 编码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18.78%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UNet 时空条件处理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3.742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14.39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重叠拼接与时序解码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7.841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38.87%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未归入上述阶段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0.059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完整带插桩 Core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20.171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100%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去除冗余计算，降低显存峰值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631132"/>
              </p:ext>
            </p:extLst>
          </p:nvPr>
        </p:nvGraphicFramePr>
        <p:xfrm>
          <a:off x="914400" y="2476500"/>
          <a:ext cx="1024128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69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指标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原版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优化后</a:t>
                      </a:r>
                      <a:endParaRPr sz="15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变化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</a:t>
                      </a:r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帧模型耗时 </a:t>
                      </a:r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(</a:t>
                      </a:r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s)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20.273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20.049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−1.10%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设备峰值显存 </a:t>
                      </a:r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(GiB)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42.116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37.616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−10.68%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4763C70D-8BD7-B250-2CA9-4AFF6469581A}"/>
              </a:ext>
            </a:extLst>
          </p:cNvPr>
          <p:cNvSpPr txBox="1"/>
          <p:nvPr/>
        </p:nvSpPr>
        <p:spPr>
          <a:xfrm>
            <a:off x="914400" y="4673600"/>
            <a:ext cx="102362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设备峰值显存减少 </a:t>
            </a:r>
            <a:r>
              <a:rPr lang="en-US" altLang="zh-CN" sz="2500" b="1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4.50 GiB</a:t>
            </a:r>
            <a:endParaRPr lang="zh-CN" altLang="en-US" sz="2500" b="1">
              <a:solidFill>
                <a:srgbClr val="101F3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CDE0E5B-1B56-4519-880C-640F61320FE1}"/>
              </a:ext>
            </a:extLst>
          </p:cNvPr>
          <p:cNvSpPr txBox="1"/>
          <p:nvPr/>
        </p:nvSpPr>
        <p:spPr>
          <a:xfrm>
            <a:off x="914400" y="5448300"/>
            <a:ext cx="102362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四个固定片段：浮点输出逐位一致，</a:t>
            </a:r>
            <a:r>
              <a:rPr lang="en-US" altLang="zh-CN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RGB8 </a:t>
            </a:r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输出一致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5BECF9-5D7B-3654-F488-A3973CB83013}"/>
              </a:ext>
            </a:extLst>
          </p:cNvPr>
          <p:cNvSpPr txBox="1"/>
          <p:nvPr/>
        </p:nvSpPr>
        <p:spPr>
          <a:xfrm>
            <a:off x="914400" y="1333500"/>
            <a:ext cx="102362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2300">
                <a:solidFill>
                  <a:srgbClr val="0D569A"/>
                </a:solidFill>
                <a:latin typeface="Microsoft YaHei" panose="020B0503020204020204" pitchFamily="34" charset="-122"/>
              </a:rPr>
              <a:t>(</a:t>
            </a:r>
            <a:r>
              <a:rPr lang="zh-CN" altLang="en-US" sz="2300">
                <a:solidFill>
                  <a:srgbClr val="0D569A"/>
                </a:solidFill>
                <a:latin typeface="Microsoft YaHei" panose="020B0503020204020204" pitchFamily="34" charset="-122"/>
              </a:rPr>
              <a:t>残差 </a:t>
            </a:r>
            <a:r>
              <a:rPr lang="en-US" altLang="zh-CN" sz="2300">
                <a:solidFill>
                  <a:srgbClr val="0D569A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300">
                <a:solidFill>
                  <a:srgbClr val="0D569A"/>
                </a:solidFill>
                <a:latin typeface="Microsoft YaHei" panose="020B0503020204020204" pitchFamily="34" charset="-122"/>
              </a:rPr>
              <a:t>分支输出</a:t>
            </a:r>
            <a:r>
              <a:rPr lang="en-US" altLang="zh-CN" sz="2300">
                <a:solidFill>
                  <a:srgbClr val="0D569A"/>
                </a:solidFill>
                <a:latin typeface="Microsoft YaHei" panose="020B0503020204020204" pitchFamily="34" charset="-122"/>
              </a:rPr>
              <a:t>) ÷ 1    →    </a:t>
            </a:r>
            <a:r>
              <a:rPr lang="zh-CN" altLang="en-US" sz="2300">
                <a:solidFill>
                  <a:srgbClr val="0D569A"/>
                </a:solidFill>
                <a:latin typeface="Microsoft YaHei" panose="020B0503020204020204" pitchFamily="34" charset="-122"/>
              </a:rPr>
              <a:t>残差 </a:t>
            </a:r>
            <a:r>
              <a:rPr lang="en-US" altLang="zh-CN" sz="2300">
                <a:solidFill>
                  <a:srgbClr val="0D569A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300">
                <a:solidFill>
                  <a:srgbClr val="0D569A"/>
                </a:solidFill>
                <a:latin typeface="Microsoft YaHei" panose="020B0503020204020204" pitchFamily="34" charset="-122"/>
              </a:rPr>
              <a:t>分支输出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局部案例与输入诊断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09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3F63413D-F463-0327-FD54-FC6E84A2263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58428659"/>
              </p:ext>
            </p:extLst>
          </p:nvPr>
        </p:nvGraphicFramePr>
        <p:xfrm>
          <a:off x="914400" y="1676400"/>
          <a:ext cx="10287000" cy="2667000"/>
        </p:xfrm>
        <a:graphic>
          <a:graphicData uri="http://schemas.openxmlformats.org/drawingml/2006/table">
            <a:tbl>
              <a:tblPr/>
              <a:tblGrid>
                <a:gridCol w="2190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已记录现象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当前分析重点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汽车旁细绳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第22帧比第1帧更模糊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局部视差与焦点变化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鸭头与身体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人工观察：鸭头疑似变软</a:t>
                      </a:r>
                      <a:endParaRPr sz="1875" b="0">
                        <a:solidFill>
                          <a:srgbClr val="101F37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主体内部离焦分配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伞绳方法对照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人工观察：</a:t>
                      </a:r>
                      <a:r>
                        <a:rPr lang="en-US" altLang="zh-CN"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ATB</a:t>
                      </a:r>
                      <a:r>
                        <a:rPr lang="zh-CN" altLang="en-US"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相对清楚</a:t>
                      </a:r>
                      <a:endParaRPr sz="1875" b="0">
                        <a:solidFill>
                          <a:srgbClr val="101F37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跨方法细节保留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8769D856-4E65-F7EF-BAA8-651827E969C5}"/>
              </a:ext>
            </a:extLst>
          </p:cNvPr>
          <p:cNvSpPr>
            <a:spLocks noGrp="1"/>
          </p:cNvSpPr>
          <p:nvPr/>
        </p:nvSpPr>
        <p:spPr>
          <a:xfrm>
            <a:off x="914400" y="5048250"/>
            <a:ext cx="10287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局部观察与输入诊断共同推进问题定位</a:t>
            </a:r>
          </a:p>
        </p:txBody>
      </p:sp>
    </p:spTree>
    <p:extLst>
      <p:ext uri="{BB962C8B-B14F-4D97-AF65-F5344CB8AC3E}">
        <p14:creationId xmlns:p14="http://schemas.microsoft.com/office/powerpoint/2010/main" val="24762376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细绳两时刻的输入离焦变化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EF853E4E-998A-5842-DE16-43C13404A7B4}"/>
              </a:ext>
            </a:extLst>
          </p:cNvPr>
          <p:cNvGraphicFramePr/>
          <p:nvPr/>
        </p:nvGraphicFramePr>
        <p:xfrm>
          <a:off x="914400" y="4124325"/>
          <a:ext cx="10287000" cy="1752600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细绳采样区域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第1帧名义离焦量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第22帧名义离焦量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R1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0.708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2.403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R2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1.022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2.027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R4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1.398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2.843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9678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鸭头与身体的离焦分配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1A521025-E642-0418-5612-48DCDAC5F817}"/>
              </a:ext>
            </a:extLst>
          </p:cNvPr>
          <p:cNvGraphicFramePr/>
          <p:nvPr/>
        </p:nvGraphicFramePr>
        <p:xfrm>
          <a:off x="7334250" y="2095500"/>
          <a:ext cx="3857625" cy="2209800"/>
        </p:xfrm>
        <a:graphic>
          <a:graphicData uri="http://schemas.openxmlformats.org/drawingml/2006/table">
            <a:tbl>
              <a:tblPr/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7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部位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第0帧名义离焦量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头部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2.400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颈部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0.204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身体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0.580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A363B467-A4BF-2CF0-0F60-E812F59280B1}"/>
              </a:ext>
            </a:extLst>
          </p:cNvPr>
          <p:cNvSpPr>
            <a:spLocks noGrp="1"/>
          </p:cNvSpPr>
          <p:nvPr/>
        </p:nvSpPr>
        <p:spPr>
          <a:xfrm>
            <a:off x="7334250" y="4762500"/>
            <a:ext cx="3857625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头部的输入离焦量高于颈部和身体</a:t>
            </a:r>
          </a:p>
        </p:txBody>
      </p:sp>
    </p:spTree>
    <p:extLst>
      <p:ext uri="{BB962C8B-B14F-4D97-AF65-F5344CB8AC3E}">
        <p14:creationId xmlns:p14="http://schemas.microsoft.com/office/powerpoint/2010/main" val="2186001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伞绳的跨方法细节保留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15A426-A68B-2D82-7FE6-D528CD56ECB3}"/>
              </a:ext>
            </a:extLst>
          </p:cNvPr>
          <p:cNvSpPr>
            <a:spLocks noGrp="1"/>
          </p:cNvSpPr>
          <p:nvPr/>
        </p:nvSpPr>
        <p:spPr>
          <a:xfrm>
            <a:off x="914400" y="5476875"/>
            <a:ext cx="102870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第</a:t>
            </a:r>
            <a:r>
              <a:rPr lang="en-US" altLang="zh-CN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0</a:t>
            </a:r>
            <a:r>
              <a:rPr lang="zh-CN" altLang="en-US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帧人工对照：</a:t>
            </a:r>
            <a:r>
              <a:rPr lang="en-US" altLang="zh-CN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ATB </a:t>
            </a:r>
            <a:r>
              <a:rPr lang="zh-CN" altLang="en-US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相对更清楚</a:t>
            </a:r>
            <a:endParaRPr sz="2100" b="1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50399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下一步：验证几何与渲染的作用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719A3AC-6BF9-F852-A949-832D5BC436D8}"/>
              </a:ext>
            </a:extLst>
          </p:cNvPr>
          <p:cNvSpPr txBox="1"/>
          <p:nvPr/>
        </p:nvSpPr>
        <p:spPr>
          <a:xfrm>
            <a:off x="787400" y="13335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案例确认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6FEF3FB-52F6-A508-1D51-BC489361615E}"/>
              </a:ext>
            </a:extLst>
          </p:cNvPr>
          <p:cNvSpPr txBox="1"/>
          <p:nvPr/>
        </p:nvSpPr>
        <p:spPr>
          <a:xfrm>
            <a:off x="3619500" y="13335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确认细绳对应位置与鸭头跨方法表现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3E42CED-48F0-27B1-F792-FBF719457458}"/>
              </a:ext>
            </a:extLst>
          </p:cNvPr>
          <p:cNvSpPr txBox="1"/>
          <p:nvPr/>
        </p:nvSpPr>
        <p:spPr>
          <a:xfrm>
            <a:off x="787400" y="24765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局部干预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C70B961-ED28-723F-31D3-EBEA66797499}"/>
              </a:ext>
            </a:extLst>
          </p:cNvPr>
          <p:cNvSpPr txBox="1"/>
          <p:nvPr/>
        </p:nvSpPr>
        <p:spPr>
          <a:xfrm>
            <a:off x="3619500" y="24765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固定模型和其他输入，比较局部控制变化后的输出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8A5A8EE-964C-8EF7-37DE-F5CB50B59E4A}"/>
              </a:ext>
            </a:extLst>
          </p:cNvPr>
          <p:cNvSpPr txBox="1"/>
          <p:nvPr/>
        </p:nvSpPr>
        <p:spPr>
          <a:xfrm>
            <a:off x="787400" y="36195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跨来源复核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4A6D852-BE32-8732-3844-665F09225A77}"/>
              </a:ext>
            </a:extLst>
          </p:cNvPr>
          <p:cNvSpPr txBox="1"/>
          <p:nvPr/>
        </p:nvSpPr>
        <p:spPr>
          <a:xfrm>
            <a:off x="3619500" y="36195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用保留视频检查现象重复性与正常对照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6F7EF0-503E-5FD5-BF3F-E81AE8170B81}"/>
              </a:ext>
            </a:extLst>
          </p:cNvPr>
          <p:cNvSpPr txBox="1"/>
          <p:nvPr/>
        </p:nvSpPr>
        <p:spPr>
          <a:xfrm>
            <a:off x="787400" y="47625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方法设计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302C507-3EBB-3E68-02FE-BAFF04D6322B}"/>
              </a:ext>
            </a:extLst>
          </p:cNvPr>
          <p:cNvSpPr txBox="1"/>
          <p:nvPr/>
        </p:nvSpPr>
        <p:spPr>
          <a:xfrm>
            <a:off x="3619500" y="47625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依据重复现象与干预结果确定改进模块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1142</Words>
  <Application>Microsoft Office PowerPoint</Application>
  <DocSecurity>0</DocSecurity>
  <PresentationFormat>宽屏</PresentationFormat>
  <Paragraphs>296</Paragraphs>
  <Slides>14</Slides>
  <Notes>14</Notes>
  <HiddenSlides>0</HiddenSlides>
  <MMClips>4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0" baseType="lpstr">
      <vt:lpstr>等线</vt:lpstr>
      <vt:lpstr>微软雅黑</vt:lpstr>
      <vt:lpstr>微软雅黑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15</cp:revision>
  <dcterms:created xsi:type="dcterms:W3CDTF">2026-08-21T05:34:17Z</dcterms:created>
  <dcterms:modified xsi:type="dcterms:W3CDTF">2026-10-15T05:20:12Z</dcterms:modified>
</cp:coreProperties>
</file>