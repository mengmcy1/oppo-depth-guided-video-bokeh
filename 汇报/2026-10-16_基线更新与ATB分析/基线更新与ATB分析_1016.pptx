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9" r:id="rId5"/>
    <p:sldId id="270" r:id="rId6"/>
    <p:sldId id="271" r:id="rId7"/>
    <p:sldId id="274" r:id="rId8"/>
    <p:sldId id="272" r:id="rId9"/>
    <p:sldId id="275" r:id="rId10"/>
    <p:sldId id="277" r:id="rId11"/>
    <p:sldId id="278" r:id="rId12"/>
    <p:sldId id="279" r:id="rId13"/>
    <p:sldId id="27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96" y="-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来源：03_实验记录/records/any2bokeh-B33-B36-diagnostics-20261014-B33-numeric-summary.json</a:t>
            </a:r>
          </a:p>
          <a:p/>
          <a:p>
            <a:r>
              <a:t>补图来源与口径：</a:t>
            </a:r>
          </a:p>
          <a:p>
            <a:r>
              <a:t>用户圈选输出：/root/autodl-tmp/00001.png、00022.png；两图按相同540×270像素区域裁剪展示，保留原始图片及蓝圈。用户已报告第22帧更模糊，不能由两帧断言中间单调变化或深度错误。R1/R2/R4仍是定位候选，R3帧22缺失；后续定位与机制诊断留空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来源：03_实验记录/records/any2bokeh-B33-B36-diagnostics-20261014-B36-input-statistics.json</a:t>
            </a:r>
          </a:p>
          <a:p/>
          <a:p>
            <a:r>
              <a:t>补图来源与口径：</a:t>
            </a:r>
          </a:p>
          <a:p>
            <a:r>
              <a:t>B36冻结Input_RGB/Frozen_ATB第0帧；完整图与相同头部ROI(610,130,180,120)，均保持宽高比，未增强或锐化。右表沿用已核验输入名义离焦。六方法新视觉复核未完成，跨方法结论留空，不暗示深度错误已证实。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来源：03_实验记录/records/any2bokeh-failure-analysis-20261009-human-review.json</a:t>
            </a:r>
          </a:p>
          <a:p/>
          <a:p>
            <a:r>
              <a:t>补图来源与口径：</a:t>
            </a:r>
          </a:p>
          <a:p>
            <a:r>
              <a:t>B19 paragliding-launch第0帧输入与六种冻结预测；统一ROI(348,19,248,144)，对应用户定位。底部结论来自用户在揭示映射前的反馈，不推广为全部帧/区域排名。DeepLens使用自身估深；其余方法冻结适配仍不同。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细绳两时刻的输入离焦变化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F853E4E-998A-5842-DE16-43C13404A7B4}"/>
              </a:ext>
            </a:extLst>
          </p:cNvPr>
          <p:cNvGraphicFramePr/>
          <p:nvPr/>
        </p:nvGraphicFramePr>
        <p:xfrm>
          <a:off x="914400" y="4124325"/>
          <a:ext cx="10287000" cy="17526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细绳采样区域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第1帧名义离焦量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第22帧名义离焦量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R1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R2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2.027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R4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14400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ATB 输出 · 第1帧</a:t>
            </a:r>
          </a:p>
        </p:txBody>
      </p:sp>
      <p:pic>
        <p:nvPicPr>
          <p:cNvPr id="24" name="Picture 23" descr="00001.png"/>
          <p:cNvPicPr>
            <a:picLocks noChangeAspect="1"/>
          </p:cNvPicPr>
          <p:nvPr/>
        </p:nvPicPr>
        <p:blipFill>
          <a:blip r:embed="rId3"/>
          <a:srcRect l="47266" t="36806" b="16319"/>
          <a:stretch>
            <a:fillRect/>
          </a:stretch>
        </p:blipFill>
        <p:spPr>
          <a:xfrm>
            <a:off x="914400" y="1353312"/>
            <a:ext cx="4937760" cy="2468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36208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ATB 输出 · 第22帧</a:t>
            </a:r>
          </a:p>
        </p:txBody>
      </p:sp>
      <p:pic>
        <p:nvPicPr>
          <p:cNvPr id="26" name="Picture 25" descr="00022.png"/>
          <p:cNvPicPr>
            <a:picLocks noChangeAspect="1"/>
          </p:cNvPicPr>
          <p:nvPr/>
        </p:nvPicPr>
        <p:blipFill>
          <a:blip r:embed="rId4"/>
          <a:srcRect l="47266" t="36806" b="16319"/>
          <a:stretch>
            <a:fillRect/>
          </a:stretch>
        </p:blipFill>
        <p:spPr>
          <a:xfrm>
            <a:off x="6236208" y="1353312"/>
            <a:ext cx="4937760" cy="2468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14400" y="3840480"/>
            <a:ext cx="10287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Microsoft YaHei"/>
              </a:rPr>
              <a:t>蓝圈对应同一栏杆段；下表为输入控制量，不是实测模糊半径。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053328"/>
            <a:ext cx="12801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Microsoft YaHei"/>
              </a:rPr>
              <a:t>补充诊断：</a:t>
            </a:r>
          </a:p>
        </p:txBody>
      </p:sp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鸭头与身体的离焦分配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521025-E642-0418-5612-48DCDAC5F817}"/>
              </a:ext>
            </a:extLst>
          </p:cNvPr>
          <p:cNvGraphicFramePr/>
          <p:nvPr/>
        </p:nvGraphicFramePr>
        <p:xfrm>
          <a:off x="7334250" y="2095500"/>
          <a:ext cx="3857625" cy="22098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部位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第0帧
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颈部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身体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363B467-A4BF-2CF0-0F60-E812F59280B1}"/>
              </a:ext>
            </a:extLst>
          </p:cNvPr>
          <p:cNvSpPr>
            <a:spLocks noGrp="1"/>
          </p:cNvSpPr>
          <p:nvPr/>
        </p:nvSpPr>
        <p:spPr>
          <a:xfrm>
            <a:off x="7334250" y="4762500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头部输入离焦量
高于颈部和身体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78992"/>
            <a:ext cx="301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输入 RGB · 第0帧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77240" y="1463040"/>
            <a:ext cx="3017520" cy="16973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364992"/>
            <a:ext cx="3017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173657"/>
                </a:solidFill>
                <a:latin typeface="Microsoft YaHei"/>
              </a:rPr>
              <a:t>同位置头部局部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3"/>
          <a:srcRect l="59570" t="22569" r="22852" b="56597"/>
          <a:stretch>
            <a:fillRect/>
          </a:stretch>
        </p:blipFill>
        <p:spPr>
          <a:xfrm>
            <a:off x="777240" y="3730752"/>
            <a:ext cx="3017520" cy="20116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005072" y="1078992"/>
            <a:ext cx="301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ATB 输出 · 第0帧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05072" y="1463040"/>
            <a:ext cx="3017520" cy="169735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05072" y="3364992"/>
            <a:ext cx="3017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173657"/>
                </a:solidFill>
                <a:latin typeface="Microsoft YaHei"/>
              </a:rPr>
              <a:t>同位置头部局部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4"/>
          <a:srcRect l="59570" t="22569" r="22852" b="56597"/>
          <a:stretch>
            <a:fillRect/>
          </a:stretch>
        </p:blipFill>
        <p:spPr>
          <a:xfrm>
            <a:off x="4005072" y="3730752"/>
            <a:ext cx="3017520" cy="20116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6053328"/>
            <a:ext cx="20116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Microsoft YaHei"/>
              </a:rPr>
              <a:t>跨方法诊断结论：</a:t>
            </a:r>
          </a:p>
        </p:txBody>
      </p:sp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伞绳的跨方法细节保留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15A426-A68B-2D82-7FE6-D528CD56ECB3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第</a:t>
            </a:r>
            <a:r>
              <a:rPr lang="en-US" altLang="zh-CN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0</a:t>
            </a: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帧人工对照：</a:t>
            </a:r>
            <a:r>
              <a:rPr lang="en-US" altLang="zh-CN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ATB </a:t>
            </a: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相对更清楚</a:t>
            </a:r>
            <a:endParaRPr sz="210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输入 RGB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 l="33984" t="3299" r="41797" b="71701"/>
          <a:stretch>
            <a:fillRect/>
          </a:stretch>
        </p:blipFill>
        <p:spPr>
          <a:xfrm>
            <a:off x="777240" y="1444752"/>
            <a:ext cx="2423160" cy="14069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204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Any-to-Bokeh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4"/>
          <a:srcRect l="33984" t="3299" r="41797" b="71701"/>
          <a:stretch>
            <a:fillRect/>
          </a:stretch>
        </p:blipFill>
        <p:spPr>
          <a:xfrm>
            <a:off x="3520440" y="1444752"/>
            <a:ext cx="2423160" cy="14069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636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MPIB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5"/>
          <a:srcRect l="33984" t="3299" r="41797" b="71701"/>
          <a:stretch>
            <a:fillRect/>
          </a:stretch>
        </p:blipFill>
        <p:spPr>
          <a:xfrm>
            <a:off x="6263640" y="1444752"/>
            <a:ext cx="2423160" cy="14069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BokehMe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6"/>
          <a:srcRect l="33984" t="3299" r="41797" b="71701"/>
          <a:stretch>
            <a:fillRect/>
          </a:stretch>
        </p:blipFill>
        <p:spPr>
          <a:xfrm>
            <a:off x="9006840" y="1444752"/>
            <a:ext cx="2423160" cy="1406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488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DeepLens</a:t>
            </a:r>
          </a:p>
        </p:txBody>
      </p:sp>
      <p:pic>
        <p:nvPicPr>
          <p:cNvPr id="32" name="Picture 31" descr="00000.png"/>
          <p:cNvPicPr>
            <a:picLocks noChangeAspect="1"/>
          </p:cNvPicPr>
          <p:nvPr/>
        </p:nvPicPr>
        <p:blipFill>
          <a:blip r:embed="rId7"/>
          <a:srcRect l="33984" t="3299" r="41797" b="71701"/>
          <a:stretch>
            <a:fillRect/>
          </a:stretch>
        </p:blipFill>
        <p:spPr>
          <a:xfrm>
            <a:off x="2148840" y="3429000"/>
            <a:ext cx="2423160" cy="14069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920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Dr.Bokeh</a:t>
            </a:r>
          </a:p>
        </p:txBody>
      </p:sp>
      <p:pic>
        <p:nvPicPr>
          <p:cNvPr id="34" name="Picture 33" descr="00000.png"/>
          <p:cNvPicPr>
            <a:picLocks noChangeAspect="1"/>
          </p:cNvPicPr>
          <p:nvPr/>
        </p:nvPicPr>
        <p:blipFill>
          <a:blip r:embed="rId8"/>
          <a:srcRect l="33984" t="3299" r="41797" b="71701"/>
          <a:stretch>
            <a:fillRect/>
          </a:stretch>
        </p:blipFill>
        <p:spPr>
          <a:xfrm>
            <a:off x="4892040" y="3429000"/>
            <a:ext cx="2423160" cy="14069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2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BokehDiff</a:t>
            </a:r>
          </a:p>
        </p:txBody>
      </p:sp>
      <p:pic>
        <p:nvPicPr>
          <p:cNvPr id="36" name="Picture 35" descr="00000.png"/>
          <p:cNvPicPr>
            <a:picLocks noChangeAspect="1"/>
          </p:cNvPicPr>
          <p:nvPr/>
        </p:nvPicPr>
        <p:blipFill>
          <a:blip r:embed="rId9"/>
          <a:srcRect l="33984" t="3299" r="41797" b="71701"/>
          <a:stretch>
            <a:fillRect/>
          </a:stretch>
        </p:blipFill>
        <p:spPr>
          <a:xfrm>
            <a:off x="7635240" y="3429000"/>
            <a:ext cx="2423160" cy="140699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14400" y="5138928"/>
            <a:ext cx="10287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Microsoft YaHei"/>
              </a:rPr>
              <a:t>第0帧 · 同一上方细绳区域 · 各方法保留冻结输入适配</a:t>
            </a:r>
          </a:p>
        </p:txBody>
      </p:sp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999</Words>
  <Application>Microsoft Office PowerPoint</Application>
  <DocSecurity>0</DocSecurity>
  <PresentationFormat>宽屏</PresentationFormat>
  <Paragraphs>277</Paragraphs>
  <Slides>13</Slides>
  <Notes>13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18</cp:revision>
  <dcterms:created xsi:type="dcterms:W3CDTF">2026-08-21T05:34:17Z</dcterms:created>
  <dcterms:modified xsi:type="dcterms:W3CDTF">2026-10-15T06:28:03Z</dcterms:modified>
</cp:coreProperties>
</file>