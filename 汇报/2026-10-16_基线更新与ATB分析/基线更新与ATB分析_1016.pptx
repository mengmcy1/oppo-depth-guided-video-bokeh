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69" r:id="rId5"/>
    <p:sldId id="270" r:id="rId6"/>
    <p:sldId id="271" r:id="rId7"/>
    <p:sldId id="274" r:id="rId8"/>
    <p:sldId id="272" r:id="rId9"/>
    <p:sldId id="275" r:id="rId10"/>
    <p:sldId id="277" r:id="rId11"/>
    <p:sldId id="278" r:id="rId12"/>
    <p:sldId id="279" r:id="rId13"/>
    <p:sldId id="273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596" y="-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</a:t>
            </a:r>
            <a:r>
              <a:rPr lang="zh-CN" altLang="en-US"/>
              <a:t>当前实验进度与方法论</a:t>
            </a:r>
            <a:r>
              <a:rPr lang="en-US" altLang="zh-CN"/>
              <a:t>.md</a:t>
            </a:r>
            <a:r>
              <a:rPr lang="zh-CN" altLang="en-US"/>
              <a:t>；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/Benchmark</a:t>
            </a:r>
            <a:r>
              <a:rPr lang="zh-CN" altLang="en-US"/>
              <a:t>与</a:t>
            </a:r>
            <a:r>
              <a:rPr lang="en-US" altLang="zh-CN"/>
              <a:t>Baseline</a:t>
            </a:r>
            <a:r>
              <a:rPr lang="zh-CN" altLang="en-US"/>
              <a:t>统一评价协议</a:t>
            </a:r>
            <a:r>
              <a:rPr lang="en-US" altLang="zh-CN"/>
              <a:t>.md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</a:t>
            </a:r>
            <a:r>
              <a:rPr lang="zh-CN" altLang="en-US"/>
              <a:t>当前实验进度与方法论</a:t>
            </a:r>
            <a:r>
              <a:rPr lang="en-US" altLang="zh-CN"/>
              <a:t>.md</a:t>
            </a:r>
            <a:r>
              <a:rPr lang="zh-CN" altLang="en-US"/>
              <a:t>；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/Benchmark</a:t>
            </a:r>
            <a:r>
              <a:rPr lang="zh-CN" altLang="en-US"/>
              <a:t>与</a:t>
            </a:r>
            <a:r>
              <a:rPr lang="en-US" altLang="zh-CN"/>
              <a:t>Baseline</a:t>
            </a:r>
            <a:r>
              <a:rPr lang="zh-CN" altLang="en-US"/>
              <a:t>统一评价协议</a:t>
            </a:r>
            <a:r>
              <a:rPr lang="en-US" altLang="zh-CN"/>
              <a:t>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950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
MagicBokeh补测：50段×25帧，1024×576，VEPI-public-mp4=0.66962104；PNG诊断=0.66918814；MP4−PNG=+0.00043290。DAVIS原类别ID!=0合并目标（沿用旧口径含ID255），最近邻缩放后采用B最大8连通域、预测PNG8深度中位数最近像素选点。焦点取自身DAdepth选点深度，不取VDA数值；标注只在生成器外辅助一个点，不输入GT mask/alpha。多实例可能选中不同组件，不保证所有实例同焦。K16，原控制公式abs(d-focus)*K/32、0.1阈值、FP16六图块及PIL/AdaIN均不变。预检8段后复用200帧，只补42段；seed=42+25*固定scene索引+帧号。VEPI沿旧Sobel/ROI、H.264 quality8/20fps/yuv420p与先帧均值后视频等权均值；不代表整体虚化质量。只完成量化/程序核验，未新增人工视觉结论或复核组失败发现。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</a:t>
            </a:r>
            <a:r>
              <a:rPr lang="zh-CN" altLang="en-US"/>
              <a:t>当前实验进度与方法论</a:t>
            </a:r>
            <a:r>
              <a:rPr lang="en-US" altLang="zh-CN"/>
              <a:t>.md</a:t>
            </a:r>
            <a:r>
              <a:rPr lang="zh-CN" altLang="en-US"/>
              <a:t>；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/Benchmark</a:t>
            </a:r>
            <a:r>
              <a:rPr lang="zh-CN" altLang="en-US"/>
              <a:t>与</a:t>
            </a:r>
            <a:r>
              <a:rPr lang="en-US" altLang="zh-CN"/>
              <a:t>Baseline</a:t>
            </a:r>
            <a:r>
              <a:rPr lang="zh-CN" altLang="en-US"/>
              <a:t>统一评价协议</a:t>
            </a:r>
            <a:r>
              <a:rPr lang="en-US" altLang="zh-CN"/>
              <a:t>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069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</a:t>
            </a:r>
            <a:r>
              <a:rPr lang="zh-CN" altLang="en-US"/>
              <a:t>当前实验进度与方法论</a:t>
            </a:r>
            <a:r>
              <a:rPr lang="en-US" altLang="zh-CN"/>
              <a:t>.md</a:t>
            </a:r>
            <a:r>
              <a:rPr lang="zh-CN" altLang="en-US"/>
              <a:t>；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/Benchmark</a:t>
            </a:r>
            <a:r>
              <a:rPr lang="zh-CN" altLang="en-US"/>
              <a:t>与</a:t>
            </a:r>
            <a:r>
              <a:rPr lang="en-US" altLang="zh-CN"/>
              <a:t>Baseline</a:t>
            </a:r>
            <a:r>
              <a:rPr lang="zh-CN" altLang="en-US"/>
              <a:t>统一评价协议</a:t>
            </a:r>
            <a:r>
              <a:rPr lang="en-US" altLang="zh-CN"/>
              <a:t>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999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</a:t>
            </a:r>
            <a:r>
              <a:rPr lang="zh-CN" altLang="en-US"/>
              <a:t>当前实验进度与方法论</a:t>
            </a:r>
            <a:r>
              <a:rPr lang="en-US" altLang="zh-CN"/>
              <a:t>.md</a:t>
            </a:r>
            <a:r>
              <a:rPr lang="zh-CN" altLang="en-US"/>
              <a:t>；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/Benchmark</a:t>
            </a:r>
            <a:r>
              <a:rPr lang="zh-CN" altLang="en-US"/>
              <a:t>与</a:t>
            </a:r>
            <a:r>
              <a:rPr lang="en-US" altLang="zh-CN"/>
              <a:t>Baseline</a:t>
            </a:r>
            <a:r>
              <a:rPr lang="zh-CN" altLang="en-US"/>
              <a:t>统一评价协议</a:t>
            </a:r>
            <a:r>
              <a:rPr lang="en-US" altLang="zh-CN"/>
              <a:t>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115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</a:t>
            </a:r>
            <a:r>
              <a:rPr lang="zh-CN" altLang="en-US"/>
              <a:t>当前实验进度与方法论</a:t>
            </a:r>
            <a:r>
              <a:rPr lang="en-US" altLang="zh-CN"/>
              <a:t>.md</a:t>
            </a:r>
            <a:r>
              <a:rPr lang="zh-CN" altLang="en-US"/>
              <a:t>；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/Benchmark</a:t>
            </a:r>
            <a:r>
              <a:rPr lang="zh-CN" altLang="en-US"/>
              <a:t>与</a:t>
            </a:r>
            <a:r>
              <a:rPr lang="en-US" altLang="zh-CN"/>
              <a:t>Baseline</a:t>
            </a:r>
            <a:r>
              <a:rPr lang="zh-CN" altLang="en-US"/>
              <a:t>统一评价协议</a:t>
            </a:r>
            <a:r>
              <a:rPr lang="en-US" altLang="zh-CN"/>
              <a:t>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7720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/records/any2bokeh-encoder-scale1-experiment-4090d-20261008.json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826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本页技术口径、图源与待补事项见同目录《基线更新与ATB分析_1016_讲稿.docx》。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052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本页技术口径、图源与待补事项见同目录《基线更新与ATB分析_1016_讲稿.docx》。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890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本页技术口径、图源与待补事项见同目录《基线更新与ATB分析_1016_讲稿.docx》。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7722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</a:t>
            </a:r>
            <a:r>
              <a:rPr lang="zh-CN" altLang="en-US"/>
              <a:t>当前实验进度与方法论</a:t>
            </a:r>
            <a:r>
              <a:rPr lang="en-US" altLang="zh-CN"/>
              <a:t>.md</a:t>
            </a:r>
            <a:r>
              <a:rPr lang="zh-CN" altLang="en-US"/>
              <a:t>；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/Benchmark</a:t>
            </a:r>
            <a:r>
              <a:rPr lang="zh-CN" altLang="en-US"/>
              <a:t>与</a:t>
            </a:r>
            <a:r>
              <a:rPr lang="en-US" altLang="zh-CN"/>
              <a:t>Baseline</a:t>
            </a:r>
            <a:r>
              <a:rPr lang="zh-CN" altLang="en-US"/>
              <a:t>统一评价协议</a:t>
            </a:r>
            <a:r>
              <a:rPr lang="en-US" altLang="zh-CN"/>
              <a:t>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5172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827FC-13EC-4534-943C-1B6B237D5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D191A6-740D-4559-932B-C68CD38E3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>
            <a:extLst>
              <a:ext uri="{FF2B5EF4-FFF2-40B4-BE49-F238E27FC236}">
                <a16:creationId xmlns:a16="http://schemas.microsoft.com/office/drawing/2014/main" id="{DC92720F-CEDE-462A-9258-2F6F8E4F4E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01FAF7BB-96E7-474F-8E13-2A3F228E59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39F46F67-CF60-41D7-ADA6-BDE73F9616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D75B2-BB23-4948-84C7-EB6CF064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EE921-E731-43F3-8919-D567B38E7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4B3765-C182-4421-8F29-6A9DEAAEBE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729A8-8D35-4E1E-B947-4B029492F6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570143-5261-415B-8113-51EF8007C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13B2D-E8C6-43F5-A859-87472410D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0B62CB-720E-4D14-9DC8-B279D19AF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BC76B-9044-435D-93B4-E983D6D6AD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FBDAA-2CE0-4826-86F9-FC15D559EA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76A62A-7005-4B8A-8635-DC17485313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8C66C-5979-4AA9-943C-8C214502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784C1F-6CFA-4FAE-93E9-F41EB3B62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351BE2-C379-4212-AAB9-07437BE792B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551DC6-0261-4DD5-A68A-10D2D8BE37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1E987A-C040-4F0C-BA48-38851B53EC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488445-9CE9-4801-8575-688F822000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BCE97-C159-4A8D-BB25-D20DBCB4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84D4FE-8F76-4E37-B3D6-25C02F2E4F3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0EEC01-B1DC-4313-8539-F35516E76E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419646-66E0-4D48-AEB8-A9FCE9E4C41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2DFDDD-8310-42F6-8351-27F8F125191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D4EB3D-F163-4969-B497-1252F8D718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107DFD-FD9F-4976-9EF0-B7B55E5907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7F6A92-5D5F-46AE-93BF-527FD6D13D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054DC-D709-49D8-8331-FC6AE8E3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7A751D-BE1B-40DA-9C0F-042E3D798C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AA8944-91D1-428C-A566-F69CEB78A1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B27E16-828F-41B4-BF2C-1667452C21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8F2686-FB7E-462C-9EC7-DDD4CB5E88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9584A8-757F-48B4-AE1D-54A674B727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044F15-89E6-4327-A0C6-90FEB269C3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CE772D-D555-41A5-8F20-149C45C8A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097360-FF83-4663-8485-4CE379645D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F748D8-86DC-47F7-A68F-80B4374969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FD9D74-47D9-4702-A33C-335B63B48DBF}" type="datetimeFigureOut">
              <a:t>2026-10-15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7D1DEA-A29F-4AAD-B7FB-E4FE2D656C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91BC6B-6A01-426B-8DA0-CB9EF19E71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BC47A4-756D-490B-A52F-7D9E2C9FC05F}" type="slidenum">
              <a:t>‹#›</a:t>
            </a:fld>
            <a:endParaRPr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4F4E188D-011B-4DC6-B48C-D4EDBF5E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170318-5361-428D-8A0E-984E39D20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4CB72-AAF1-4918-A7DB-1CFCEE6D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5F2C6F-AC8A-469B-BFD9-FE81950669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EF39F2-BB37-4DF8-9772-A1D5E4B106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B431A0-5D32-4443-8514-CB4FBA2656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7C3940-28EF-4142-B7B8-CB87F29165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386E29-7E6D-4EA5-9C69-93A4C311F3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0BE97B-BDBD-4151-B6AB-215953445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5B87756-BC33-45BC-894F-164D91CFB15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92C23E-7253-44AB-9397-C800533DCB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B64AD8-89D9-43A1-BCEB-C34CB4CAA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6365B8-68FE-4E57-A954-41410FA3B7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204CC8-C14D-4A0B-8988-6EDC2CC99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CE75E29-F427-4503-B2EE-1DAE3AFD39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663FBA5-BDA6-4C8C-B397-D60D211930AE}"/>
              </a:ext>
            </a:extLst>
          </p:cNvPr>
          <p:cNvSpPr>
            <a:spLocks noGrp="1"/>
          </p:cNvSpPr>
          <p:nvPr/>
        </p:nvSpPr>
        <p:spPr>
          <a:xfrm>
            <a:off x="191344" y="737562"/>
            <a:ext cx="11809312" cy="5067699"/>
          </a:xfrm>
          <a:prstGeom prst="rect">
            <a:avLst/>
          </a:prstGeom>
          <a:solidFill>
            <a:srgbClr val="005BAC">
              <a:alpha val="90000"/>
            </a:srgbClr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文本占位符 73">
            <a:extLst>
              <a:ext uri="{FF2B5EF4-FFF2-40B4-BE49-F238E27FC236}">
                <a16:creationId xmlns:a16="http://schemas.microsoft.com/office/drawing/2014/main" id="{1CD044CB-B0D8-448E-B78F-0071202101E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/>
          <a:lstStyle>
            <a:lvl1pPr algn="ctr">
              <a:buNone/>
              <a:defRPr sz="18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5pPr>
          </a:lstStyle>
          <a:p>
            <a:pPr>
              <a:buNone/>
            </a:pPr>
            <a:r>
              <a:t>单击此处编辑</a:t>
            </a:r>
          </a:p>
        </p:txBody>
      </p:sp>
      <p:sp>
        <p:nvSpPr>
          <p:cNvPr id="76" name="标题 75">
            <a:extLst>
              <a:ext uri="{FF2B5EF4-FFF2-40B4-BE49-F238E27FC236}">
                <a16:creationId xmlns:a16="http://schemas.microsoft.com/office/drawing/2014/main" id="{B7CA6298-7645-4B76-9C7B-5900BAC51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867" y="2087714"/>
            <a:ext cx="9144000" cy="677108"/>
          </a:xfrm>
        </p:spPr>
        <p:txBody>
          <a:bodyPr/>
          <a:lstStyle>
            <a:lvl1pPr algn="ctr">
              <a:buNone/>
              <a:defRPr sz="4400" b="1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r>
              <a:t>编辑标题样式</a:t>
            </a:r>
          </a:p>
        </p:txBody>
      </p:sp>
      <p:sp>
        <p:nvSpPr>
          <p:cNvPr id="79" name="文本占位符 78">
            <a:extLst>
              <a:ext uri="{FF2B5EF4-FFF2-40B4-BE49-F238E27FC236}">
                <a16:creationId xmlns:a16="http://schemas.microsoft.com/office/drawing/2014/main" id="{7F7BE5F6-56D0-4E82-B9AB-E1E707A00BB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buNone/>
              <a:defRPr sz="20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电子信息与通信学院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733C61-8216-4B81-8E92-D7C6839AC68A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42FAE4-9786-4A46-BDEF-71076D530B5A}"/>
              </a:ext>
            </a:extLst>
          </p:cNvPr>
          <p:cNvSpPr>
            <a:spLocks noGrp="1"/>
          </p:cNvSpPr>
          <p:nvPr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4C046B-35ED-4F4B-B0F4-433B6A3B0A6C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3A01FF-2F41-4BDE-96CD-D24A509B8DE8}"/>
              </a:ext>
            </a:extLst>
          </p:cNvPr>
          <p:cNvSpPr>
            <a:spLocks noGrp="1"/>
          </p:cNvSpPr>
          <p:nvPr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4" name="直接连接符 23"/>
          <p:cNvCxnSpPr>
            <a:stCxn id="14" idx="2"/>
            <a:endCxn id="15" idx="2"/>
          </p:cNvCxnSpPr>
          <p:nvPr/>
        </p:nvCxnSpPr>
        <p:spPr>
          <a:xfrm>
            <a:off x="455647" y="652498"/>
            <a:ext cx="11280706" cy="0"/>
          </a:xfrm>
          <a:prstGeom prst="line">
            <a:avLst/>
          </a:prstGeom>
          <a:ln w="6350" cap="flat">
            <a:solidFill>
              <a:srgbClr val="005BAD"/>
            </a:solidFill>
            <a:prstDash val="solid"/>
            <a:miter/>
          </a:ln>
        </p:spPr>
      </p:cxnSp>
      <p:pic>
        <p:nvPicPr>
          <p:cNvPr id="30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193" y="5877272"/>
            <a:ext cx="1203613" cy="914400"/>
          </a:xfrm>
          <a:prstGeom prst="rect">
            <a:avLst/>
          </a:prstGeom>
        </p:spPr>
      </p:pic>
      <p:sp>
        <p:nvSpPr>
          <p:cNvPr id="21" name="页脚占位符 136">
            <a:extLst>
              <a:ext uri="{FF2B5EF4-FFF2-40B4-BE49-F238E27FC236}">
                <a16:creationId xmlns:a16="http://schemas.microsoft.com/office/drawing/2014/main" id="{8B54C9D5-2C73-4D6E-90F9-33F606667DC9}"/>
              </a:ext>
            </a:extLst>
          </p:cNvPr>
          <p:cNvSpPr>
            <a:spLocks noGrp="1"/>
          </p:cNvSpPr>
          <p:nvPr/>
        </p:nvSpPr>
        <p:spPr>
          <a:xfrm>
            <a:off x="2895600" y="284390"/>
            <a:ext cx="6400800" cy="364987"/>
          </a:xfrm>
          <a:prstGeom prst="rect">
            <a:avLst/>
          </a:prstGeom>
        </p:spPr>
        <p:txBody>
          <a:bodyPr vert="horz" wrap="none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400">
                <a:solidFill>
                  <a:srgbClr val="005BAC"/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25" name="文本占位符 78">
            <a:extLst>
              <a:ext uri="{FF2B5EF4-FFF2-40B4-BE49-F238E27FC236}">
                <a16:creationId xmlns:a16="http://schemas.microsoft.com/office/drawing/2014/main" id="{A3195E40-966D-4383-8765-FC401833B07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编辑副标题</a:t>
            </a:r>
          </a:p>
        </p:txBody>
      </p:sp>
      <p:sp>
        <p:nvSpPr>
          <p:cNvPr id="26" name="文本占位符 78">
            <a:extLst>
              <a:ext uri="{FF2B5EF4-FFF2-40B4-BE49-F238E27FC236}">
                <a16:creationId xmlns:a16="http://schemas.microsoft.com/office/drawing/2014/main" id="{FC7891A1-B4C6-46BD-A955-71C3D974ABE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xxx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>
            <a:extLst>
              <a:ext uri="{FF2B5EF4-FFF2-40B4-BE49-F238E27FC236}">
                <a16:creationId xmlns:a16="http://schemas.microsoft.com/office/drawing/2014/main" id="{960A2AB8-24E5-402F-BD05-4E4F7773E26C}"/>
              </a:ext>
            </a:extLst>
          </p:cNvPr>
          <p:cNvSpPr>
            <a:spLocks noGrp="1"/>
          </p:cNvSpPr>
          <p:nvPr/>
        </p:nvSpPr>
        <p:spPr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White markers indicate position of  Drawing Guides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816D9D75-5ED9-438D-BAFB-60E52F4EEC7C}"/>
              </a:ext>
            </a:extLst>
          </p:cNvPr>
          <p:cNvSpPr>
            <a:spLocks noGrp="1"/>
          </p:cNvSpPr>
          <p:nvPr/>
        </p:nvSpPr>
        <p:spPr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7.40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2.91 Inches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C72E5887-D42D-4561-8490-9D84415B44D5}"/>
              </a:ext>
            </a:extLst>
          </p:cNvPr>
          <p:cNvSpPr>
            <a:spLocks noGrp="1"/>
          </p:cNvSpPr>
          <p:nvPr/>
        </p:nvSpPr>
        <p:spPr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2.36 Inches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280CC5A8-EF79-4781-8053-815653A129D1}"/>
              </a:ext>
            </a:extLst>
          </p:cNvPr>
          <p:cNvSpPr>
            <a:spLocks noGrp="1"/>
          </p:cNvSpPr>
          <p:nvPr/>
        </p:nvSpPr>
        <p:spPr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3.15 Inches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C356099A-FA8D-405D-8BCC-EDFB94BFD4DC}"/>
              </a:ext>
            </a:extLst>
          </p:cNvPr>
          <p:cNvSpPr>
            <a:spLocks noGrp="1"/>
          </p:cNvSpPr>
          <p:nvPr/>
        </p:nvSpPr>
        <p:spPr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11.70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4.61 inches</a:t>
            </a: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BB9E398F-52CB-4C46-8B02-3DE0A6B13E08}"/>
              </a:ext>
            </a:extLst>
          </p:cNvPr>
          <p:cNvSpPr>
            <a:spLocks noGrp="1"/>
          </p:cNvSpPr>
          <p:nvPr/>
        </p:nvSpPr>
        <p:spPr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0.2 inches 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B47805AC-2EF0-441C-97BB-E71FEE2AC1F2}"/>
              </a:ext>
            </a:extLst>
          </p:cNvPr>
          <p:cNvSpPr>
            <a:spLocks noGrp="1"/>
          </p:cNvSpPr>
          <p:nvPr/>
        </p:nvSpPr>
        <p:spPr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Char char="ß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0.2 inches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FAE8641A-FC9E-470B-9C29-AE3021BF1275}"/>
              </a:ext>
            </a:extLst>
          </p:cNvPr>
          <p:cNvSpPr>
            <a:spLocks noGrp="1"/>
          </p:cNvSpPr>
          <p:nvPr/>
        </p:nvSpPr>
        <p:spPr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11.70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4.61 inches </a:t>
            </a:r>
          </a:p>
        </p:txBody>
      </p:sp>
      <p:cxnSp>
        <p:nvCxnSpPr>
          <p:cNvPr id="479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>
            <a:extLst>
              <a:ext uri="{FF2B5EF4-FFF2-40B4-BE49-F238E27FC236}">
                <a16:creationId xmlns:a16="http://schemas.microsoft.com/office/drawing/2014/main" id="{4CD9ABC4-8223-4F02-ACB0-D63D0B95EECF}"/>
              </a:ext>
            </a:extLst>
          </p:cNvPr>
          <p:cNvSpPr>
            <a:spLocks noGrp="1"/>
          </p:cNvSpPr>
          <p:nvPr/>
        </p:nvSpPr>
        <p:spPr>
          <a:xfrm>
            <a:off x="-2055284" y="0"/>
            <a:ext cx="1871133" cy="692497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>
            <a:spAutoFit/>
          </a:bodyPr>
          <a:lstStyle/>
          <a:p>
            <a:pPr>
              <a:buNone/>
            </a:pPr>
            <a:r>
              <a:rPr sz="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 view  drawing guides:</a:t>
            </a:r>
          </a:p>
          <a:p>
            <a:pPr>
              <a:buNone/>
            </a:pPr>
            <a:endParaRPr sz="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Right-click on slide and select ’Grid and Guides...’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Check ’Display drawing guides on screen’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Select ’OK’</a:t>
            </a:r>
          </a:p>
        </p:txBody>
      </p:sp>
      <p:sp>
        <p:nvSpPr>
          <p:cNvPr id="64" name="内容占位符 3">
            <a:extLst>
              <a:ext uri="{FF2B5EF4-FFF2-40B4-BE49-F238E27FC236}">
                <a16:creationId xmlns:a16="http://schemas.microsoft.com/office/drawing/2014/main" id="{D7011FCB-A859-4BFD-83F2-0660B72F7BA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77838" y="1066523"/>
            <a:ext cx="11231562" cy="5317329"/>
          </a:xfrm>
        </p:spPr>
        <p:txBody>
          <a:bodyPr vert="horz" lIns="91440" tIns="45720" rIns="91440" bIns="45720">
            <a:normAutofit/>
          </a:bodyPr>
          <a:lstStyle>
            <a:lvl1pPr marL="0" indent="0" algn="l">
              <a:lnSpc>
                <a:spcPct val="150000"/>
              </a:lnSpc>
              <a:spcBef>
                <a:spcPts val="15"/>
              </a:spcBef>
              <a:buNone/>
              <a:defRPr sz="20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marL="179705" indent="-179705" algn="l">
              <a:lnSpc>
                <a:spcPct val="150000"/>
              </a:lnSpc>
              <a:spcBef>
                <a:spcPts val="400"/>
              </a:spcBef>
              <a:buChar char="n"/>
              <a:defRPr sz="18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marL="358775" indent="-179705" algn="l">
              <a:lnSpc>
                <a:spcPct val="150000"/>
              </a:lnSpc>
              <a:spcBef>
                <a:spcPts val="400"/>
              </a:spcBef>
              <a:buChar char="n"/>
              <a:defRPr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marL="539750" indent="-179705" algn="l">
              <a:lnSpc>
                <a:spcPct val="150000"/>
              </a:lnSpc>
              <a:spcBef>
                <a:spcPts val="400"/>
              </a:spcBef>
              <a:buChar char="n"/>
              <a:defRPr sz="14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marL="2114550" indent="-285750">
              <a:buChar char="n"/>
              <a:defRPr sz="1400" b="0" i="0">
                <a:solidFill>
                  <a:schemeClr val="tx2"/>
                </a:solidFill>
                <a:latin typeface="等线"/>
                <a:ea typeface="等线"/>
                <a:cs typeface="等线"/>
              </a:defRPr>
            </a:lvl5pPr>
          </a:lstStyle>
          <a:p>
            <a:pPr marL="0" indent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单击此处编辑母版文本样式</a:t>
            </a:r>
          </a:p>
          <a:p>
            <a:pPr marL="17970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第二级</a:t>
            </a:r>
          </a:p>
          <a:p>
            <a:pPr marL="35877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第三级</a:t>
            </a:r>
          </a:p>
          <a:p>
            <a:pPr marL="539750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第四级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06F666D-3D77-45CE-9E36-7D43AAB1AFBF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A9F9444-981D-482B-B1B1-E6B8B90BD969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日期占位符 135">
            <a:extLst>
              <a:ext uri="{FF2B5EF4-FFF2-40B4-BE49-F238E27FC236}">
                <a16:creationId xmlns:a16="http://schemas.microsoft.com/office/drawing/2014/main" id="{AEAC94EA-4735-4835-8D0B-6AF5E5DBC1BE}"/>
              </a:ext>
            </a:extLst>
          </p:cNvPr>
          <p:cNvSpPr>
            <a:spLocks noGrp="1"/>
          </p:cNvSpPr>
          <p:nvPr/>
        </p:nvSpPr>
        <p:spPr>
          <a:xfrm>
            <a:off x="9048328" y="6555494"/>
            <a:ext cx="2883976" cy="267573"/>
          </a:xfrm>
          <a:prstGeom prst="rect">
            <a:avLst/>
          </a:prstGeom>
        </p:spPr>
        <p:txBody>
          <a:bodyPr anchor="ctr"/>
          <a:lstStyle>
            <a:lvl1pPr marL="0" algn="r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华中科技大学电子信息与通信学院</a:t>
            </a:r>
          </a:p>
        </p:txBody>
      </p:sp>
      <p:sp>
        <p:nvSpPr>
          <p:cNvPr id="60" name="页脚占位符 136">
            <a:extLst>
              <a:ext uri="{FF2B5EF4-FFF2-40B4-BE49-F238E27FC236}">
                <a16:creationId xmlns:a16="http://schemas.microsoft.com/office/drawing/2014/main" id="{0E878418-DF82-4DAF-B41B-267BBB6CF5A0}"/>
              </a:ext>
            </a:extLst>
          </p:cNvPr>
          <p:cNvSpPr>
            <a:spLocks noGrp="1"/>
          </p:cNvSpPr>
          <p:nvPr/>
        </p:nvSpPr>
        <p:spPr>
          <a:xfrm>
            <a:off x="187688" y="6552438"/>
            <a:ext cx="2880000" cy="27368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61" name="Slide Number Placeholder 5">
            <a:extLst>
              <a:ext uri="{FF2B5EF4-FFF2-40B4-BE49-F238E27FC236}">
                <a16:creationId xmlns:a16="http://schemas.microsoft.com/office/drawing/2014/main" id="{17029273-9C77-40E6-9DCD-4AEAEAF594B8}"/>
              </a:ext>
            </a:extLst>
          </p:cNvPr>
          <p:cNvSpPr>
            <a:spLocks noGrp="1"/>
          </p:cNvSpPr>
          <p:nvPr/>
        </p:nvSpPr>
        <p:spPr>
          <a:xfrm>
            <a:off x="5853936" y="6626574"/>
            <a:ext cx="480484" cy="125413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73DA0BB7-265A-403C-9275-D587AB510EDC}" type="slidenum">
              <a:rPr b="0"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‹#›</a:t>
            </a:fld>
            <a:endParaRPr b="0">
              <a:solidFill>
                <a:srgbClr val="005BAD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直接连接符 23">
            <a:extLst>
              <a:ext uri="{FF2B5EF4-FFF2-40B4-BE49-F238E27FC236}">
                <a16:creationId xmlns:a16="http://schemas.microsoft.com/office/drawing/2014/main" id="{E253B85C-8C1F-412F-9C7F-095F739F2DB1}"/>
              </a:ext>
            </a:extLst>
          </p:cNvPr>
          <p:cNvSpPr>
            <a:spLocks noGrp="1"/>
          </p:cNvSpPr>
          <p:nvPr/>
        </p:nvSpPr>
        <p:spPr>
          <a:xfrm>
            <a:off x="0" y="908720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80000"/>
              </a:srgbClr>
            </a:solidFill>
            <a:prstDash val="solid"/>
          </a:ln>
        </p:spPr>
      </p:sp>
      <p:sp>
        <p:nvSpPr>
          <p:cNvPr id="63" name="直接连接符 23">
            <a:extLst>
              <a:ext uri="{FF2B5EF4-FFF2-40B4-BE49-F238E27FC236}">
                <a16:creationId xmlns:a16="http://schemas.microsoft.com/office/drawing/2014/main" id="{BD997483-1081-451E-8214-A9CE4E2AC154}"/>
              </a:ext>
            </a:extLst>
          </p:cNvPr>
          <p:cNvSpPr>
            <a:spLocks noGrp="1"/>
          </p:cNvSpPr>
          <p:nvPr/>
        </p:nvSpPr>
        <p:spPr>
          <a:xfrm>
            <a:off x="-2381" y="6512981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75000"/>
              </a:srgbClr>
            </a:solidFill>
            <a:prstDash val="solid"/>
          </a:ln>
        </p:spPr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2F6DEA72-91AD-4351-9CAD-117F5BDD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430887"/>
          </a:xfrm>
        </p:spPr>
        <p:txBody>
          <a:bodyPr lIns="108000"/>
          <a:lstStyle>
            <a:lvl1pPr>
              <a:buNone/>
              <a:defRPr sz="28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492" name="HUST Soli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279400"/>
            <a:ext cx="952500" cy="59482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F185F6-9137-4DFB-B797-3A9101BB7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3E79E5-3F5F-4ED2-8393-FB980B24A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E5CCB-59CA-4982-9F85-C811B6D1BA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843F2-921C-4A04-A4B2-C0C698A3A29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F50A50-05BE-4F64-9B56-8F57DD8A58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>
        <a:lnSpc>
          <a:spcPct val="100000"/>
        </a:lnSpc>
        <a:buNone/>
        <a:defRPr sz="3600" b="0" u="non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130000"/>
        </a:lnSpc>
        <a:spcBef>
          <a:spcPts val="0"/>
        </a:spcBef>
        <a:spcAft>
          <a:spcPts val="1000"/>
        </a:spcAft>
        <a:buChar char="●"/>
        <a:defRPr sz="18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>
        <a:lnSpc>
          <a:spcPct val="120000"/>
        </a:lnSpc>
        <a:spcBef>
          <a:spcPts val="0"/>
        </a:spcBef>
        <a:spcAft>
          <a:spcPts val="300"/>
        </a:spcAft>
        <a:buChar char="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>
        <a:lnSpc>
          <a:spcPct val="120000"/>
        </a:lnSpc>
        <a:spcBef>
          <a:spcPts val="0"/>
        </a:spcBef>
        <a:spcAft>
          <a:spcPts val="300"/>
        </a:spcAft>
        <a:buChar char="•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">
            <a:extLst>
              <a:ext uri="{FF2B5EF4-FFF2-40B4-BE49-F238E27FC236}">
                <a16:creationId xmlns:a16="http://schemas.microsoft.com/office/drawing/2014/main" id="{34FCF1B0-383E-411C-AC5A-4680BA8F2732}"/>
              </a:ext>
            </a:extLst>
          </p:cNvPr>
          <p:cNvSpPr>
            <a:spLocks noGrp="1"/>
          </p:cNvSpPr>
          <p:nvPr/>
        </p:nvSpPr>
        <p:spPr>
          <a:xfrm>
            <a:off x="1524000" y="1764030"/>
            <a:ext cx="9144000" cy="19595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0202" tIns="46958" rIns="90202" bIns="46958" anchor="ctr">
            <a:noAutofit/>
          </a:bodyPr>
          <a:lstStyle/>
          <a:p>
            <a:pPr algn="ctr">
              <a:buNone/>
            </a:pP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视频虚化：基线更新</a:t>
            </a:r>
          </a:p>
          <a:p>
            <a:pPr algn="ctr">
              <a:buNone/>
            </a:pPr>
            <a:r>
              <a:rPr lang="en-US" altLang="zh-CN" sz="3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ATB </a:t>
            </a: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效率优化与案例分析</a:t>
            </a:r>
          </a:p>
        </p:txBody>
      </p:sp>
      <p:sp>
        <p:nvSpPr>
          <p:cNvPr id="2" name="cover-subtitle">
            <a:extLst>
              <a:ext uri="{FF2B5EF4-FFF2-40B4-BE49-F238E27FC236}">
                <a16:creationId xmlns:a16="http://schemas.microsoft.com/office/drawing/2014/main" id="{9E702C5D-B811-466D-87B9-4469F8E55496}"/>
              </a:ext>
            </a:extLst>
          </p:cNvPr>
          <p:cNvSpPr>
            <a:spLocks noGrp="1"/>
          </p:cNvSpPr>
          <p:nvPr/>
        </p:nvSpPr>
        <p:spPr>
          <a:xfrm>
            <a:off x="3335655" y="4516088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4874CB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3" name="cover-line">
            <a:extLst>
              <a:ext uri="{FF2B5EF4-FFF2-40B4-BE49-F238E27FC236}">
                <a16:creationId xmlns:a16="http://schemas.microsoft.com/office/drawing/2014/main" id="{156E7023-1426-46F1-88A1-85B75EFCF0E6}"/>
              </a:ext>
            </a:extLst>
          </p:cNvPr>
          <p:cNvSpPr>
            <a:spLocks noGrp="1"/>
          </p:cNvSpPr>
          <p:nvPr/>
        </p:nvSpPr>
        <p:spPr>
          <a:xfrm>
            <a:off x="3159728" y="4580287"/>
            <a:ext cx="2531078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0011" tIns="46768" rIns="90011" bIns="46768" anchor="ctr">
            <a:normAutofit/>
          </a:bodyPr>
          <a:lstStyle/>
          <a:p>
            <a:pPr algn="ctr">
              <a:buNone/>
              <a:defRPr sz="200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汇报人：孟辰洋</a:t>
            </a:r>
          </a:p>
        </p:txBody>
      </p:sp>
      <p:sp>
        <p:nvSpPr>
          <p:cNvPr id="4" name="cover-meta">
            <a:extLst>
              <a:ext uri="{FF2B5EF4-FFF2-40B4-BE49-F238E27FC236}">
                <a16:creationId xmlns:a16="http://schemas.microsoft.com/office/drawing/2014/main" id="{A9B675D7-E24D-45A9-A92F-1E365CD38FDE}"/>
              </a:ext>
            </a:extLst>
          </p:cNvPr>
          <p:cNvSpPr>
            <a:spLocks noGrp="1"/>
          </p:cNvSpPr>
          <p:nvPr/>
        </p:nvSpPr>
        <p:spPr>
          <a:xfrm>
            <a:off x="6307455" y="4516088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4874CB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D9ECFA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5" name="cover-date">
            <a:extLst>
              <a:ext uri="{FF2B5EF4-FFF2-40B4-BE49-F238E27FC236}">
                <a16:creationId xmlns:a16="http://schemas.microsoft.com/office/drawing/2014/main" id="{B30BD35B-0B78-4147-8308-E7DBA3CFAF23}"/>
              </a:ext>
            </a:extLst>
          </p:cNvPr>
          <p:cNvSpPr>
            <a:spLocks noGrp="1"/>
          </p:cNvSpPr>
          <p:nvPr/>
        </p:nvSpPr>
        <p:spPr>
          <a:xfrm>
            <a:off x="6131528" y="4580287"/>
            <a:ext cx="2531078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tIns="45720" rIns="91440" bIns="4572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800" b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2026.10.16</a:t>
            </a:r>
            <a:endParaRPr lang="zh-CN" altLang="en-US" sz="1800" b="0">
              <a:solidFill>
                <a:srgbClr val="4874C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5849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合成数据定量结果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71572"/>
              </p:ext>
            </p:extLst>
          </p:nvPr>
        </p:nvGraphicFramePr>
        <p:xfrm>
          <a:off x="868680" y="1485900"/>
          <a:ext cx="10332720" cy="4191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  <a:endParaRPr sz="1700" b="1">
                        <a:solidFill>
                          <a:srgbClr val="FFFFFF"/>
                        </a:solidFill>
                        <a:latin typeface="Arial"/>
                        <a:ea typeface="Microsoft YaHei"/>
                      </a:endParaRP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PSNR ↑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SSIM ↑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LPIPS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FVD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FD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RM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DeepLens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28.17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0.944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0.063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40.12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0.583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0.0124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  <a:p>
                      <a:pPr algn="ctr"/>
                      <a:r>
                        <a:rPr lang="en-US"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GT Alpha</a:t>
                      </a:r>
                      <a:endParaRPr sz="1500" b="1">
                        <a:solidFill>
                          <a:srgbClr val="101F37"/>
                        </a:solidFill>
                        <a:latin typeface="Arial"/>
                        <a:ea typeface="Microsoft YaHe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0.973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25.86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0.479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0.0084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33.33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0.979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0.025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18.55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0.540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0.0074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31.62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24.96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27.06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0.844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0.132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66.00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0.802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0.0216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39.71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8.94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0.445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MagicBokeh</a:t>
                      </a:r>
                    </a:p>
                    <a:p>
                      <a:pPr algn="ctr"/>
                      <a:r>
                        <a:rPr lang="en-US" altLang="zh-CN"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GT</a:t>
                      </a:r>
                      <a:r>
                        <a:rPr lang="zh-CN" altLang="en-US"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区域辅助选焦</a:t>
                      </a:r>
                      <a:endParaRPr sz="1500" b="1">
                        <a:solidFill>
                          <a:srgbClr val="101F37"/>
                        </a:solidFill>
                        <a:latin typeface="Arial"/>
                        <a:ea typeface="Microsoft YaHei"/>
                      </a:endParaRP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25.12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0.800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0.198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97.79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0.871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0.0268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真实视频主体边缘保留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609854"/>
              </p:ext>
            </p:extLst>
          </p:nvPr>
        </p:nvGraphicFramePr>
        <p:xfrm>
          <a:off x="1737360" y="1645920"/>
          <a:ext cx="8595360" cy="402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59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6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VEPI ↑</a:t>
                      </a:r>
                      <a:endParaRPr sz="1700" b="1">
                        <a:solidFill>
                          <a:srgbClr val="FFFFFF"/>
                        </a:solidFill>
                        <a:latin typeface="Arial"/>
                        <a:ea typeface="Microsoft YaHei"/>
                      </a:endParaRP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DeepLens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0.929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0.847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MagicBokeh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0.670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0.950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模型计算成本</a:t>
            </a: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914400" y="1645920"/>
          <a:ext cx="10241280" cy="3520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时间 (s/输出帧)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参数量 (M)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峰值显存 (GiB)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0.342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50.98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2.63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0.236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41.53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2.18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3493.43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17.57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MagicBokeh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1.269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1398.55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5.13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2457.81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42.14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给定输入下的视频处理效率</a:t>
            </a: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241527"/>
              </p:ext>
            </p:extLst>
          </p:nvPr>
        </p:nvGraphicFramePr>
        <p:xfrm>
          <a:off x="914400" y="1645920"/>
          <a:ext cx="10241280" cy="37886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设备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Core (s/25帧)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E2E (s/25帧) ↓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FPS ↑</a:t>
                      </a: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显存 </a:t>
                      </a: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/ </a:t>
                      </a: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内存</a:t>
                      </a:r>
                    </a:p>
                    <a:p>
                      <a:pPr algn="ctr"/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(</a:t>
                      </a:r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GiB) ↓</a:t>
                      </a:r>
                      <a:endParaRPr sz="1600" b="1">
                        <a:solidFill>
                          <a:srgbClr val="FFFFFF"/>
                        </a:solidFill>
                        <a:latin typeface="Arial"/>
                        <a:ea typeface="Microsoft YaHei"/>
                      </a:endParaRPr>
                    </a:p>
                  </a:txBody>
                  <a:tcPr marL="45720" marR="45720" marT="18288" marB="18288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DeepLens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CPU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46.733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48.789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0.512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1.52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GPU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8.584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21.789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1.147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GPU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0.293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1.139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21.953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0.75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GPU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5.956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7.536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3.317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GPU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23.151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23.957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1.044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17.57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lang="en-US" sz="19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MagicBokeh</a:t>
                      </a:r>
                      <a:endParaRPr sz="1900" b="1">
                        <a:solidFill>
                          <a:srgbClr val="101F37"/>
                        </a:solidFill>
                        <a:latin typeface="Arial"/>
                        <a:ea typeface="Microsoft YaHe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GPU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32.571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36.570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0.684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6.79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GPU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20.113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21.860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1.144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42.14</a:t>
                      </a:r>
                    </a:p>
                  </a:txBody>
                  <a:tcPr marL="45720" marR="45720" marT="18288" marB="18288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ATB 用时集中在编码与解码</a:t>
            </a: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00" name="Updated note 100"/>
          <p:cNvSpPr txBox="1"/>
          <p:nvPr/>
        </p:nvSpPr>
        <p:spPr>
          <a:xfrm>
            <a:off x="914400" y="5382111"/>
            <a:ext cx="10241280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zh-CN" sz="2300" b="0">
                <a:solidFill>
                  <a:srgbClr val="101F37"/>
                </a:solidFill>
                <a:latin typeface="Arial"/>
                <a:ea typeface="Microsoft YaHei"/>
              </a:rPr>
              <a:t>VAE </a:t>
            </a:r>
            <a:r>
              <a:rPr lang="zh-CN" altLang="en-US" sz="2300" b="0">
                <a:solidFill>
                  <a:srgbClr val="101F37"/>
                </a:solidFill>
                <a:latin typeface="Arial"/>
                <a:ea typeface="Microsoft YaHei"/>
              </a:rPr>
              <a:t>相关阶段占总耗时的 </a:t>
            </a:r>
            <a:r>
              <a:rPr lang="en-US" altLang="zh-CN" sz="2300" b="0">
                <a:solidFill>
                  <a:srgbClr val="101F37"/>
                </a:solidFill>
                <a:latin typeface="Arial"/>
                <a:ea typeface="Microsoft YaHei"/>
              </a:rPr>
              <a:t>80.36%</a:t>
            </a:r>
            <a:endParaRPr sz="2300" b="0">
              <a:solidFill>
                <a:srgbClr val="101F37"/>
              </a:solidFill>
              <a:latin typeface="Arial"/>
              <a:ea typeface="Microsoft YaHei"/>
            </a:endParaRPr>
          </a:p>
        </p:txBody>
      </p:sp>
      <p:graphicFrame>
        <p:nvGraphicFramePr>
          <p:cNvPr id="102" name="Table 101"/>
          <p:cNvGraphicFramePr>
            <a:graphicFrameLocks noGrp="1"/>
          </p:cNvGraphicFramePr>
          <p:nvPr/>
        </p:nvGraphicFramePr>
        <p:xfrm>
          <a:off x="914400" y="1645920"/>
          <a:ext cx="10241280" cy="30358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阶段</a:t>
                      </a:r>
                    </a:p>
                  </a:txBody>
                  <a:tcPr marL="45720" marR="4572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耗时 (s/25帧)</a:t>
                      </a:r>
                    </a:p>
                  </a:txBody>
                  <a:tcPr marL="45720" marR="4572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时间占比</a:t>
                      </a:r>
                    </a:p>
                  </a:txBody>
                  <a:tcPr marL="45720" marR="4572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allocated峰值 (GiB)</a:t>
                      </a:r>
                    </a:p>
                  </a:txBody>
                  <a:tcPr marL="45720" marR="45720" marT="9144" marB="9144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CLIP 图像编码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0.79%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11.92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RGB VAE 编码与缓存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4.581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22.71%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34.29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CoC VAE 编码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3.787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18.78%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34.29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UNet 时空条件处理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3.742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18.55%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14.39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重叠拼接与时序解码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7.841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38.87%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29.65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未归入上述阶段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0.059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0.29%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完整带插桩 Core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20.171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34.29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 dirty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优化冗余计算</a:t>
            </a: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631132"/>
              </p:ext>
            </p:extLst>
          </p:nvPr>
        </p:nvGraphicFramePr>
        <p:xfrm>
          <a:off x="914400" y="2476500"/>
          <a:ext cx="10241280" cy="17907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指标</a:t>
                      </a:r>
                    </a:p>
                  </a:txBody>
                  <a:tcPr marL="45720" marR="4572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原版</a:t>
                      </a:r>
                    </a:p>
                  </a:txBody>
                  <a:tcPr marL="45720" marR="4572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优化后</a:t>
                      </a:r>
                      <a:endParaRPr sz="1500" b="1">
                        <a:solidFill>
                          <a:srgbClr val="FFFFFF"/>
                        </a:solidFill>
                        <a:latin typeface="Arial"/>
                        <a:ea typeface="Microsoft YaHei"/>
                      </a:endParaRPr>
                    </a:p>
                  </a:txBody>
                  <a:tcPr marL="45720" marR="45720" marT="9144" marB="9144" anchor="ctr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变化</a:t>
                      </a:r>
                    </a:p>
                  </a:txBody>
                  <a:tcPr marL="45720" marR="45720" marT="9144" marB="9144" anchor="ctr">
                    <a:solidFill>
                      <a:srgbClr val="0D5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25</a:t>
                      </a:r>
                      <a:r>
                        <a:rPr lang="zh-CN" altLang="en-US"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帧模型耗时 </a:t>
                      </a:r>
                      <a:r>
                        <a:rPr lang="en-US" altLang="zh-CN"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(</a:t>
                      </a:r>
                      <a:r>
                        <a:rPr lang="en-US"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s)</a:t>
                      </a:r>
                      <a:endParaRPr sz="1500" b="1">
                        <a:solidFill>
                          <a:srgbClr val="101F37"/>
                        </a:solidFill>
                        <a:latin typeface="Arial"/>
                        <a:ea typeface="Microsoft YaHei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20.273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20.049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−1.10%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设备峰值显存 </a:t>
                      </a:r>
                      <a:r>
                        <a:rPr lang="en-US" altLang="zh-CN" sz="15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(GiB)</a:t>
                      </a:r>
                      <a:endParaRPr sz="1500" b="1">
                        <a:solidFill>
                          <a:srgbClr val="101F37"/>
                        </a:solidFill>
                        <a:latin typeface="Arial"/>
                        <a:ea typeface="Microsoft YaHei"/>
                      </a:endParaRP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42.116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37.616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−10.68%</a:t>
                      </a:r>
                    </a:p>
                  </a:txBody>
                  <a:tcPr marL="45720" marR="45720" marT="9144" marB="9144" anchor="ctr"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4763C70D-8BD7-B250-2CA9-4AFF6469581A}"/>
              </a:ext>
            </a:extLst>
          </p:cNvPr>
          <p:cNvSpPr txBox="1"/>
          <p:nvPr/>
        </p:nvSpPr>
        <p:spPr>
          <a:xfrm>
            <a:off x="914400" y="4673600"/>
            <a:ext cx="10236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01F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设备峰值显存减少 </a:t>
            </a:r>
            <a:r>
              <a:rPr lang="en-US" altLang="zh-CN" sz="2500" b="1">
                <a:solidFill>
                  <a:srgbClr val="101F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4.50 GiB</a:t>
            </a:r>
            <a:endParaRPr lang="zh-CN" altLang="en-US" sz="2500" b="1">
              <a:solidFill>
                <a:srgbClr val="101F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5BECF9-5D7B-3654-F488-A3973CB83013}"/>
              </a:ext>
            </a:extLst>
          </p:cNvPr>
          <p:cNvSpPr txBox="1"/>
          <p:nvPr/>
        </p:nvSpPr>
        <p:spPr>
          <a:xfrm>
            <a:off x="1390389" y="1295400"/>
            <a:ext cx="102362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300" dirty="0">
                <a:solidFill>
                  <a:srgbClr val="0D569A"/>
                </a:solidFill>
                <a:latin typeface="Microsoft YaHei" panose="020B0503020204020204" pitchFamily="34" charset="-122"/>
              </a:rPr>
              <a:t>(</a:t>
            </a:r>
            <a:r>
              <a:rPr lang="zh-CN" altLang="en-US" sz="2300" dirty="0">
                <a:solidFill>
                  <a:srgbClr val="0D569A"/>
                </a:solidFill>
                <a:latin typeface="Microsoft YaHei" panose="020B0503020204020204" pitchFamily="34" charset="-122"/>
              </a:rPr>
              <a:t>残差 </a:t>
            </a:r>
            <a:r>
              <a:rPr lang="en-US" altLang="zh-CN" sz="2300" dirty="0">
                <a:solidFill>
                  <a:srgbClr val="0D569A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2300" dirty="0">
                <a:solidFill>
                  <a:srgbClr val="0D569A"/>
                </a:solidFill>
                <a:latin typeface="Microsoft YaHei" panose="020B0503020204020204" pitchFamily="34" charset="-122"/>
              </a:rPr>
              <a:t>分支输出</a:t>
            </a:r>
            <a:r>
              <a:rPr lang="en-US" altLang="zh-CN" sz="2300" dirty="0">
                <a:solidFill>
                  <a:srgbClr val="0D569A"/>
                </a:solidFill>
                <a:latin typeface="Microsoft YaHei" panose="020B0503020204020204" pitchFamily="34" charset="-122"/>
              </a:rPr>
              <a:t>) ÷ 1    →    </a:t>
            </a:r>
            <a:r>
              <a:rPr lang="zh-CN" altLang="en-US" sz="2300" dirty="0">
                <a:solidFill>
                  <a:srgbClr val="0D569A"/>
                </a:solidFill>
                <a:latin typeface="Microsoft YaHei" panose="020B0503020204020204" pitchFamily="34" charset="-122"/>
              </a:rPr>
              <a:t>残差 </a:t>
            </a:r>
            <a:r>
              <a:rPr lang="en-US" altLang="zh-CN" sz="2300" dirty="0">
                <a:solidFill>
                  <a:srgbClr val="0D569A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2300" dirty="0">
                <a:solidFill>
                  <a:srgbClr val="0D569A"/>
                </a:solidFill>
                <a:latin typeface="Microsoft YaHei" panose="020B0503020204020204" pitchFamily="34" charset="-122"/>
              </a:rPr>
              <a:t>分支输出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同一段细绳，后面变得更模糊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F853E4E-998A-5842-DE16-43C13404A7B4}"/>
              </a:ext>
            </a:extLst>
          </p:cNvPr>
          <p:cNvGraphicFramePr/>
          <p:nvPr/>
        </p:nvGraphicFramePr>
        <p:xfrm>
          <a:off x="914400" y="4124325"/>
          <a:ext cx="10287000" cy="175260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05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第1帧输入虚化强度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05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第22帧输入虚化强度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057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位置1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0.708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位置2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1.022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位置4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1.398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914400" y="987552"/>
            <a:ext cx="4937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>
                <a:solidFill>
                  <a:srgbClr val="173657"/>
                </a:solidFill>
                <a:latin typeface="Microsoft YaHei"/>
              </a:rPr>
              <a:t>第1帧</a:t>
            </a:r>
          </a:p>
        </p:txBody>
      </p:sp>
      <p:pic>
        <p:nvPicPr>
          <p:cNvPr id="24" name="Picture 23" descr="00001.png"/>
          <p:cNvPicPr>
            <a:picLocks noChangeAspect="1"/>
          </p:cNvPicPr>
          <p:nvPr/>
        </p:nvPicPr>
        <p:blipFill>
          <a:blip r:embed="rId3"/>
          <a:srcRect l="47266" t="36806" b="16319"/>
          <a:stretch>
            <a:fillRect/>
          </a:stretch>
        </p:blipFill>
        <p:spPr>
          <a:xfrm>
            <a:off x="914400" y="1353312"/>
            <a:ext cx="4937760" cy="2468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36208" y="987552"/>
            <a:ext cx="4937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>
                <a:solidFill>
                  <a:srgbClr val="173657"/>
                </a:solidFill>
                <a:latin typeface="Microsoft YaHei"/>
              </a:rPr>
              <a:t>第22帧</a:t>
            </a:r>
          </a:p>
        </p:txBody>
      </p:sp>
      <p:pic>
        <p:nvPicPr>
          <p:cNvPr id="26" name="Picture 25" descr="00022.png"/>
          <p:cNvPicPr>
            <a:picLocks noChangeAspect="1"/>
          </p:cNvPicPr>
          <p:nvPr/>
        </p:nvPicPr>
        <p:blipFill>
          <a:blip r:embed="rId4"/>
          <a:srcRect l="47266" t="36806" b="16319"/>
          <a:stretch>
            <a:fillRect/>
          </a:stretch>
        </p:blipFill>
        <p:spPr>
          <a:xfrm>
            <a:off x="6236208" y="1353312"/>
            <a:ext cx="49377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678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鸭头比身体更模糊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A521025-E642-0418-5612-48DCDAC5F817}"/>
              </a:ext>
            </a:extLst>
          </p:cNvPr>
          <p:cNvGraphicFramePr/>
          <p:nvPr/>
        </p:nvGraphicFramePr>
        <p:xfrm>
          <a:off x="7334250" y="2095500"/>
          <a:ext cx="3857625" cy="220980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部位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05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输入虚化强度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057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101F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头部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1F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101F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颈部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1F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0.204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101F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身体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1F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0.580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A363B467-A4BF-2CF0-0F60-E812F59280B1}"/>
              </a:ext>
            </a:extLst>
          </p:cNvPr>
          <p:cNvSpPr>
            <a:spLocks noGrp="1"/>
          </p:cNvSpPr>
          <p:nvPr/>
        </p:nvSpPr>
        <p:spPr>
          <a:xfrm>
            <a:off x="7334250" y="4762500"/>
            <a:ext cx="385762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输入给鸭头的
虚化强度更大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078992"/>
            <a:ext cx="3017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>
                <a:solidFill>
                  <a:srgbClr val="173657"/>
                </a:solidFill>
                <a:latin typeface="Microsoft YaHei"/>
              </a:rPr>
              <a:t>原视频 · 第0帧</a:t>
            </a:r>
          </a:p>
        </p:txBody>
      </p:sp>
      <p:pic>
        <p:nvPicPr>
          <p:cNvPr id="24" name="Picture 23" descr="00000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7240" y="1463040"/>
            <a:ext cx="3017520" cy="169735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3364992"/>
            <a:ext cx="30175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>
                <a:solidFill>
                  <a:srgbClr val="173657"/>
                </a:solidFill>
                <a:latin typeface="Microsoft YaHei"/>
              </a:rPr>
              <a:t>头部放大</a:t>
            </a:r>
          </a:p>
        </p:txBody>
      </p:sp>
      <p:pic>
        <p:nvPicPr>
          <p:cNvPr id="26" name="Picture 25" descr="00000.png"/>
          <p:cNvPicPr>
            <a:picLocks noChangeAspect="1"/>
          </p:cNvPicPr>
          <p:nvPr/>
        </p:nvPicPr>
        <p:blipFill>
          <a:blip r:embed="rId3"/>
          <a:srcRect l="59570" t="22569" r="22852" b="56597"/>
          <a:stretch>
            <a:fillRect/>
          </a:stretch>
        </p:blipFill>
        <p:spPr>
          <a:xfrm>
            <a:off x="777240" y="3730752"/>
            <a:ext cx="3017520" cy="20116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005072" y="1078992"/>
            <a:ext cx="3017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>
                <a:solidFill>
                  <a:srgbClr val="173657"/>
                </a:solidFill>
                <a:latin typeface="Microsoft YaHei"/>
              </a:rPr>
              <a:t>ATB 结果 · 第0帧</a:t>
            </a:r>
          </a:p>
        </p:txBody>
      </p:sp>
      <p:pic>
        <p:nvPicPr>
          <p:cNvPr id="28" name="Picture 27" descr="00000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5072" y="1463040"/>
            <a:ext cx="3017520" cy="169735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005072" y="3364992"/>
            <a:ext cx="30175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>
                <a:solidFill>
                  <a:srgbClr val="173657"/>
                </a:solidFill>
                <a:latin typeface="Microsoft YaHei"/>
              </a:rPr>
              <a:t>头部放大</a:t>
            </a:r>
          </a:p>
        </p:txBody>
      </p:sp>
      <p:pic>
        <p:nvPicPr>
          <p:cNvPr id="30" name="Picture 29" descr="00000.png"/>
          <p:cNvPicPr>
            <a:picLocks noChangeAspect="1"/>
          </p:cNvPicPr>
          <p:nvPr/>
        </p:nvPicPr>
        <p:blipFill>
          <a:blip r:embed="rId4"/>
          <a:srcRect l="59570" t="22569" r="22852" b="56597"/>
          <a:stretch>
            <a:fillRect/>
          </a:stretch>
        </p:blipFill>
        <p:spPr>
          <a:xfrm>
            <a:off x="4005072" y="3730752"/>
            <a:ext cx="3017520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01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不同方法的伞绳效果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15A426-A68B-2D82-7FE6-D528CD56ECB3}"/>
              </a:ext>
            </a:extLst>
          </p:cNvPr>
          <p:cNvSpPr>
            <a:spLocks noGrp="1"/>
          </p:cNvSpPr>
          <p:nvPr/>
        </p:nvSpPr>
        <p:spPr>
          <a:xfrm>
            <a:off x="914400" y="5476875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这张图里，ATB 的伞绳更清楚</a:t>
            </a:r>
            <a:endParaRPr sz="2100" b="1">
              <a:solidFill>
                <a:srgbClr val="0D569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1097280"/>
            <a:ext cx="2423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>
                <a:solidFill>
                  <a:srgbClr val="173657"/>
                </a:solidFill>
                <a:latin typeface="Microsoft YaHei"/>
              </a:rPr>
              <a:t>原视频</a:t>
            </a:r>
          </a:p>
        </p:txBody>
      </p:sp>
      <p:pic>
        <p:nvPicPr>
          <p:cNvPr id="24" name="Picture 23" descr="00000.png"/>
          <p:cNvPicPr>
            <a:picLocks noChangeAspect="1"/>
          </p:cNvPicPr>
          <p:nvPr/>
        </p:nvPicPr>
        <p:blipFill>
          <a:blip r:embed="rId3"/>
          <a:srcRect l="33984" t="3299" r="41797" b="71701"/>
          <a:stretch>
            <a:fillRect/>
          </a:stretch>
        </p:blipFill>
        <p:spPr>
          <a:xfrm>
            <a:off x="777240" y="1444752"/>
            <a:ext cx="2423160" cy="14069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20440" y="1097280"/>
            <a:ext cx="2423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>
                <a:solidFill>
                  <a:srgbClr val="173657"/>
                </a:solidFill>
                <a:latin typeface="Microsoft YaHei"/>
              </a:rPr>
              <a:t>Any-to-Bokeh</a:t>
            </a:r>
          </a:p>
        </p:txBody>
      </p:sp>
      <p:pic>
        <p:nvPicPr>
          <p:cNvPr id="26" name="Picture 25" descr="00000.png"/>
          <p:cNvPicPr>
            <a:picLocks noChangeAspect="1"/>
          </p:cNvPicPr>
          <p:nvPr/>
        </p:nvPicPr>
        <p:blipFill>
          <a:blip r:embed="rId4"/>
          <a:srcRect l="33984" t="3299" r="41797" b="71701"/>
          <a:stretch>
            <a:fillRect/>
          </a:stretch>
        </p:blipFill>
        <p:spPr>
          <a:xfrm>
            <a:off x="3520440" y="1444752"/>
            <a:ext cx="2423160" cy="14069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63640" y="1097280"/>
            <a:ext cx="2423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>
                <a:solidFill>
                  <a:srgbClr val="173657"/>
                </a:solidFill>
                <a:latin typeface="Microsoft YaHei"/>
              </a:rPr>
              <a:t>MPIB</a:t>
            </a:r>
          </a:p>
        </p:txBody>
      </p:sp>
      <p:pic>
        <p:nvPicPr>
          <p:cNvPr id="28" name="Picture 27" descr="00000.png"/>
          <p:cNvPicPr>
            <a:picLocks noChangeAspect="1"/>
          </p:cNvPicPr>
          <p:nvPr/>
        </p:nvPicPr>
        <p:blipFill>
          <a:blip r:embed="rId5"/>
          <a:srcRect l="33984" t="3299" r="41797" b="71701"/>
          <a:stretch>
            <a:fillRect/>
          </a:stretch>
        </p:blipFill>
        <p:spPr>
          <a:xfrm>
            <a:off x="6263640" y="1444752"/>
            <a:ext cx="2423160" cy="14069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06840" y="1097280"/>
            <a:ext cx="2423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>
                <a:solidFill>
                  <a:srgbClr val="173657"/>
                </a:solidFill>
                <a:latin typeface="Microsoft YaHei"/>
              </a:rPr>
              <a:t>BokehMe</a:t>
            </a:r>
          </a:p>
        </p:txBody>
      </p:sp>
      <p:pic>
        <p:nvPicPr>
          <p:cNvPr id="30" name="Picture 29" descr="00000.png"/>
          <p:cNvPicPr>
            <a:picLocks noChangeAspect="1"/>
          </p:cNvPicPr>
          <p:nvPr/>
        </p:nvPicPr>
        <p:blipFill>
          <a:blip r:embed="rId6"/>
          <a:srcRect l="33984" t="3299" r="41797" b="71701"/>
          <a:stretch>
            <a:fillRect/>
          </a:stretch>
        </p:blipFill>
        <p:spPr>
          <a:xfrm>
            <a:off x="9006840" y="1444752"/>
            <a:ext cx="2423160" cy="14069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148840" y="3081528"/>
            <a:ext cx="2423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>
                <a:solidFill>
                  <a:srgbClr val="173657"/>
                </a:solidFill>
                <a:latin typeface="Microsoft YaHei"/>
              </a:rPr>
              <a:t>DeepLens</a:t>
            </a:r>
          </a:p>
        </p:txBody>
      </p:sp>
      <p:pic>
        <p:nvPicPr>
          <p:cNvPr id="32" name="Picture 31" descr="00000.png"/>
          <p:cNvPicPr>
            <a:picLocks noChangeAspect="1"/>
          </p:cNvPicPr>
          <p:nvPr/>
        </p:nvPicPr>
        <p:blipFill>
          <a:blip r:embed="rId7"/>
          <a:srcRect l="33984" t="3299" r="41797" b="71701"/>
          <a:stretch>
            <a:fillRect/>
          </a:stretch>
        </p:blipFill>
        <p:spPr>
          <a:xfrm>
            <a:off x="2148840" y="3429000"/>
            <a:ext cx="2423160" cy="14069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892040" y="3081528"/>
            <a:ext cx="2423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>
                <a:solidFill>
                  <a:srgbClr val="173657"/>
                </a:solidFill>
                <a:latin typeface="Microsoft YaHei"/>
              </a:rPr>
              <a:t>Dr.Bokeh</a:t>
            </a:r>
          </a:p>
        </p:txBody>
      </p:sp>
      <p:pic>
        <p:nvPicPr>
          <p:cNvPr id="34" name="Picture 33" descr="00000.png"/>
          <p:cNvPicPr>
            <a:picLocks noChangeAspect="1"/>
          </p:cNvPicPr>
          <p:nvPr/>
        </p:nvPicPr>
        <p:blipFill>
          <a:blip r:embed="rId8"/>
          <a:srcRect l="33984" t="3299" r="41797" b="71701"/>
          <a:stretch>
            <a:fillRect/>
          </a:stretch>
        </p:blipFill>
        <p:spPr>
          <a:xfrm>
            <a:off x="4892040" y="3429000"/>
            <a:ext cx="2423160" cy="14069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635240" y="3081528"/>
            <a:ext cx="2423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>
                <a:solidFill>
                  <a:srgbClr val="173657"/>
                </a:solidFill>
                <a:latin typeface="Microsoft YaHei"/>
              </a:rPr>
              <a:t>BokehDiff</a:t>
            </a:r>
          </a:p>
        </p:txBody>
      </p:sp>
      <p:pic>
        <p:nvPicPr>
          <p:cNvPr id="36" name="Picture 35" descr="00000.png"/>
          <p:cNvPicPr>
            <a:picLocks noChangeAspect="1"/>
          </p:cNvPicPr>
          <p:nvPr/>
        </p:nvPicPr>
        <p:blipFill>
          <a:blip r:embed="rId9"/>
          <a:srcRect l="33984" t="3299" r="41797" b="71701"/>
          <a:stretch>
            <a:fillRect/>
          </a:stretch>
        </p:blipFill>
        <p:spPr>
          <a:xfrm>
            <a:off x="7635240" y="3429000"/>
            <a:ext cx="2423160" cy="140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99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接下来做什么</a:t>
            </a:r>
          </a:p>
        </p:txBody>
      </p:sp>
      <p:sp>
        <p:nvSpPr>
          <p:cNvPr id="5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3E42CED-48F0-27B1-F792-FBF719457458}"/>
              </a:ext>
            </a:extLst>
          </p:cNvPr>
          <p:cNvSpPr txBox="1"/>
          <p:nvPr/>
        </p:nvSpPr>
        <p:spPr>
          <a:xfrm>
            <a:off x="787400" y="1651000"/>
            <a:ext cx="2286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调整局部输入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C70B961-ED28-723F-31D3-EBEA66797499}"/>
              </a:ext>
            </a:extLst>
          </p:cNvPr>
          <p:cNvSpPr txBox="1"/>
          <p:nvPr/>
        </p:nvSpPr>
        <p:spPr>
          <a:xfrm>
            <a:off x="3619500" y="1651000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>
                <a:solidFill>
                  <a:srgbClr val="101F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模型保持不变，调整局部离焦量，看结果怎么变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8A5A8EE-964C-8EF7-37DE-F5CB50B59E4A}"/>
              </a:ext>
            </a:extLst>
          </p:cNvPr>
          <p:cNvSpPr txBox="1"/>
          <p:nvPr/>
        </p:nvSpPr>
        <p:spPr>
          <a:xfrm>
            <a:off x="787400" y="3175000"/>
            <a:ext cx="2286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换视频验证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4A6D852-BE32-8732-3844-665F09225A77}"/>
              </a:ext>
            </a:extLst>
          </p:cNvPr>
          <p:cNvSpPr txBox="1"/>
          <p:nvPr/>
        </p:nvSpPr>
        <p:spPr>
          <a:xfrm>
            <a:off x="3619500" y="3175000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>
                <a:solidFill>
                  <a:srgbClr val="101F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换一批视频，检查同样的调整是否有效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6F7EF0-503E-5FD5-BF3F-E81AE8170B81}"/>
              </a:ext>
            </a:extLst>
          </p:cNvPr>
          <p:cNvSpPr txBox="1"/>
          <p:nvPr/>
        </p:nvSpPr>
        <p:spPr>
          <a:xfrm>
            <a:off x="787400" y="4699000"/>
            <a:ext cx="2286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>
                <a:solidFill>
                  <a:srgbClr val="0D56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设计改进方法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302C507-3EBB-3E68-02FE-BAFF04D6322B}"/>
              </a:ext>
            </a:extLst>
          </p:cNvPr>
          <p:cNvSpPr txBox="1"/>
          <p:nvPr/>
        </p:nvSpPr>
        <p:spPr>
          <a:xfrm>
            <a:off x="3619500" y="4699000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>
                <a:solidFill>
                  <a:srgbClr val="101F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根据实验结果，确定具体改哪里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999</Words>
  <Application>Microsoft Office PowerPoint</Application>
  <DocSecurity>0</DocSecurity>
  <PresentationFormat>宽屏</PresentationFormat>
  <Paragraphs>277</Paragraphs>
  <Slides>13</Slides>
  <Notes>13</Notes>
  <HiddenSlides>0</HiddenSlides>
  <MMClips>4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Microsoft YaHei</vt:lpstr>
      <vt:lpstr>Microsoft YaHei</vt:lpstr>
      <vt:lpstr>微软雅黑 Light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辰洋 孟</cp:lastModifiedBy>
  <cp:revision>18</cp:revision>
  <dcterms:created xsi:type="dcterms:W3CDTF">2026-08-21T05:34:17Z</dcterms:created>
  <dcterms:modified xsi:type="dcterms:W3CDTF">2026-10-15T06:28:03Z</dcterms:modified>
</cp:coreProperties>
</file>