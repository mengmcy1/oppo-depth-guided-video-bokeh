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70" r:id="rId4"/>
    <p:sldId id="271" r:id="rId5"/>
    <p:sldId id="274" r:id="rId6"/>
    <p:sldId id="272" r:id="rId7"/>
    <p:sldId id="275" r:id="rId8"/>
    <p:sldId id="277" r:id="rId9"/>
    <p:sldId id="278" r:id="rId10"/>
    <p:sldId id="279" r:id="rId11"/>
    <p:sldId id="280" r:id="rId12"/>
    <p:sldId id="281" r:id="rId13"/>
    <p:sldId id="282" r:id="rId14"/>
    <p:sldId id="273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1998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9503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
MagicBokeh补测：50段×25帧，1024×576，VEPI-public-mp4=0.66962104；PNG诊断=0.66918814；MP4−PNG=+0.00043290。DAVIS原类别ID!=0合并目标（沿用旧口径含ID255），最近邻缩放后采用B最大8连通域、预测PNG8深度中位数最近像素选点。焦点取自身DAdepth选点深度，不取VDA数值；标注只在生成器外辅助一个点，不输入GT mask/alpha。多实例可能选中不同组件，不保证所有实例同焦。K16，原控制公式abs(d-focus)*K/32、0.1阈值、FP16六图块及PIL/AdaIN均不变。预检8段后复用200帧，只补42段；seed=42+25*固定scene索引+帧号。VEPI沿旧Sobel/ROI、H.264 quality8/20fps/yuv420p与先帧均值后视频等权均值；不代表整体虚化质量。只完成量化/程序核验，未新增人工视觉结论或复核组失败发现。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0695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9993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115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7720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/records/any2bokeh-encoder-scale1-experiment-4090d-20261008.json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260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052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902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772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来源：MagicBokeh arXiv v2，§3.4、附录A.1/A.2，PDF第9页图s1。图仅裁剪放大，不重绘。教师和学生均采用Depth Anything v2 Large，教师看HQ、学生看模拟LQ，图s1含特征损失Lf和输出LMSE。此处不提供具体损失权重。底部为本项目候选启发，尚未实现。详细说明见同页Word讲稿。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来源：MagicBokeh §3.3、公式2/3，PDF第4页图3右上C区域。图中矩阵叉号表示被屏蔽的跨区域联系；约束作用于自注意力，不等于整个网络完全分离。官方实现同类偏置0，异类-100，按各层分辨率缩放掩码。底部为项目候选启发，视频一致性需额外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来源：MagicBokeh §3.2及PDF第4页图3整体。初始SR预训练涉及VAE encoder和UNet LoRA；后续SR阶段只更新UNet SR LoRA，离焦图为0，注意力加性掩码为0。Bokeh阶段更新ControlNet及Bokeh LoRA。论文此处未明确逐batch或逐epoch切换频率。项目底部建议是分模块训练启发，不是已实施交替训练。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35172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视频虚化：基线更新</a:t>
            </a:r>
          </a:p>
          <a:p>
            <a:pPr algn="ctr">
              <a:buNone/>
            </a:pPr>
            <a:r>
              <a:rPr lang="en-US" altLang="zh-CN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ATB </a:t>
            </a: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效率优化与案例分析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  <a:endParaRPr lang="zh-CN" altLang="en-US" sz="18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71572"/>
              </p:ext>
            </p:extLst>
          </p:nvPr>
        </p:nvGraphicFramePr>
        <p:xfrm>
          <a:off x="868680" y="1485900"/>
          <a:ext cx="10332720" cy="4191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 Alpha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区域辅助选焦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真实视频主体边缘保留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09854"/>
              </p:ext>
            </p:extLst>
          </p:nvPr>
        </p:nvGraphicFramePr>
        <p:xfrm>
          <a:off x="1737360" y="1645920"/>
          <a:ext cx="859536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92514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给定输入下的视频处理效率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241527"/>
              </p:ext>
            </p:extLst>
          </p:nvPr>
        </p:nvGraphicFramePr>
        <p:xfrm>
          <a:off x="914400" y="1645920"/>
          <a:ext cx="10241280" cy="3788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 </a:t>
                      </a:r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内存</a:t>
                      </a:r>
                    </a:p>
                    <a:p>
                      <a:pPr algn="ctr"/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GiB) ↓</a:t>
                      </a:r>
                      <a:endParaRPr sz="16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  <a:endParaRPr sz="19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5382111"/>
            <a:ext cx="1024128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VAE </a:t>
            </a:r>
            <a:r>
              <a:rPr lang="zh-CN" altLang="en-US" sz="2300" b="0">
                <a:solidFill>
                  <a:srgbClr val="101F37"/>
                </a:solidFill>
                <a:latin typeface="Arial"/>
                <a:ea typeface="Microsoft YaHei"/>
              </a:rPr>
              <a:t>相关阶段占总耗时的 </a:t>
            </a:r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80.36%</a:t>
            </a:r>
            <a:endParaRPr sz="2300" b="0">
              <a:solidFill>
                <a:srgbClr val="101F37"/>
              </a:solidFill>
              <a:latin typeface="Arial"/>
              <a:ea typeface="Microsoft YaHe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优化冗余计算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31132"/>
              </p:ext>
            </p:extLst>
          </p:nvPr>
        </p:nvGraphicFramePr>
        <p:xfrm>
          <a:off x="914400" y="2476500"/>
          <a:ext cx="10241280" cy="17907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优化后</a:t>
                      </a:r>
                      <a:endParaRPr sz="15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帧模型耗时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设备峰值显存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(GiB)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763C70D-8BD7-B250-2CA9-4AFF6469581A}"/>
              </a:ext>
            </a:extLst>
          </p:cNvPr>
          <p:cNvSpPr txBox="1"/>
          <p:nvPr/>
        </p:nvSpPr>
        <p:spPr>
          <a:xfrm>
            <a:off x="914400" y="4673600"/>
            <a:ext cx="10236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设备峰值显存减少 </a:t>
            </a:r>
            <a:r>
              <a:rPr lang="en-US" altLang="zh-CN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4.50 GiB</a:t>
            </a:r>
            <a:endParaRPr lang="zh-CN" altLang="en-US" sz="2500" b="1">
              <a:solidFill>
                <a:srgbClr val="101F3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5BECF9-5D7B-3654-F488-A3973CB83013}"/>
              </a:ext>
            </a:extLst>
          </p:cNvPr>
          <p:cNvSpPr txBox="1"/>
          <p:nvPr/>
        </p:nvSpPr>
        <p:spPr>
          <a:xfrm>
            <a:off x="1390389" y="1295400"/>
            <a:ext cx="102362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(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) ÷ 1    →   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F37"/>
                </a:solidFill>
                <a:latin typeface="Microsoft YaHei"/>
              </a:rPr>
              <a:t>细绳：局部几何偏差可能被跟焦放大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4400" y="987552"/>
            <a:ext cx="49377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第1帧</a:t>
            </a:r>
          </a:p>
        </p:txBody>
      </p:sp>
      <p:pic>
        <p:nvPicPr>
          <p:cNvPr id="24" name="Picture 23" descr="00001.png"/>
          <p:cNvPicPr>
            <a:picLocks noChangeAspect="1"/>
          </p:cNvPicPr>
          <p:nvPr/>
        </p:nvPicPr>
        <p:blipFill>
          <a:blip r:embed="rId3"/>
          <a:srcRect l="47266" t="36806" b="16319"/>
          <a:stretch>
            <a:fillRect/>
          </a:stretch>
        </p:blipFill>
        <p:spPr>
          <a:xfrm>
            <a:off x="914400" y="1353312"/>
            <a:ext cx="4937760" cy="2468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36208" y="987552"/>
            <a:ext cx="49377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第22帧</a:t>
            </a:r>
          </a:p>
        </p:txBody>
      </p:sp>
      <p:pic>
        <p:nvPicPr>
          <p:cNvPr id="26" name="Picture 25" descr="00022.png"/>
          <p:cNvPicPr>
            <a:picLocks noChangeAspect="1"/>
          </p:cNvPicPr>
          <p:nvPr/>
        </p:nvPicPr>
        <p:blipFill>
          <a:blip r:embed="rId4"/>
          <a:srcRect l="47266" t="36806" b="16319"/>
          <a:stretch>
            <a:fillRect/>
          </a:stretch>
        </p:blipFill>
        <p:spPr>
          <a:xfrm>
            <a:off x="6236208" y="1353312"/>
            <a:ext cx="4937760" cy="2468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4400" y="5888736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1">
                <a:solidFill>
                  <a:srgbClr val="155A96"/>
                </a:solidFill>
                <a:latin typeface="Microsoft YaHei"/>
              </a:rPr>
              <a:t>问题关注：细结构的几何表达与跟焦过程是否一致？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142232"/>
            <a:ext cx="10287000" cy="585216"/>
          </a:xfrm>
          <a:prstGeom prst="roundRect">
            <a:avLst/>
          </a:prstGeom>
          <a:solidFill>
            <a:srgbClr val="EAF3FB"/>
          </a:solidFill>
          <a:ln w="7620">
            <a:solidFill>
              <a:srgbClr val="D8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36576" bIns="36576"/>
          <a:lstStyle/>
          <a:p>
            <a:pPr algn="ctr"/>
            <a:r>
              <a:rPr sz="2000" b="0">
                <a:solidFill>
                  <a:srgbClr val="173657"/>
                </a:solidFill>
                <a:latin typeface="Microsoft YaHei"/>
              </a:rPr>
              <a:t>现象：原图清晰度相近，细绳却随汽车靠近而变模糊。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873752"/>
            <a:ext cx="10287000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8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36576" bIns="36576"/>
          <a:lstStyle/>
          <a:p>
            <a:pPr algn="ctr"/>
            <a:r>
              <a:rPr sz="2000" b="0">
                <a:solidFill>
                  <a:srgbClr val="173657"/>
                </a:solidFill>
                <a:latin typeface="Microsoft YaHei"/>
              </a:rPr>
              <a:t>分析：细绳的深度数值可能偏差，跟焦变化会放大离焦。</a:t>
            </a:r>
          </a:p>
        </p:txBody>
      </p:sp>
    </p:spTree>
    <p:extLst>
      <p:ext uri="{BB962C8B-B14F-4D97-AF65-F5344CB8AC3E}">
        <p14:creationId xmlns:p14="http://schemas.microsoft.com/office/powerpoint/2010/main" val="929678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F37"/>
                </a:solidFill>
                <a:latin typeface="Microsoft YaHei"/>
              </a:rPr>
              <a:t>鸭头：深度估计偏差会影响最终虚化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55A96"/>
                </a:solidFill>
                <a:latin typeface="Microsoft YaHei"/>
              </a:rPr>
              <a:t>原视频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rcRect l="59570" t="22569" r="22852" b="56597"/>
          <a:stretch>
            <a:fillRect/>
          </a:stretch>
        </p:blipFill>
        <p:spPr>
          <a:xfrm>
            <a:off x="822960" y="1709928"/>
            <a:ext cx="3200400" cy="2133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4805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55A96"/>
                </a:solidFill>
                <a:latin typeface="Microsoft YaHei"/>
              </a:rPr>
              <a:t>原版 ATB</a:t>
            </a:r>
          </a:p>
        </p:txBody>
      </p:sp>
      <p:pic>
        <p:nvPicPr>
          <p:cNvPr id="26" name="Picture 25" descr="native-1024.png"/>
          <p:cNvPicPr>
            <a:picLocks noChangeAspect="1"/>
          </p:cNvPicPr>
          <p:nvPr/>
        </p:nvPicPr>
        <p:blipFill>
          <a:blip r:embed="rId5"/>
          <a:srcRect l="59570" t="22569" r="22852" b="56597"/>
          <a:stretch>
            <a:fillRect/>
          </a:stretch>
        </p:blipFill>
        <p:spPr>
          <a:xfrm>
            <a:off x="4480560" y="1709928"/>
            <a:ext cx="3200400" cy="2133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381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73657"/>
                </a:solidFill>
                <a:latin typeface="Microsoft YaHei"/>
              </a:rPr>
              <a:t>局部深度调整后</a:t>
            </a:r>
          </a:p>
        </p:txBody>
      </p:sp>
      <p:pic>
        <p:nvPicPr>
          <p:cNvPr id="28" name="Picture 27" descr="head_to_neck-1024.png"/>
          <p:cNvPicPr>
            <a:picLocks noChangeAspect="1"/>
          </p:cNvPicPr>
          <p:nvPr/>
        </p:nvPicPr>
        <p:blipFill>
          <a:blip r:embed="rId6"/>
          <a:srcRect l="59570" t="22569" r="22852" b="56597"/>
          <a:stretch>
            <a:fillRect/>
          </a:stretch>
        </p:blipFill>
        <p:spPr>
          <a:xfrm>
            <a:off x="8138160" y="1709928"/>
            <a:ext cx="3200400" cy="2133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587044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1">
                <a:solidFill>
                  <a:srgbClr val="155A96"/>
                </a:solidFill>
                <a:latin typeface="Microsoft YaHei"/>
              </a:rPr>
              <a:t>局部几何调整改善了本案例的视觉效果。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160520"/>
            <a:ext cx="10424160" cy="585216"/>
          </a:xfrm>
          <a:prstGeom prst="roundRect">
            <a:avLst/>
          </a:prstGeom>
          <a:solidFill>
            <a:srgbClr val="EAF3FB"/>
          </a:solidFill>
          <a:ln w="7620">
            <a:solidFill>
              <a:srgbClr val="D8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36576" bIns="36576"/>
          <a:lstStyle/>
          <a:p>
            <a:pPr algn="ctr"/>
            <a:r>
              <a:rPr sz="2000" b="0">
                <a:solidFill>
                  <a:srgbClr val="173657"/>
                </a:solidFill>
                <a:latin typeface="Microsoft YaHei"/>
              </a:rPr>
              <a:t>现象：鸭头被过度虚化，头部细节受损。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92040"/>
            <a:ext cx="10424160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8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36576" bIns="36576"/>
          <a:lstStyle/>
          <a:p>
            <a:pPr algn="ctr"/>
            <a:r>
              <a:rPr sz="1900" b="0">
                <a:solidFill>
                  <a:srgbClr val="173657"/>
                </a:solidFill>
                <a:latin typeface="Microsoft YaHei"/>
              </a:rPr>
              <a:t>验证：固定原图、焦点和模型，仅调整鸭头深度后，细节更清楚。</a:t>
            </a:r>
          </a:p>
        </p:txBody>
      </p:sp>
    </p:spTree>
    <p:extLst>
      <p:ext uri="{BB962C8B-B14F-4D97-AF65-F5344CB8AC3E}">
        <p14:creationId xmlns:p14="http://schemas.microsoft.com/office/powerpoint/2010/main" val="218600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F37"/>
                </a:solidFill>
                <a:latin typeface="Microsoft YaHei"/>
              </a:rPr>
              <a:t>伞绳：细结构深度偏差可能导致误虚化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97280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原视频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 l="33984" t="3299" r="41797" b="71701"/>
          <a:stretch>
            <a:fillRect/>
          </a:stretch>
        </p:blipFill>
        <p:spPr>
          <a:xfrm>
            <a:off x="777240" y="1444752"/>
            <a:ext cx="2423160" cy="14069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20440" y="1097280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Any-to-Bokeh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4"/>
          <a:srcRect l="33984" t="3299" r="41797" b="71701"/>
          <a:stretch>
            <a:fillRect/>
          </a:stretch>
        </p:blipFill>
        <p:spPr>
          <a:xfrm>
            <a:off x="3520440" y="1444752"/>
            <a:ext cx="2423160" cy="14069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63640" y="1097280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MPIB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5"/>
          <a:srcRect l="33984" t="3299" r="41797" b="71701"/>
          <a:stretch>
            <a:fillRect/>
          </a:stretch>
        </p:blipFill>
        <p:spPr>
          <a:xfrm>
            <a:off x="6263640" y="1444752"/>
            <a:ext cx="2423160" cy="14069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06840" y="1097280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BokehMe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6"/>
          <a:srcRect l="33984" t="3299" r="41797" b="71701"/>
          <a:stretch>
            <a:fillRect/>
          </a:stretch>
        </p:blipFill>
        <p:spPr>
          <a:xfrm>
            <a:off x="9006840" y="1444752"/>
            <a:ext cx="2423160" cy="14069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48840" y="3081528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DeepLens</a:t>
            </a:r>
          </a:p>
        </p:txBody>
      </p:sp>
      <p:pic>
        <p:nvPicPr>
          <p:cNvPr id="32" name="Picture 31" descr="00000.png"/>
          <p:cNvPicPr>
            <a:picLocks noChangeAspect="1"/>
          </p:cNvPicPr>
          <p:nvPr/>
        </p:nvPicPr>
        <p:blipFill>
          <a:blip r:embed="rId7"/>
          <a:srcRect l="33984" t="3299" r="41797" b="71701"/>
          <a:stretch>
            <a:fillRect/>
          </a:stretch>
        </p:blipFill>
        <p:spPr>
          <a:xfrm>
            <a:off x="2148840" y="3429000"/>
            <a:ext cx="2423160" cy="14069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92040" y="3081528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Dr.Bokeh</a:t>
            </a:r>
          </a:p>
        </p:txBody>
      </p:sp>
      <p:pic>
        <p:nvPicPr>
          <p:cNvPr id="34" name="Picture 33" descr="00000.png"/>
          <p:cNvPicPr>
            <a:picLocks noChangeAspect="1"/>
          </p:cNvPicPr>
          <p:nvPr/>
        </p:nvPicPr>
        <p:blipFill>
          <a:blip r:embed="rId8"/>
          <a:srcRect l="33984" t="3299" r="41797" b="71701"/>
          <a:stretch>
            <a:fillRect/>
          </a:stretch>
        </p:blipFill>
        <p:spPr>
          <a:xfrm>
            <a:off x="4892040" y="3429000"/>
            <a:ext cx="2423160" cy="14069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240" y="3081528"/>
            <a:ext cx="24231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BokehDiff</a:t>
            </a:r>
          </a:p>
        </p:txBody>
      </p:sp>
      <p:pic>
        <p:nvPicPr>
          <p:cNvPr id="36" name="Picture 35" descr="00000.png"/>
          <p:cNvPicPr>
            <a:picLocks noChangeAspect="1"/>
          </p:cNvPicPr>
          <p:nvPr/>
        </p:nvPicPr>
        <p:blipFill>
          <a:blip r:embed="rId9"/>
          <a:srcRect l="33984" t="3299" r="41797" b="71701"/>
          <a:stretch>
            <a:fillRect/>
          </a:stretch>
        </p:blipFill>
        <p:spPr>
          <a:xfrm>
            <a:off x="7635240" y="3429000"/>
            <a:ext cx="2423160" cy="140699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777240" y="5230368"/>
            <a:ext cx="10652760" cy="438912"/>
          </a:xfrm>
          <a:prstGeom prst="roundRect">
            <a:avLst/>
          </a:prstGeom>
          <a:solidFill>
            <a:srgbClr val="EAF3FB"/>
          </a:solidFill>
          <a:ln w="7620">
            <a:solidFill>
              <a:srgbClr val="D8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36576" bIns="36576"/>
          <a:lstStyle/>
          <a:p>
            <a:pPr algn="ctr"/>
            <a:r>
              <a:rPr sz="1800" b="0">
                <a:solidFill>
                  <a:srgbClr val="173657"/>
                </a:solidFill>
                <a:latin typeface="Microsoft YaHei"/>
              </a:rPr>
              <a:t>现象：多种方法都会模糊细绳，ATB 相对保留了更多细节。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69864"/>
            <a:ext cx="10652760" cy="43891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8E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36576" bIns="36576"/>
          <a:lstStyle/>
          <a:p>
            <a:pPr algn="ctr"/>
            <a:r>
              <a:rPr sz="1800" b="0">
                <a:solidFill>
                  <a:srgbClr val="173657"/>
                </a:solidFill>
                <a:latin typeface="Microsoft YaHei"/>
              </a:rPr>
              <a:t>分析：细结构的深度估计可能不准确，进而影响虚化与细节保留。</a:t>
            </a:r>
          </a:p>
        </p:txBody>
      </p:sp>
    </p:spTree>
    <p:extLst>
      <p:ext uri="{BB962C8B-B14F-4D97-AF65-F5344CB8AC3E}">
        <p14:creationId xmlns:p14="http://schemas.microsoft.com/office/powerpoint/2010/main" val="1050399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MagicBokeh：教师模型蒸馏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207008"/>
            <a:ext cx="6126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lang="zh-CN" altLang="en-US" sz="2200" b="1">
                <a:solidFill>
                  <a:srgbClr val="173657"/>
                </a:solidFill>
                <a:latin typeface="Microsoft YaHei"/>
              </a:rPr>
              <a:t>教师模型蒸馏</a:t>
            </a:r>
            <a:endParaRPr sz="2200" b="1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442176" y="2247778"/>
            <a:ext cx="2922270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教师</a:t>
            </a:r>
            <a:r>
              <a:rPr lang="zh-CN" altLang="en-US" sz="1900" b="0" dirty="0">
                <a:solidFill>
                  <a:srgbClr val="173657"/>
                </a:solidFill>
                <a:latin typeface="Microsoft YaHei"/>
              </a:rPr>
              <a:t>模型</a:t>
            </a:r>
            <a:r>
              <a:rPr sz="1900" b="0" dirty="0" err="1">
                <a:solidFill>
                  <a:srgbClr val="173657"/>
                </a:solidFill>
                <a:latin typeface="Microsoft YaHei"/>
              </a:rPr>
              <a:t>看清晰图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学生看模糊、有噪声的图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404076" y="3233907"/>
            <a:ext cx="2503170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让学生接近教师的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内部特征和深度输出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04076" y="4349587"/>
            <a:ext cx="37947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dirty="0" err="1">
                <a:solidFill>
                  <a:srgbClr val="173657"/>
                </a:solidFill>
                <a:latin typeface="Microsoft YaHei"/>
              </a:rPr>
              <a:t>使用时只运行学生</a:t>
            </a:r>
            <a:endParaRPr sz="190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04076" y="4779355"/>
            <a:ext cx="37947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提高低质量输入上的深度估计能力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CE38B9D-DB93-889A-9BBB-5DC40725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2247778"/>
            <a:ext cx="7448158" cy="29162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07008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73657"/>
                </a:solidFill>
                <a:latin typeface="Microsoft YaHei"/>
              </a:rPr>
              <a:t>按对焦状态，控制区域之间的信息交流</a:t>
            </a:r>
          </a:p>
        </p:txBody>
      </p:sp>
      <p:pic>
        <p:nvPicPr>
          <p:cNvPr id="7" name="Picture 6" descr="page-04.png"/>
          <p:cNvPicPr>
            <a:picLocks noChangeAspect="1"/>
          </p:cNvPicPr>
          <p:nvPr/>
        </p:nvPicPr>
        <p:blipFill>
          <a:blip r:embed="rId3"/>
          <a:srcRect l="52500" t="9200" r="9800" b="76800"/>
          <a:stretch>
            <a:fillRect/>
          </a:stretch>
        </p:blipFill>
        <p:spPr>
          <a:xfrm>
            <a:off x="914400" y="1938528"/>
            <a:ext cx="6035040" cy="2900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9792" y="1828800"/>
            <a:ext cx="265480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根据虚化控制图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区分清晰区和模糊区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79792" y="3044952"/>
            <a:ext cx="241858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清晰区参考清晰区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模糊区参考模糊区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79792" y="4261104"/>
            <a:ext cx="257860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在注意力中抑制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两类区域之间的联系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415796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73657"/>
                </a:solidFill>
                <a:latin typeface="Microsoft YaHei"/>
              </a:rPr>
              <a:t>先学会恢复细节，再轮流训练两项能力</a:t>
            </a:r>
          </a:p>
        </p:txBody>
      </p:sp>
      <p:pic>
        <p:nvPicPr>
          <p:cNvPr id="7" name="Picture 6" descr="page-04.png"/>
          <p:cNvPicPr>
            <a:picLocks noChangeAspect="1"/>
          </p:cNvPicPr>
          <p:nvPr/>
        </p:nvPicPr>
        <p:blipFill>
          <a:blip r:embed="rId3"/>
          <a:srcRect l="9400" t="9200" r="9600" b="64200"/>
          <a:stretch>
            <a:fillRect/>
          </a:stretch>
        </p:blipFill>
        <p:spPr>
          <a:xfrm>
            <a:off x="896112" y="2197608"/>
            <a:ext cx="6355080" cy="27007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51292" y="1872996"/>
            <a:ext cx="257098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用低质量图和清晰图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训练恢复能力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51292" y="3089148"/>
            <a:ext cx="238810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保留恢复参数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更新虚化相关参数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51292" y="4305300"/>
            <a:ext cx="2929128" cy="648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恢复时，只调恢复参数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900" b="0" dirty="0" err="1">
                <a:solidFill>
                  <a:srgbClr val="173657"/>
                </a:solidFill>
                <a:latin typeface="Microsoft YaHei"/>
              </a:rPr>
              <a:t>虚化时，只调虚化参数</a:t>
            </a:r>
            <a:endParaRPr sz="1900" b="0" dirty="0">
              <a:solidFill>
                <a:srgbClr val="173657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接下来做什么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42CED-48F0-27B1-F792-FBF719457458}"/>
              </a:ext>
            </a:extLst>
          </p:cNvPr>
          <p:cNvSpPr txBox="1"/>
          <p:nvPr/>
        </p:nvSpPr>
        <p:spPr>
          <a:xfrm>
            <a:off x="787400" y="1651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调整局部输入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C70B961-ED28-723F-31D3-EBEA66797499}"/>
              </a:ext>
            </a:extLst>
          </p:cNvPr>
          <p:cNvSpPr txBox="1"/>
          <p:nvPr/>
        </p:nvSpPr>
        <p:spPr>
          <a:xfrm>
            <a:off x="3619500" y="1651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模型保持不变，调整局部离焦量，看结果怎么变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8A5A8EE-964C-8EF7-37DE-F5CB50B59E4A}"/>
              </a:ext>
            </a:extLst>
          </p:cNvPr>
          <p:cNvSpPr txBox="1"/>
          <p:nvPr/>
        </p:nvSpPr>
        <p:spPr>
          <a:xfrm>
            <a:off x="787400" y="3175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换视频验证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A6D852-BE32-8732-3844-665F09225A77}"/>
              </a:ext>
            </a:extLst>
          </p:cNvPr>
          <p:cNvSpPr txBox="1"/>
          <p:nvPr/>
        </p:nvSpPr>
        <p:spPr>
          <a:xfrm>
            <a:off x="3619500" y="3175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换一批视频，检查同样的调整是否有效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6F7EF0-503E-5FD5-BF3F-E81AE8170B81}"/>
              </a:ext>
            </a:extLst>
          </p:cNvPr>
          <p:cNvSpPr txBox="1"/>
          <p:nvPr/>
        </p:nvSpPr>
        <p:spPr>
          <a:xfrm>
            <a:off x="787400" y="4699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设计改进方法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302C507-3EBB-3E68-02FE-BAFF04D6322B}"/>
              </a:ext>
            </a:extLst>
          </p:cNvPr>
          <p:cNvSpPr txBox="1"/>
          <p:nvPr/>
        </p:nvSpPr>
        <p:spPr>
          <a:xfrm>
            <a:off x="3619500" y="4699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根据实验结果，确定具体改哪里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1602</Words>
  <Application>Microsoft Office PowerPoint</Application>
  <DocSecurity>0</DocSecurity>
  <PresentationFormat>宽屏</PresentationFormat>
  <Paragraphs>304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20</cp:revision>
  <dcterms:created xsi:type="dcterms:W3CDTF">2026-08-21T05:34:17Z</dcterms:created>
  <dcterms:modified xsi:type="dcterms:W3CDTF">2026-10-15T13:12:09Z</dcterms:modified>
</cp:coreProperties>
</file>