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69" r:id="rId5"/>
    <p:sldId id="270" r:id="rId6"/>
    <p:sldId id="271" r:id="rId7"/>
    <p:sldId id="274" r:id="rId8"/>
    <p:sldId id="272" r:id="rId9"/>
    <p:sldId id="275" r:id="rId10"/>
    <p:sldId id="277" r:id="rId11"/>
    <p:sldId id="278" r:id="rId12"/>
    <p:sldId id="279" r:id="rId13"/>
    <p:sldId id="280" r:id="rId4"/>
    <p:sldId id="281" r:id="rId3"/>
    <p:sldId id="282" r:id="rId20"/>
    <p:sldId id="273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596" y="-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来源：MagicBokeh §3.3、公式2/3，PDF第4页图3右上C区域。图中矩阵叉号表示被屏蔽的跨区域联系；约束作用于自注意力，不等于整个网络完全分离。官方实现同类偏置0，异类-100，按各层分辨率缩放掩码。底部为项目候选启发，视频一致性需额外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来源：MagicBokeh arXiv v2，§3.4、附录A.1/A.2，PDF第9页图s1。图仅裁剪放大，不重绘。教师和学生均采用Depth Anything v2 Large，教师看HQ、学生看模拟LQ，图s1含特征损失Lf和输出LMSE。此处不提供具体损失权重。底部为本项目候选启发，尚未实现。详细说明见同页Word讲稿。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69503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
MagicBokeh补测：50段×25帧，1024×576，VEPI-public-mp4=0.66962104；PNG诊断=0.66918814；MP4−PNG=+0.00043290。DAVIS原类别ID!=0合并目标（沿用旧口径含ID255），最近邻缩放后采用B最大8连通域、预测PNG8深度中位数最近像素选点。焦点取自身DAdepth选点深度，不取VDA数值；标注只在生成器外辅助一个点，不输入GT mask/alpha。多实例可能选中不同组件，不保证所有实例同焦。K16，原控制公式abs(d-focus)*K/32、0.1阈值、FP16六图块及PIL/AdaIN均不变。预检8段后复用200帧，只补42段；seed=42+25*固定scene索引+帧号。VEPI沿旧Sobel/ROI、H.264 quality8/20fps/yuv420p与先帧均值后视频等权均值；不代表整体虚化质量。只完成量化/程序核验，未新增人工视觉结论或复核组失败发现。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60695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39993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01158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77720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/records/any2bokeh-encoder-scale1-experiment-4090d-20261008.json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68260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数据采用最新B33同候选窄带平均值及两因素对称分解；旧表中位数已整体替换，不混用。详细定义、单帧干预和视觉待复核状态见Word讲稿第8页。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4052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B36第0帧原图、本机原版重放、head_to_neck配对输出，同ROI(610,130,180,120)。表中差异为RGB8 MAE，细节保留量为固定头部ROI梯度能量比（输入=1），不是感知分数。用户已偏好head_to_neck。其余限制和指标定义见Word讲稿第9页。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78902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沿用B19第0帧用户局部跨方法反馈和相同ROI图，不新增全序列或因果结论。详细来源、输入差异和反馈范围见Word讲稿第10页。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17722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35172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来源：MagicBokeh §3.2及PDF第4页图3整体。初始SR预训练涉及VAE encoder和UNet LoRA；后续SR阶段只更新UNet SR LoRA，离焦图为0，注意力加性掩码为0。Bokeh阶段更新ControlNet及Bokeh LoRA。论文此处未明确逐batch或逐epoch切换频率。项目底部建议是分模块训练启发，不是已实施交替训练。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2026-10-15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视频虚化：基线更新</a:t>
            </a:r>
          </a:p>
          <a:p>
            <a:pPr algn="ctr">
              <a:buNone/>
            </a:pPr>
            <a:r>
              <a:rPr lang="en-US" altLang="zh-CN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ATB </a:t>
            </a: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效率优化与案例分析</a:t>
            </a: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2026.10.16</a:t>
            </a:r>
            <a:endParaRPr lang="zh-CN" altLang="en-US" sz="1800" b="0">
              <a:solidFill>
                <a:srgbClr val="4874C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71572"/>
              </p:ext>
            </p:extLst>
          </p:nvPr>
        </p:nvGraphicFramePr>
        <p:xfrm>
          <a:off x="868680" y="1485900"/>
          <a:ext cx="10332720" cy="4191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  <a:endParaRPr sz="17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  <a:p>
                      <a:pPr algn="ctr"/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GT Alpha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GT</a:t>
                      </a:r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区域辅助选焦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0.198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97.79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0.871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0.0268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真实视频主体边缘保留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609854"/>
              </p:ext>
            </p:extLst>
          </p:nvPr>
        </p:nvGraphicFramePr>
        <p:xfrm>
          <a:off x="1737360" y="1645920"/>
          <a:ext cx="8595360" cy="402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5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</a:t>
                      </a:r>
                      <a:endParaRPr sz="17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0.670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模型计算成本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 (s/输出帧)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0.342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0.236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1.269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1398.55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5.13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给定输入下的视频处理效率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4241527"/>
              </p:ext>
            </p:extLst>
          </p:nvPr>
        </p:nvGraphicFramePr>
        <p:xfrm>
          <a:off x="914400" y="1645920"/>
          <a:ext cx="10241280" cy="37886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设备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Core (s/25帧)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E2E (s/25帧)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FPS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显存 </a:t>
                      </a:r>
                      <a:r>
                        <a:rPr lang="en-US" altLang="zh-CN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/ </a:t>
                      </a:r>
                      <a:r>
                        <a:rPr lang="zh-CN" alt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内存</a:t>
                      </a:r>
                    </a:p>
                    <a:p>
                      <a:pPr algn="ctr"/>
                      <a:r>
                        <a:rPr lang="en-US" altLang="zh-CN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(</a:t>
                      </a:r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GiB) ↓</a:t>
                      </a:r>
                      <a:endParaRPr sz="16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46.733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48.789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1.52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8.584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21.789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1.139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21.953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5.956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7.536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3.317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23.151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23.957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lang="en-US"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  <a:endParaRPr sz="19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32.571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36.570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6.79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20.113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21.860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ATB 用时集中在编码与解码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00" name="Updated note 100"/>
          <p:cNvSpPr txBox="1"/>
          <p:nvPr/>
        </p:nvSpPr>
        <p:spPr>
          <a:xfrm>
            <a:off x="914400" y="5382111"/>
            <a:ext cx="10241280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altLang="zh-CN" sz="2300" b="0">
                <a:solidFill>
                  <a:srgbClr val="101F37"/>
                </a:solidFill>
                <a:latin typeface="Arial"/>
                <a:ea typeface="Microsoft YaHei"/>
              </a:rPr>
              <a:t>VAE </a:t>
            </a:r>
            <a:r>
              <a:rPr lang="zh-CN" altLang="en-US" sz="2300" b="0">
                <a:solidFill>
                  <a:srgbClr val="101F37"/>
                </a:solidFill>
                <a:latin typeface="Arial"/>
                <a:ea typeface="Microsoft YaHei"/>
              </a:rPr>
              <a:t>相关阶段占总耗时的 </a:t>
            </a:r>
            <a:r>
              <a:rPr lang="en-US" altLang="zh-CN" sz="2300" b="0">
                <a:solidFill>
                  <a:srgbClr val="101F37"/>
                </a:solidFill>
                <a:latin typeface="Arial"/>
                <a:ea typeface="Microsoft YaHei"/>
              </a:rPr>
              <a:t>80.36%</a:t>
            </a:r>
            <a:endParaRPr sz="2300" b="0">
              <a:solidFill>
                <a:srgbClr val="101F37"/>
              </a:solidFill>
              <a:latin typeface="Arial"/>
              <a:ea typeface="Microsoft YaHei"/>
            </a:endParaRPr>
          </a:p>
        </p:txBody>
      </p:sp>
      <p:graphicFrame>
        <p:nvGraphicFramePr>
          <p:cNvPr id="102" name="Table 101"/>
          <p:cNvGraphicFramePr>
            <a:graphicFrameLocks noGrp="1"/>
          </p:cNvGraphicFramePr>
          <p:nvPr/>
        </p:nvGraphicFramePr>
        <p:xfrm>
          <a:off x="914400" y="1645920"/>
          <a:ext cx="10241280" cy="30358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耗时 (s/25帧)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时间占比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allocated峰值 (GiB)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CLIP 图像编码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0.160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0.79%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11.92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RGB VAE 编码与缓存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4.581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22.71%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CoC VAE 编码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18.78%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UNet 时空条件处理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3.742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14.39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重叠拼接与时序解码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7.841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38.87%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29.65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未归入上述阶段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0.059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完整带插桩 Core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20.171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100%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优化冗余计算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631132"/>
              </p:ext>
            </p:extLst>
          </p:nvPr>
        </p:nvGraphicFramePr>
        <p:xfrm>
          <a:off x="914400" y="2476500"/>
          <a:ext cx="10241280" cy="17907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69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指标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原版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优化后</a:t>
                      </a:r>
                      <a:endParaRPr sz="15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变化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</a:t>
                      </a:r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帧模型耗时 </a:t>
                      </a:r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(</a:t>
                      </a:r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s)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20.273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20.049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−1.10%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设备峰值显存 </a:t>
                      </a:r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(GiB)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42.116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37.616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−10.68%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4763C70D-8BD7-B250-2CA9-4AFF6469581A}"/>
              </a:ext>
            </a:extLst>
          </p:cNvPr>
          <p:cNvSpPr txBox="1"/>
          <p:nvPr/>
        </p:nvSpPr>
        <p:spPr>
          <a:xfrm>
            <a:off x="914400" y="4673600"/>
            <a:ext cx="102362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设备峰值显存减少 </a:t>
            </a:r>
            <a:r>
              <a:rPr lang="en-US" altLang="zh-CN" sz="2500" b="1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4.50 GiB</a:t>
            </a:r>
            <a:endParaRPr lang="zh-CN" altLang="en-US" sz="2500" b="1">
              <a:solidFill>
                <a:srgbClr val="101F3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75BECF9-5D7B-3654-F488-A3973CB83013}"/>
              </a:ext>
            </a:extLst>
          </p:cNvPr>
          <p:cNvSpPr txBox="1"/>
          <p:nvPr/>
        </p:nvSpPr>
        <p:spPr>
          <a:xfrm>
            <a:off x="1390389" y="1295400"/>
            <a:ext cx="102362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(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残差 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+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分支输出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) ÷ 1    →   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残差 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+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分支输出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跟焦让细绳的输入虚化强度增大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14400" y="987552"/>
            <a:ext cx="4937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>
                <a:solidFill>
                  <a:srgbClr val="173657"/>
                </a:solidFill>
                <a:latin typeface="Microsoft YaHei"/>
              </a:rPr>
              <a:t>第1帧</a:t>
            </a:r>
          </a:p>
        </p:txBody>
      </p:sp>
      <p:pic>
        <p:nvPicPr>
          <p:cNvPr id="24" name="Picture 23" descr="00001.png"/>
          <p:cNvPicPr>
            <a:picLocks noChangeAspect="1"/>
          </p:cNvPicPr>
          <p:nvPr/>
        </p:nvPicPr>
        <p:blipFill>
          <a:blip r:embed="rId3"/>
          <a:srcRect l="47266" t="36806" b="16319"/>
          <a:stretch>
            <a:fillRect/>
          </a:stretch>
        </p:blipFill>
        <p:spPr>
          <a:xfrm>
            <a:off x="914400" y="1353312"/>
            <a:ext cx="4937760" cy="2468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36208" y="987552"/>
            <a:ext cx="4937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>
                <a:solidFill>
                  <a:srgbClr val="173657"/>
                </a:solidFill>
                <a:latin typeface="Microsoft YaHei"/>
              </a:rPr>
              <a:t>第22帧</a:t>
            </a:r>
          </a:p>
        </p:txBody>
      </p:sp>
      <p:pic>
        <p:nvPicPr>
          <p:cNvPr id="26" name="Picture 25" descr="00022.png"/>
          <p:cNvPicPr>
            <a:picLocks noChangeAspect="1"/>
          </p:cNvPicPr>
          <p:nvPr/>
        </p:nvPicPr>
        <p:blipFill>
          <a:blip r:embed="rId4"/>
          <a:srcRect l="47266" t="36806" b="16319"/>
          <a:stretch>
            <a:fillRect/>
          </a:stretch>
        </p:blipFill>
        <p:spPr>
          <a:xfrm>
            <a:off x="6236208" y="1353312"/>
            <a:ext cx="4937760" cy="2468880"/>
          </a:xfrm>
          <a:prstGeom prst="rect">
            <a:avLst/>
          </a:prstGeom>
        </p:spPr>
      </p:pic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914400" y="4005072"/>
          <a:ext cx="10287000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194560"/>
                <a:gridCol w="2194560"/>
                <a:gridCol w="2331720"/>
                <a:gridCol w="233172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 marL="45720" marR="45720" marT="0" marB="0">
                    <a:solidFill>
                      <a:srgbClr val="155A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YaHei"/>
                        </a:rPr>
                        <a:t>第1帧强度</a:t>
                      </a:r>
                    </a:p>
                  </a:txBody>
                  <a:tcPr marL="45720" marR="45720" marT="0" marB="0">
                    <a:solidFill>
                      <a:srgbClr val="155A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YaHei"/>
                        </a:rPr>
                        <a:t>第22帧强度</a:t>
                      </a:r>
                    </a:p>
                  </a:txBody>
                  <a:tcPr marL="45720" marR="45720" marT="0" marB="0">
                    <a:solidFill>
                      <a:srgbClr val="155A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YaHei"/>
                        </a:rPr>
                        <a:t>焦点变化贡献</a:t>
                      </a:r>
                    </a:p>
                  </a:txBody>
                  <a:tcPr marL="45720" marR="45720" marT="0" marB="0">
                    <a:solidFill>
                      <a:srgbClr val="155A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YaHei"/>
                        </a:rPr>
                        <a:t>深度变化贡献</a:t>
                      </a:r>
                    </a:p>
                  </a:txBody>
                  <a:tcPr marL="45720" marR="45720" marT="0" marB="0">
                    <a:solidFill>
                      <a:srgbClr val="155A9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73657"/>
                          </a:solidFill>
                          <a:latin typeface="Microsoft YaHei"/>
                        </a:rPr>
                        <a:t>位置1</a:t>
                      </a:r>
                    </a:p>
                  </a:txBody>
                  <a:tcPr marL="45720" marR="4572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73657"/>
                          </a:solidFill>
                          <a:latin typeface="Microsoft YaHei"/>
                        </a:rPr>
                        <a:t>0.576</a:t>
                      </a:r>
                    </a:p>
                  </a:txBody>
                  <a:tcPr marL="45720" marR="4572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73657"/>
                          </a:solidFill>
                          <a:latin typeface="Microsoft YaHei"/>
                        </a:rPr>
                        <a:t>2.106</a:t>
                      </a:r>
                    </a:p>
                  </a:txBody>
                  <a:tcPr marL="45720" marR="4572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73657"/>
                          </a:solidFill>
                          <a:latin typeface="Microsoft YaHei"/>
                        </a:rPr>
                        <a:t>+1.313</a:t>
                      </a:r>
                    </a:p>
                  </a:txBody>
                  <a:tcPr marL="45720" marR="4572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73657"/>
                          </a:solidFill>
                          <a:latin typeface="Microsoft YaHei"/>
                        </a:rPr>
                        <a:t>+0.217</a:t>
                      </a:r>
                    </a:p>
                  </a:txBody>
                  <a:tcPr marL="45720" marR="45720">
                    <a:solidFill>
                      <a:srgbClr val="EEF5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73657"/>
                          </a:solidFill>
                          <a:latin typeface="Microsoft YaHei"/>
                        </a:rPr>
                        <a:t>位置2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73657"/>
                          </a:solidFill>
                          <a:latin typeface="Microsoft YaHei"/>
                        </a:rPr>
                        <a:t>0.782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73657"/>
                          </a:solidFill>
                          <a:latin typeface="Microsoft YaHei"/>
                        </a:rPr>
                        <a:t>2.051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73657"/>
                          </a:solidFill>
                          <a:latin typeface="Microsoft YaHei"/>
                        </a:rPr>
                        <a:t>+1.423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73657"/>
                          </a:solidFill>
                          <a:latin typeface="Microsoft YaHei"/>
                        </a:rPr>
                        <a:t>−0.154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73657"/>
                          </a:solidFill>
                          <a:latin typeface="Microsoft YaHei"/>
                        </a:rPr>
                        <a:t>位置4</a:t>
                      </a:r>
                    </a:p>
                  </a:txBody>
                  <a:tcPr marL="45720" marR="4572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73657"/>
                          </a:solidFill>
                          <a:latin typeface="Microsoft YaHei"/>
                        </a:rPr>
                        <a:t>1.349</a:t>
                      </a:r>
                    </a:p>
                  </a:txBody>
                  <a:tcPr marL="45720" marR="4572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73657"/>
                          </a:solidFill>
                          <a:latin typeface="Microsoft YaHei"/>
                        </a:rPr>
                        <a:t>2.635</a:t>
                      </a:r>
                    </a:p>
                  </a:txBody>
                  <a:tcPr marL="45720" marR="4572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73657"/>
                          </a:solidFill>
                          <a:latin typeface="Microsoft YaHei"/>
                        </a:rPr>
                        <a:t>+1.507</a:t>
                      </a:r>
                    </a:p>
                  </a:txBody>
                  <a:tcPr marL="45720" marR="4572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73657"/>
                          </a:solidFill>
                          <a:latin typeface="Microsoft YaHei"/>
                        </a:rPr>
                        <a:t>−0.220</a:t>
                      </a:r>
                    </a:p>
                  </a:txBody>
                  <a:tcPr marL="45720" marR="45720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914400" y="5888736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1">
                <a:solidFill>
                  <a:srgbClr val="155A96"/>
                </a:solidFill>
                <a:latin typeface="Microsoft YaHei"/>
              </a:rPr>
              <a:t>这次局部调整效果很小；固定早期焦点会影响汽车清晰度。</a:t>
            </a:r>
          </a:p>
        </p:txBody>
      </p:sp>
    </p:spTree>
    <p:extLst>
      <p:ext uri="{BB962C8B-B14F-4D97-AF65-F5344CB8AC3E}">
        <p14:creationId xmlns:p14="http://schemas.microsoft.com/office/powerpoint/2010/main" val="929678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调整鸭头深度后，细节更清楚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08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22960" y="1143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1">
                <a:solidFill>
                  <a:srgbClr val="155A96"/>
                </a:solidFill>
                <a:latin typeface="Microsoft YaHei"/>
              </a:rPr>
              <a:t>原视频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rcRect l="59570" t="22569" r="22852" b="56597"/>
          <a:stretch>
            <a:fillRect/>
          </a:stretch>
        </p:blipFill>
        <p:spPr>
          <a:xfrm>
            <a:off x="822960" y="1709928"/>
            <a:ext cx="3200400" cy="2133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480560" y="1143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1">
                <a:solidFill>
                  <a:srgbClr val="155A96"/>
                </a:solidFill>
                <a:latin typeface="Microsoft YaHei"/>
              </a:rPr>
              <a:t>原版 ATB</a:t>
            </a:r>
          </a:p>
        </p:txBody>
      </p:sp>
      <p:pic>
        <p:nvPicPr>
          <p:cNvPr id="26" name="Picture 25" descr="native-1024.png"/>
          <p:cNvPicPr>
            <a:picLocks noChangeAspect="1"/>
          </p:cNvPicPr>
          <p:nvPr/>
        </p:nvPicPr>
        <p:blipFill>
          <a:blip r:embed="rId5"/>
          <a:srcRect l="59570" t="22569" r="22852" b="56597"/>
          <a:stretch>
            <a:fillRect/>
          </a:stretch>
        </p:blipFill>
        <p:spPr>
          <a:xfrm>
            <a:off x="4480560" y="1709928"/>
            <a:ext cx="3200400" cy="2133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138160" y="1143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1">
                <a:solidFill>
                  <a:srgbClr val="155A96"/>
                </a:solidFill>
                <a:latin typeface="Microsoft YaHei"/>
              </a:rPr>
              <a:t>只调整鸭头深度</a:t>
            </a:r>
          </a:p>
        </p:txBody>
      </p:sp>
      <p:pic>
        <p:nvPicPr>
          <p:cNvPr id="28" name="Picture 27" descr="head_to_neck-1024.png"/>
          <p:cNvPicPr>
            <a:picLocks noChangeAspect="1"/>
          </p:cNvPicPr>
          <p:nvPr/>
        </p:nvPicPr>
        <p:blipFill>
          <a:blip r:embed="rId6"/>
          <a:srcRect l="59570" t="22569" r="22852" b="56597"/>
          <a:stretch>
            <a:fillRect/>
          </a:stretch>
        </p:blipFill>
        <p:spPr>
          <a:xfrm>
            <a:off x="8138160" y="1709928"/>
            <a:ext cx="3200400" cy="2133600"/>
          </a:xfrm>
          <a:prstGeom prst="rect">
            <a:avLst/>
          </a:prstGeom>
        </p:spPr>
      </p:pic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822960" y="4114800"/>
          <a:ext cx="104241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108960"/>
                <a:gridCol w="3108960"/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</a:rPr>
                        <a:t>处理方式</a:t>
                      </a:r>
                    </a:p>
                  </a:txBody>
                  <a:tcPr marL="45720" marR="45720">
                    <a:solidFill>
                      <a:srgbClr val="155A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</a:rPr>
                        <a:t>头部与原图的差异 ↓</a:t>
                      </a:r>
                    </a:p>
                  </a:txBody>
                  <a:tcPr marL="45720" marR="45720">
                    <a:solidFill>
                      <a:srgbClr val="155A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</a:rPr>
                        <a:t>头部边缘强度比</a:t>
                      </a:r>
                    </a:p>
                  </a:txBody>
                  <a:tcPr marL="45720" marR="45720">
                    <a:solidFill>
                      <a:srgbClr val="155A96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73657"/>
                          </a:solidFill>
                          <a:latin typeface="Microsoft YaHei"/>
                        </a:rPr>
                        <a:t>原版 ATB</a:t>
                      </a:r>
                    </a:p>
                  </a:txBody>
                  <a:tcPr marL="45720" marR="4572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3657"/>
                          </a:solidFill>
                          <a:latin typeface="Microsoft YaHei"/>
                        </a:rPr>
                        <a:t>7.417</a:t>
                      </a:r>
                    </a:p>
                  </a:txBody>
                  <a:tcPr marL="45720" marR="4572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3657"/>
                          </a:solidFill>
                          <a:latin typeface="Microsoft YaHei"/>
                        </a:rPr>
                        <a:t>0.429</a:t>
                      </a:r>
                    </a:p>
                  </a:txBody>
                  <a:tcPr marL="45720" marR="45720">
                    <a:solidFill>
                      <a:srgbClr val="EEF5FB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73657"/>
                          </a:solidFill>
                          <a:latin typeface="Microsoft YaHei"/>
                        </a:rPr>
                        <a:t>只调整鸭头深度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3657"/>
                          </a:solidFill>
                          <a:latin typeface="Microsoft YaHei"/>
                        </a:rPr>
                        <a:t>2.575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3657"/>
                          </a:solidFill>
                          <a:latin typeface="Microsoft YaHei"/>
                        </a:rPr>
                        <a:t>0.836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73657"/>
                          </a:solidFill>
                          <a:latin typeface="Microsoft YaHei"/>
                        </a:rPr>
                        <a:t>同样调整移到水面</a:t>
                      </a:r>
                    </a:p>
                  </a:txBody>
                  <a:tcPr marL="45720" marR="4572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3657"/>
                          </a:solidFill>
                          <a:latin typeface="Microsoft YaHei"/>
                        </a:rPr>
                        <a:t>7.413</a:t>
                      </a:r>
                    </a:p>
                  </a:txBody>
                  <a:tcPr marL="45720" marR="4572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3657"/>
                          </a:solidFill>
                          <a:latin typeface="Microsoft YaHei"/>
                        </a:rPr>
                        <a:t>0.429</a:t>
                      </a:r>
                    </a:p>
                  </a:txBody>
                  <a:tcPr marL="45720" marR="45720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822960" y="5870448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1">
                <a:solidFill>
                  <a:srgbClr val="155A96"/>
                </a:solidFill>
                <a:latin typeface="Microsoft YaHei"/>
              </a:rPr>
              <a:t>保持焦点和模型不变；这次对照中，局部调整后的效果最好。</a:t>
            </a:r>
          </a:p>
        </p:txBody>
      </p:sp>
    </p:spTree>
    <p:extLst>
      <p:ext uri="{BB962C8B-B14F-4D97-AF65-F5344CB8AC3E}">
        <p14:creationId xmlns:p14="http://schemas.microsoft.com/office/powerpoint/2010/main" val="2186001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伞绳：ATB 相对保留了更多细节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09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15A426-A68B-2D82-7FE6-D528CD56ECB3}"/>
              </a:ext>
            </a:extLst>
          </p:cNvPr>
          <p:cNvSpPr>
            <a:spLocks noGrp="1"/>
          </p:cNvSpPr>
          <p:nvPr/>
        </p:nvSpPr>
        <p:spPr>
          <a:xfrm>
            <a:off x="914400" y="5476875"/>
            <a:ext cx="102870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多种方法都会模糊细绳，ATB 相对更清楚。</a:t>
            </a:r>
            <a:endParaRPr sz="2100" b="1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97280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原视频</a:t>
            </a:r>
          </a:p>
        </p:txBody>
      </p:sp>
      <p:pic>
        <p:nvPicPr>
          <p:cNvPr id="24" name="Picture 23" descr="00000.png"/>
          <p:cNvPicPr>
            <a:picLocks noChangeAspect="1"/>
          </p:cNvPicPr>
          <p:nvPr/>
        </p:nvPicPr>
        <p:blipFill>
          <a:blip r:embed="rId3"/>
          <a:srcRect l="33984" t="3299" r="41797" b="71701"/>
          <a:stretch>
            <a:fillRect/>
          </a:stretch>
        </p:blipFill>
        <p:spPr>
          <a:xfrm>
            <a:off x="777240" y="1444752"/>
            <a:ext cx="2423160" cy="14069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520440" y="1097280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Any-to-Bokeh</a:t>
            </a:r>
          </a:p>
        </p:txBody>
      </p:sp>
      <p:pic>
        <p:nvPicPr>
          <p:cNvPr id="26" name="Picture 25" descr="00000.png"/>
          <p:cNvPicPr>
            <a:picLocks noChangeAspect="1"/>
          </p:cNvPicPr>
          <p:nvPr/>
        </p:nvPicPr>
        <p:blipFill>
          <a:blip r:embed="rId4"/>
          <a:srcRect l="33984" t="3299" r="41797" b="71701"/>
          <a:stretch>
            <a:fillRect/>
          </a:stretch>
        </p:blipFill>
        <p:spPr>
          <a:xfrm>
            <a:off x="3520440" y="1444752"/>
            <a:ext cx="2423160" cy="14069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263640" y="1097280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MPIB</a:t>
            </a:r>
          </a:p>
        </p:txBody>
      </p:sp>
      <p:pic>
        <p:nvPicPr>
          <p:cNvPr id="28" name="Picture 27" descr="00000.png"/>
          <p:cNvPicPr>
            <a:picLocks noChangeAspect="1"/>
          </p:cNvPicPr>
          <p:nvPr/>
        </p:nvPicPr>
        <p:blipFill>
          <a:blip r:embed="rId5"/>
          <a:srcRect l="33984" t="3299" r="41797" b="71701"/>
          <a:stretch>
            <a:fillRect/>
          </a:stretch>
        </p:blipFill>
        <p:spPr>
          <a:xfrm>
            <a:off x="6263640" y="1444752"/>
            <a:ext cx="2423160" cy="14069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06840" y="1097280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BokehMe</a:t>
            </a:r>
          </a:p>
        </p:txBody>
      </p:sp>
      <p:pic>
        <p:nvPicPr>
          <p:cNvPr id="30" name="Picture 29" descr="00000.png"/>
          <p:cNvPicPr>
            <a:picLocks noChangeAspect="1"/>
          </p:cNvPicPr>
          <p:nvPr/>
        </p:nvPicPr>
        <p:blipFill>
          <a:blip r:embed="rId6"/>
          <a:srcRect l="33984" t="3299" r="41797" b="71701"/>
          <a:stretch>
            <a:fillRect/>
          </a:stretch>
        </p:blipFill>
        <p:spPr>
          <a:xfrm>
            <a:off x="9006840" y="1444752"/>
            <a:ext cx="2423160" cy="14069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148840" y="3081528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DeepLens</a:t>
            </a:r>
          </a:p>
        </p:txBody>
      </p:sp>
      <p:pic>
        <p:nvPicPr>
          <p:cNvPr id="32" name="Picture 31" descr="00000.png"/>
          <p:cNvPicPr>
            <a:picLocks noChangeAspect="1"/>
          </p:cNvPicPr>
          <p:nvPr/>
        </p:nvPicPr>
        <p:blipFill>
          <a:blip r:embed="rId7"/>
          <a:srcRect l="33984" t="3299" r="41797" b="71701"/>
          <a:stretch>
            <a:fillRect/>
          </a:stretch>
        </p:blipFill>
        <p:spPr>
          <a:xfrm>
            <a:off x="2148840" y="3429000"/>
            <a:ext cx="2423160" cy="14069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892040" y="3081528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Dr.Bokeh</a:t>
            </a:r>
          </a:p>
        </p:txBody>
      </p:sp>
      <p:pic>
        <p:nvPicPr>
          <p:cNvPr id="34" name="Picture 33" descr="00000.png"/>
          <p:cNvPicPr>
            <a:picLocks noChangeAspect="1"/>
          </p:cNvPicPr>
          <p:nvPr/>
        </p:nvPicPr>
        <p:blipFill>
          <a:blip r:embed="rId8"/>
          <a:srcRect l="33984" t="3299" r="41797" b="71701"/>
          <a:stretch>
            <a:fillRect/>
          </a:stretch>
        </p:blipFill>
        <p:spPr>
          <a:xfrm>
            <a:off x="4892040" y="3429000"/>
            <a:ext cx="2423160" cy="14069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35240" y="3081528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BokehDiff</a:t>
            </a:r>
          </a:p>
        </p:txBody>
      </p:sp>
      <p:pic>
        <p:nvPicPr>
          <p:cNvPr id="36" name="Picture 35" descr="00000.png"/>
          <p:cNvPicPr>
            <a:picLocks noChangeAspect="1"/>
          </p:cNvPicPr>
          <p:nvPr/>
        </p:nvPicPr>
        <p:blipFill>
          <a:blip r:embed="rId9"/>
          <a:srcRect l="33984" t="3299" r="41797" b="71701"/>
          <a:stretch>
            <a:fillRect/>
          </a:stretch>
        </p:blipFill>
        <p:spPr>
          <a:xfrm>
            <a:off x="7635240" y="3429000"/>
            <a:ext cx="2423160" cy="1406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399545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MagicBokeh：用清晰图指导深度学习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pic>
        <p:nvPicPr>
          <p:cNvPr id="6" name="Picture 5" descr="page-09.png"/>
          <p:cNvPicPr>
            <a:picLocks noChangeAspect="1"/>
          </p:cNvPicPr>
          <p:nvPr/>
        </p:nvPicPr>
        <p:blipFill>
          <a:blip r:embed="rId2"/>
          <a:srcRect l="10500" t="36500" r="53500" b="52700"/>
          <a:stretch>
            <a:fillRect/>
          </a:stretch>
        </p:blipFill>
        <p:spPr>
          <a:xfrm>
            <a:off x="777240" y="1828800"/>
            <a:ext cx="6355080" cy="24672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207008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200" b="1">
                <a:solidFill>
                  <a:srgbClr val="173657"/>
                </a:solidFill>
                <a:latin typeface="Microsoft YaHei"/>
              </a:rPr>
              <a:t>教师看清晰图，学生看退化图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79792" y="1399032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300" b="1">
                <a:solidFill>
                  <a:srgbClr val="135A96"/>
                </a:solidFill>
                <a:latin typeface="Microsoft YaHei"/>
              </a:rPr>
              <a:t>同一场景，两种输入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79792" y="1828800"/>
            <a:ext cx="3794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教师看清晰图</a:t>
            </a:r>
          </a:p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学生看模糊、有噪声的图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9792" y="2615184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300" b="1">
                <a:solidFill>
                  <a:srgbClr val="135A96"/>
                </a:solidFill>
                <a:latin typeface="Microsoft YaHei"/>
              </a:rPr>
              <a:t>既学特征，也学深度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9792" y="3044952"/>
            <a:ext cx="3794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让学生接近教师的</a:t>
            </a:r>
          </a:p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内部特征和深度输出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9792" y="3831336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300" b="1">
                <a:solidFill>
                  <a:srgbClr val="135A96"/>
                </a:solidFill>
                <a:latin typeface="Microsoft YaHei"/>
              </a:rPr>
              <a:t>使用时只运行学生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792" y="4261104"/>
            <a:ext cx="3794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提高低质量输入上的</a:t>
            </a:r>
          </a:p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深度估计能力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504688"/>
            <a:ext cx="10652760" cy="594360"/>
          </a:xfrm>
          <a:prstGeom prst="round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56418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100" b="1">
                <a:solidFill>
                  <a:srgbClr val="135A96"/>
                </a:solidFill>
                <a:latin typeface="Microsoft YaHei"/>
              </a:rPr>
              <a:t>可借鉴：先找到可靠的深度参考，再训练局部修正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MagicBokeh：清晰和模糊区域分开处理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20700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100" b="1">
                <a:solidFill>
                  <a:srgbClr val="173657"/>
                </a:solidFill>
                <a:latin typeface="Microsoft YaHei"/>
              </a:rPr>
              <a:t>按对焦状态，控制区域之间的信息交流</a:t>
            </a:r>
          </a:p>
        </p:txBody>
      </p:sp>
      <p:pic>
        <p:nvPicPr>
          <p:cNvPr id="7" name="Picture 6" descr="page-04.png"/>
          <p:cNvPicPr>
            <a:picLocks noChangeAspect="1"/>
          </p:cNvPicPr>
          <p:nvPr/>
        </p:nvPicPr>
        <p:blipFill>
          <a:blip r:embed="rId2"/>
          <a:srcRect l="52500" t="9200" r="9800" b="76800"/>
          <a:stretch>
            <a:fillRect/>
          </a:stretch>
        </p:blipFill>
        <p:spPr>
          <a:xfrm>
            <a:off x="914400" y="1938528"/>
            <a:ext cx="6035040" cy="29002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79792" y="1399032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300" b="1">
                <a:solidFill>
                  <a:srgbClr val="135A96"/>
                </a:solidFill>
                <a:latin typeface="Microsoft YaHei"/>
              </a:rPr>
              <a:t>先划分区域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79792" y="1828800"/>
            <a:ext cx="3794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根据虚化控制图</a:t>
            </a:r>
          </a:p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区分清晰区和模糊区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9792" y="2615184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300" b="1">
                <a:solidFill>
                  <a:srgbClr val="135A96"/>
                </a:solidFill>
                <a:latin typeface="Microsoft YaHei"/>
              </a:rPr>
              <a:t>同类区域互相参考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9792" y="3044952"/>
            <a:ext cx="3794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清晰区参考清晰区</a:t>
            </a:r>
          </a:p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模糊区参考模糊区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9792" y="3831336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300" b="1">
                <a:solidFill>
                  <a:srgbClr val="135A96"/>
                </a:solidFill>
                <a:latin typeface="Microsoft YaHei"/>
              </a:rPr>
              <a:t>减少跨区域干扰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792" y="4261104"/>
            <a:ext cx="3794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在注意力中抑制</a:t>
            </a:r>
          </a:p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两类区域之间的联系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504688"/>
            <a:ext cx="10652760" cy="594360"/>
          </a:xfrm>
          <a:prstGeom prst="round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56418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100" b="1">
                <a:solidFill>
                  <a:srgbClr val="135A96"/>
                </a:solidFill>
                <a:latin typeface="Microsoft YaHei"/>
              </a:rPr>
              <a:t>可借鉴：保护主体细节，同时检查对焦区域是否分对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MagicBokeh：恢复与虚化交替训练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20700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100" b="1">
                <a:solidFill>
                  <a:srgbClr val="173657"/>
                </a:solidFill>
                <a:latin typeface="Microsoft YaHei"/>
              </a:rPr>
              <a:t>先学会恢复细节，再轮流训练两项能力</a:t>
            </a:r>
          </a:p>
        </p:txBody>
      </p:sp>
      <p:pic>
        <p:nvPicPr>
          <p:cNvPr id="7" name="Picture 6" descr="page-04.png"/>
          <p:cNvPicPr>
            <a:picLocks noChangeAspect="1"/>
          </p:cNvPicPr>
          <p:nvPr/>
        </p:nvPicPr>
        <p:blipFill>
          <a:blip r:embed="rId2"/>
          <a:srcRect l="9400" t="9200" r="9600" b="64200"/>
          <a:stretch>
            <a:fillRect/>
          </a:stretch>
        </p:blipFill>
        <p:spPr>
          <a:xfrm>
            <a:off x="777240" y="1847088"/>
            <a:ext cx="6355080" cy="27007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79792" y="1399032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300" b="1">
                <a:solidFill>
                  <a:srgbClr val="135A96"/>
                </a:solidFill>
                <a:latin typeface="Microsoft YaHei"/>
              </a:rPr>
              <a:t>先学恢复细节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79792" y="1828800"/>
            <a:ext cx="3794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用低质量图和清晰图</a:t>
            </a:r>
          </a:p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训练恢复能力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9792" y="2615184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300" b="1">
                <a:solidFill>
                  <a:srgbClr val="135A96"/>
                </a:solidFill>
                <a:latin typeface="Microsoft YaHei"/>
              </a:rPr>
              <a:t>再学按要求虚化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9792" y="3044952"/>
            <a:ext cx="3794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保留恢复参数</a:t>
            </a:r>
          </a:p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更新虚化相关参数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9792" y="3831336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300" b="1">
                <a:solidFill>
                  <a:srgbClr val="135A96"/>
                </a:solidFill>
                <a:latin typeface="Microsoft YaHei"/>
              </a:rPr>
              <a:t>交替更新两组参数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792" y="4261104"/>
            <a:ext cx="3794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恢复时，只调恢复参数</a:t>
            </a:r>
          </a:p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虚化时，只调虚化参数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504688"/>
            <a:ext cx="10652760" cy="594360"/>
          </a:xfrm>
          <a:prstGeom prst="round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56418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100" b="1">
                <a:solidFill>
                  <a:srgbClr val="135A96"/>
                </a:solidFill>
                <a:latin typeface="Microsoft YaHei"/>
              </a:rPr>
              <a:t>可借鉴：先固定 ATB，把局部修正模块单独练好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接下来做什么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3E42CED-48F0-27B1-F792-FBF719457458}"/>
              </a:ext>
            </a:extLst>
          </p:cNvPr>
          <p:cNvSpPr txBox="1"/>
          <p:nvPr/>
        </p:nvSpPr>
        <p:spPr>
          <a:xfrm>
            <a:off x="787400" y="1651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调整局部输入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C70B961-ED28-723F-31D3-EBEA66797499}"/>
              </a:ext>
            </a:extLst>
          </p:cNvPr>
          <p:cNvSpPr txBox="1"/>
          <p:nvPr/>
        </p:nvSpPr>
        <p:spPr>
          <a:xfrm>
            <a:off x="3619500" y="1651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模型保持不变，调整局部离焦量，看结果怎么变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8A5A8EE-964C-8EF7-37DE-F5CB50B59E4A}"/>
              </a:ext>
            </a:extLst>
          </p:cNvPr>
          <p:cNvSpPr txBox="1"/>
          <p:nvPr/>
        </p:nvSpPr>
        <p:spPr>
          <a:xfrm>
            <a:off x="787400" y="3175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换视频验证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4A6D852-BE32-8732-3844-665F09225A77}"/>
              </a:ext>
            </a:extLst>
          </p:cNvPr>
          <p:cNvSpPr txBox="1"/>
          <p:nvPr/>
        </p:nvSpPr>
        <p:spPr>
          <a:xfrm>
            <a:off x="3619500" y="3175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换一批视频，检查同样的调整是否有效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6F7EF0-503E-5FD5-BF3F-E81AE8170B81}"/>
              </a:ext>
            </a:extLst>
          </p:cNvPr>
          <p:cNvSpPr txBox="1"/>
          <p:nvPr/>
        </p:nvSpPr>
        <p:spPr>
          <a:xfrm>
            <a:off x="787400" y="4699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设计改进方法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302C507-3EBB-3E68-02FE-BAFF04D6322B}"/>
              </a:ext>
            </a:extLst>
          </p:cNvPr>
          <p:cNvSpPr txBox="1"/>
          <p:nvPr/>
        </p:nvSpPr>
        <p:spPr>
          <a:xfrm>
            <a:off x="3619500" y="4699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根据实验结果，确定具体改哪里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999</Words>
  <Application>Microsoft Office PowerPoint</Application>
  <DocSecurity>0</DocSecurity>
  <PresentationFormat>宽屏</PresentationFormat>
  <Paragraphs>277</Paragraphs>
  <Slides>13</Slides>
  <Notes>13</Notes>
  <HiddenSlides>0</HiddenSlides>
  <MMClips>4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9" baseType="lpstr">
      <vt:lpstr>等线</vt:lpstr>
      <vt:lpstr>Microsoft YaHei</vt:lpstr>
      <vt:lpstr>Microsoft YaHei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18</cp:revision>
  <dcterms:created xsi:type="dcterms:W3CDTF">2026-08-21T05:34:17Z</dcterms:created>
  <dcterms:modified xsi:type="dcterms:W3CDTF">2026-10-15T06:28:03Z</dcterms:modified>
</cp:coreProperties>
</file>