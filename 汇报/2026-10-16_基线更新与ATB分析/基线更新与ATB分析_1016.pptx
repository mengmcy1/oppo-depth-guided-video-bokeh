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9" r:id="rId5"/>
    <p:sldId id="270" r:id="rId6"/>
    <p:sldId id="271" r:id="rId7"/>
    <p:sldId id="274" r:id="rId8"/>
    <p:sldId id="272" r:id="rId9"/>
    <p:sldId id="275" r:id="rId10"/>
    <p:sldId id="277" r:id="rId11"/>
    <p:sldId id="278" r:id="rId12"/>
    <p:sldId id="279" r:id="rId13"/>
    <p:sldId id="27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596" y="-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69503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60695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999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01158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7720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/records/any2bokeh-encoder-scale1-experiment-4090d-20261008.json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260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40528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78902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本页技术口径、图源与待补事项见同目录《基线更新与ATB分析_1016_讲稿.docx》。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17722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来源：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</a:t>
            </a:r>
            <a:r>
              <a:rPr lang="zh-CN" altLang="en-US"/>
              <a:t>当前实验进度与方法论</a:t>
            </a:r>
            <a:r>
              <a:rPr lang="en-US" altLang="zh-CN"/>
              <a:t>.md</a:t>
            </a:r>
            <a:r>
              <a:rPr lang="zh-CN" altLang="en-US"/>
              <a:t>；</a:t>
            </a:r>
            <a:r>
              <a:rPr lang="en-US" altLang="zh-CN"/>
              <a:t>03_</a:t>
            </a:r>
            <a:r>
              <a:rPr lang="zh-CN" altLang="en-US"/>
              <a:t>实验记录</a:t>
            </a:r>
            <a:r>
              <a:rPr lang="en-US" altLang="zh-CN"/>
              <a:t>/Benchmark</a:t>
            </a:r>
            <a:r>
              <a:rPr lang="zh-CN" altLang="en-US"/>
              <a:t>与</a:t>
            </a:r>
            <a:r>
              <a:rPr lang="en-US" altLang="zh-CN"/>
              <a:t>Baseline</a:t>
            </a:r>
            <a:r>
              <a:rPr lang="zh-CN" altLang="en-US"/>
              <a:t>统一评价协议</a:t>
            </a:r>
            <a:r>
              <a:rPr lang="en-US" altLang="zh-CN"/>
              <a:t>.md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35172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2026-10-15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2026-10-15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视频虚化：基线更新</a:t>
            </a:r>
          </a:p>
          <a:p>
            <a:pPr algn="ctr">
              <a:buNone/>
            </a:pPr>
            <a:r>
              <a:rPr lang="en-US" altLang="zh-CN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ATB </a:t>
            </a:r>
            <a:r>
              <a:rPr lang="zh-CN" altLang="en-US" sz="32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效率优化与案例分析</a:t>
            </a: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8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2026.10.16</a:t>
            </a:r>
            <a:endParaRPr lang="zh-CN" altLang="en-US" sz="18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71572"/>
              </p:ext>
            </p:extLst>
          </p:nvPr>
        </p:nvGraphicFramePr>
        <p:xfrm>
          <a:off x="868680" y="1485900"/>
          <a:ext cx="10332720" cy="4191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  <a:p>
                      <a:pPr algn="ctr"/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 Alpha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387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GT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区域辅助选焦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97.79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0.0268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真实视频主体边缘保留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09854"/>
              </p:ext>
            </p:extLst>
          </p:nvPr>
        </p:nvGraphicFramePr>
        <p:xfrm>
          <a:off x="1737360" y="1645920"/>
          <a:ext cx="8595360" cy="4023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5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</a:t>
                      </a:r>
                      <a:endParaRPr sz="17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 (s/输出帧)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0.342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0.236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1.269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1398.55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给定输入下的视频处理效率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4241527"/>
              </p:ext>
            </p:extLst>
          </p:nvPr>
        </p:nvGraphicFramePr>
        <p:xfrm>
          <a:off x="914400" y="1645920"/>
          <a:ext cx="10241280" cy="37886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Core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E2E (s/25帧) ↓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显存 </a:t>
                      </a:r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alt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内存</a:t>
                      </a:r>
                    </a:p>
                    <a:p>
                      <a:pPr algn="ctr"/>
                      <a:r>
                        <a:rPr lang="en-US" altLang="zh-CN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6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GiB) ↓</a:t>
                      </a:r>
                      <a:endParaRPr sz="16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46.733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48.789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0.512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1.52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8.584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21.789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2.63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1.139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21.953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0.75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5.956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7.536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3.317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2.18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23.151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23.957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17.57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MagicBokeh</a:t>
                      </a:r>
                      <a:endParaRPr sz="19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32.571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36.570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0.684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6.79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6344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20.113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21.860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1.144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42.14</a:t>
                      </a:r>
                    </a:p>
                  </a:txBody>
                  <a:tcPr marL="45720" marR="45720" marT="18288" marB="18288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ATB 用时集中在编码与解码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100" name="Updated note 100"/>
          <p:cNvSpPr txBox="1"/>
          <p:nvPr/>
        </p:nvSpPr>
        <p:spPr>
          <a:xfrm>
            <a:off x="914400" y="5382111"/>
            <a:ext cx="10241280" cy="4462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VAE </a:t>
            </a:r>
            <a:r>
              <a:rPr lang="zh-CN" altLang="en-US" sz="2300" b="0">
                <a:solidFill>
                  <a:srgbClr val="101F37"/>
                </a:solidFill>
                <a:latin typeface="Arial"/>
                <a:ea typeface="Microsoft YaHei"/>
              </a:rPr>
              <a:t>相关阶段占总耗时的 </a:t>
            </a:r>
            <a:r>
              <a:rPr lang="en-US" altLang="zh-CN" sz="2300" b="0">
                <a:solidFill>
                  <a:srgbClr val="101F37"/>
                </a:solidFill>
                <a:latin typeface="Arial"/>
                <a:ea typeface="Microsoft YaHei"/>
              </a:rPr>
              <a:t>80.36%</a:t>
            </a:r>
            <a:endParaRPr sz="2300" b="0">
              <a:solidFill>
                <a:srgbClr val="101F37"/>
              </a:solidFill>
              <a:latin typeface="Arial"/>
              <a:ea typeface="Microsoft YaHei"/>
            </a:endParaRP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/>
        </p:nvGraphicFramePr>
        <p:xfrm>
          <a:off x="914400" y="1645920"/>
          <a:ext cx="10241280" cy="30358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阶段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耗时 (s/25帧)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时间占比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allocated峰值 (GiB)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CLIP 图像编码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0.160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0.79%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11.92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RGB VAE 编码与缓存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4.581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22.71%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CoC VAE 编码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3.787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18.78%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UNet 时空条件处理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3.742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14.39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重叠拼接与时序解码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7.841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38.87%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29.65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未归入上述阶段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0.059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完整带插桩 Core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20.171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34.29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 dirty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优化冗余计算</a:t>
            </a: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0631132"/>
              </p:ext>
            </p:extLst>
          </p:nvPr>
        </p:nvGraphicFramePr>
        <p:xfrm>
          <a:off x="914400" y="2476500"/>
          <a:ext cx="10241280" cy="17907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969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指标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原版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优化后</a:t>
                      </a:r>
                      <a:endParaRPr sz="1500" b="1">
                        <a:solidFill>
                          <a:srgbClr val="FFFFFF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变化</a:t>
                      </a:r>
                    </a:p>
                  </a:txBody>
                  <a:tcPr marL="45720" marR="45720" marT="9144" marB="9144" anchor="ctr">
                    <a:solidFill>
                      <a:srgbClr val="0D569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</a:t>
                      </a:r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帧模型耗时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</a:t>
                      </a:r>
                      <a:r>
                        <a:rPr 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s)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20.273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20.049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−1.10%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设备峰值显存 </a:t>
                      </a:r>
                      <a:r>
                        <a:rPr lang="en-US" altLang="zh-CN"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(GiB)</a:t>
                      </a:r>
                      <a:endParaRPr sz="1500" b="1">
                        <a:solidFill>
                          <a:srgbClr val="101F37"/>
                        </a:solidFill>
                        <a:latin typeface="Arial"/>
                        <a:ea typeface="Microsoft YaHei"/>
                      </a:endParaRP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42.116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37.616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−10.68%</a:t>
                      </a:r>
                    </a:p>
                  </a:txBody>
                  <a:tcPr marL="45720" marR="45720" marT="9144" marB="9144" anchor="ctr"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文本框 1">
            <a:extLst>
              <a:ext uri="{FF2B5EF4-FFF2-40B4-BE49-F238E27FC236}">
                <a16:creationId xmlns:a16="http://schemas.microsoft.com/office/drawing/2014/main" id="{4763C70D-8BD7-B250-2CA9-4AFF6469581A}"/>
              </a:ext>
            </a:extLst>
          </p:cNvPr>
          <p:cNvSpPr txBox="1"/>
          <p:nvPr/>
        </p:nvSpPr>
        <p:spPr>
          <a:xfrm>
            <a:off x="914400" y="4673600"/>
            <a:ext cx="10236200" cy="3847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设备峰值显存减少 </a:t>
            </a:r>
            <a:r>
              <a:rPr lang="en-US" altLang="zh-CN" sz="2500" b="1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4.50 GiB</a:t>
            </a:r>
            <a:endParaRPr lang="zh-CN" altLang="en-US" sz="2500" b="1">
              <a:solidFill>
                <a:srgbClr val="101F3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75BECF9-5D7B-3654-F488-A3973CB83013}"/>
              </a:ext>
            </a:extLst>
          </p:cNvPr>
          <p:cNvSpPr txBox="1"/>
          <p:nvPr/>
        </p:nvSpPr>
        <p:spPr>
          <a:xfrm>
            <a:off x="1390389" y="1295400"/>
            <a:ext cx="10236200" cy="44627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(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) ÷ 1    →   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残差 </a:t>
            </a:r>
            <a:r>
              <a:rPr lang="en-US" altLang="zh-CN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300" dirty="0">
                <a:solidFill>
                  <a:srgbClr val="0D569A"/>
                </a:solidFill>
                <a:latin typeface="Microsoft YaHei" panose="020B0503020204020204" pitchFamily="34" charset="-122"/>
              </a:rPr>
              <a:t>分支输出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同一段细绳，后面变得更模糊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EF853E4E-998A-5842-DE16-43C13404A7B4}"/>
              </a:ext>
            </a:extLst>
          </p:cNvPr>
          <p:cNvGraphicFramePr/>
          <p:nvPr/>
        </p:nvGraphicFramePr>
        <p:xfrm>
          <a:off x="914400" y="4124325"/>
          <a:ext cx="10287000" cy="1752600"/>
        </p:xfrm>
        <a:graphic>
          <a:graphicData uri="http://schemas.openxmlformats.org/drawingml/2006/table">
            <a:tbl>
              <a:tblPr/>
              <a:tblGrid>
                <a:gridCol w="342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第1帧输入虚化强度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第22帧输入虚化强度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位置1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0.708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位置2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2.027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位置4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1.398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2.843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914400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第1帧</a:t>
            </a:r>
          </a:p>
        </p:txBody>
      </p:sp>
      <p:pic>
        <p:nvPicPr>
          <p:cNvPr id="24" name="Picture 23" descr="00001.png"/>
          <p:cNvPicPr>
            <a:picLocks noChangeAspect="1"/>
          </p:cNvPicPr>
          <p:nvPr/>
        </p:nvPicPr>
        <p:blipFill>
          <a:blip r:embed="rId3"/>
          <a:srcRect l="47266" t="36806" b="16319"/>
          <a:stretch>
            <a:fillRect/>
          </a:stretch>
        </p:blipFill>
        <p:spPr>
          <a:xfrm>
            <a:off x="914400" y="1353312"/>
            <a:ext cx="4937760" cy="2468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236208" y="987552"/>
            <a:ext cx="4937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第22帧</a:t>
            </a:r>
          </a:p>
        </p:txBody>
      </p:sp>
      <p:pic>
        <p:nvPicPr>
          <p:cNvPr id="26" name="Picture 25" descr="00022.png"/>
          <p:cNvPicPr>
            <a:picLocks noChangeAspect="1"/>
          </p:cNvPicPr>
          <p:nvPr/>
        </p:nvPicPr>
        <p:blipFill>
          <a:blip r:embed="rId4"/>
          <a:srcRect l="47266" t="36806" b="16319"/>
          <a:stretch>
            <a:fillRect/>
          </a:stretch>
        </p:blipFill>
        <p:spPr>
          <a:xfrm>
            <a:off x="6236208" y="1353312"/>
            <a:ext cx="4937760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78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鸭头比身体更模糊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08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A521025-E642-0418-5612-48DCDAC5F817}"/>
              </a:ext>
            </a:extLst>
          </p:cNvPr>
          <p:cNvGraphicFramePr/>
          <p:nvPr/>
        </p:nvGraphicFramePr>
        <p:xfrm>
          <a:off x="7334250" y="2095500"/>
          <a:ext cx="3857625" cy="2209800"/>
        </p:xfrm>
        <a:graphic>
          <a:graphicData uri="http://schemas.openxmlformats.org/drawingml/2006/table">
            <a:tbl>
              <a:tblPr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7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部位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输入虚化强度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>
                      <a:solidFill>
                        <a:srgbClr val="FFFFFF"/>
                      </a:solidFill>
                      <a:prstDash val="soli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10579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头部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2.400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颈部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0.204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身体</a:t>
                      </a:r>
                    </a:p>
                  </a:txBody>
                  <a:tcPr anchor="ctr">
                    <a:lnL w="9525">
                      <a:solidFill>
                        <a:srgbClr val="FFFFFF"/>
                      </a:solidFill>
                      <a:prstDash val="soli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75" b="0">
                          <a:solidFill>
                            <a:srgbClr val="101F3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0.580</a:t>
                      </a:r>
                    </a:p>
                  </a:txBody>
                  <a:tcPr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  <a:prstDash val="soli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  <a:prstDash val="solid"/>
                    </a:lnB>
                    <a:solidFill>
                      <a:srgbClr val="EE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>
            <a:extLst>
              <a:ext uri="{FF2B5EF4-FFF2-40B4-BE49-F238E27FC236}">
                <a16:creationId xmlns:a16="http://schemas.microsoft.com/office/drawing/2014/main" id="{A363B467-A4BF-2CF0-0F60-E812F59280B1}"/>
              </a:ext>
            </a:extLst>
          </p:cNvPr>
          <p:cNvSpPr>
            <a:spLocks noGrp="1"/>
          </p:cNvSpPr>
          <p:nvPr/>
        </p:nvSpPr>
        <p:spPr>
          <a:xfrm>
            <a:off x="7334250" y="4762500"/>
            <a:ext cx="3857625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025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输入给鸭头的
虚化强度更大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原视频 · 第0帧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7240" y="1463040"/>
            <a:ext cx="3017520" cy="169735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头部放大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3"/>
          <a:srcRect l="59570" t="22569" r="22852" b="56597"/>
          <a:stretch>
            <a:fillRect/>
          </a:stretch>
        </p:blipFill>
        <p:spPr>
          <a:xfrm>
            <a:off x="777240" y="3730752"/>
            <a:ext cx="3017520" cy="2011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05072" y="1078992"/>
            <a:ext cx="301752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>
                <a:solidFill>
                  <a:srgbClr val="173657"/>
                </a:solidFill>
                <a:latin typeface="Microsoft YaHei"/>
              </a:rPr>
              <a:t>ATB 结果 · 第0帧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005072" y="1463040"/>
            <a:ext cx="3017520" cy="169735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005072" y="3364992"/>
            <a:ext cx="301752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>
                <a:solidFill>
                  <a:srgbClr val="173657"/>
                </a:solidFill>
                <a:latin typeface="Microsoft YaHei"/>
              </a:rPr>
              <a:t>头部放大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4"/>
          <a:srcRect l="59570" t="22569" r="22852" b="56597"/>
          <a:stretch>
            <a:fillRect/>
          </a:stretch>
        </p:blipFill>
        <p:spPr>
          <a:xfrm>
            <a:off x="4005072" y="3730752"/>
            <a:ext cx="301752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00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不同方法的伞绳效果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09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15A426-A68B-2D82-7FE6-D528CD56ECB3}"/>
              </a:ext>
            </a:extLst>
          </p:cNvPr>
          <p:cNvSpPr>
            <a:spLocks noGrp="1"/>
          </p:cNvSpPr>
          <p:nvPr/>
        </p:nvSpPr>
        <p:spPr>
          <a:xfrm>
            <a:off x="914400" y="5476875"/>
            <a:ext cx="10287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这张图里，ATB 的伞绳更清楚</a:t>
            </a:r>
            <a:endParaRPr sz="2100" b="1">
              <a:solidFill>
                <a:srgbClr val="0D569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原视频</a:t>
            </a:r>
          </a:p>
        </p:txBody>
      </p:sp>
      <p:pic>
        <p:nvPicPr>
          <p:cNvPr id="24" name="Picture 23" descr="00000.png"/>
          <p:cNvPicPr>
            <a:picLocks noChangeAspect="1"/>
          </p:cNvPicPr>
          <p:nvPr/>
        </p:nvPicPr>
        <p:blipFill>
          <a:blip r:embed="rId3"/>
          <a:srcRect l="33984" t="3299" r="41797" b="71701"/>
          <a:stretch>
            <a:fillRect/>
          </a:stretch>
        </p:blipFill>
        <p:spPr>
          <a:xfrm>
            <a:off x="777240" y="1444752"/>
            <a:ext cx="2423160" cy="140699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35204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Any-to-Bokeh</a:t>
            </a:r>
          </a:p>
        </p:txBody>
      </p:sp>
      <p:pic>
        <p:nvPicPr>
          <p:cNvPr id="26" name="Picture 25" descr="00000.png"/>
          <p:cNvPicPr>
            <a:picLocks noChangeAspect="1"/>
          </p:cNvPicPr>
          <p:nvPr/>
        </p:nvPicPr>
        <p:blipFill>
          <a:blip r:embed="rId4"/>
          <a:srcRect l="33984" t="3299" r="41797" b="71701"/>
          <a:stretch>
            <a:fillRect/>
          </a:stretch>
        </p:blipFill>
        <p:spPr>
          <a:xfrm>
            <a:off x="3520440" y="1444752"/>
            <a:ext cx="2423160" cy="14069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2636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MPIB</a:t>
            </a:r>
          </a:p>
        </p:txBody>
      </p:sp>
      <p:pic>
        <p:nvPicPr>
          <p:cNvPr id="28" name="Picture 27" descr="00000.png"/>
          <p:cNvPicPr>
            <a:picLocks noChangeAspect="1"/>
          </p:cNvPicPr>
          <p:nvPr/>
        </p:nvPicPr>
        <p:blipFill>
          <a:blip r:embed="rId5"/>
          <a:srcRect l="33984" t="3299" r="41797" b="71701"/>
          <a:stretch>
            <a:fillRect/>
          </a:stretch>
        </p:blipFill>
        <p:spPr>
          <a:xfrm>
            <a:off x="6263640" y="1444752"/>
            <a:ext cx="2423160" cy="14069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006840" y="1097280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BokehMe</a:t>
            </a:r>
          </a:p>
        </p:txBody>
      </p:sp>
      <p:pic>
        <p:nvPicPr>
          <p:cNvPr id="30" name="Picture 29" descr="00000.png"/>
          <p:cNvPicPr>
            <a:picLocks noChangeAspect="1"/>
          </p:cNvPicPr>
          <p:nvPr/>
        </p:nvPicPr>
        <p:blipFill>
          <a:blip r:embed="rId6"/>
          <a:srcRect l="33984" t="3299" r="41797" b="71701"/>
          <a:stretch>
            <a:fillRect/>
          </a:stretch>
        </p:blipFill>
        <p:spPr>
          <a:xfrm>
            <a:off x="9006840" y="1444752"/>
            <a:ext cx="2423160" cy="14069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488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DeepLens</a:t>
            </a:r>
          </a:p>
        </p:txBody>
      </p:sp>
      <p:pic>
        <p:nvPicPr>
          <p:cNvPr id="32" name="Picture 31" descr="00000.png"/>
          <p:cNvPicPr>
            <a:picLocks noChangeAspect="1"/>
          </p:cNvPicPr>
          <p:nvPr/>
        </p:nvPicPr>
        <p:blipFill>
          <a:blip r:embed="rId7"/>
          <a:srcRect l="33984" t="3299" r="41797" b="71701"/>
          <a:stretch>
            <a:fillRect/>
          </a:stretch>
        </p:blipFill>
        <p:spPr>
          <a:xfrm>
            <a:off x="2148840" y="3429000"/>
            <a:ext cx="2423160" cy="14069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920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Dr.Bokeh</a:t>
            </a:r>
          </a:p>
        </p:txBody>
      </p:sp>
      <p:pic>
        <p:nvPicPr>
          <p:cNvPr id="34" name="Picture 33" descr="00000.png"/>
          <p:cNvPicPr>
            <a:picLocks noChangeAspect="1"/>
          </p:cNvPicPr>
          <p:nvPr/>
        </p:nvPicPr>
        <p:blipFill>
          <a:blip r:embed="rId8"/>
          <a:srcRect l="33984" t="3299" r="41797" b="71701"/>
          <a:stretch>
            <a:fillRect/>
          </a:stretch>
        </p:blipFill>
        <p:spPr>
          <a:xfrm>
            <a:off x="4892040" y="3429000"/>
            <a:ext cx="2423160" cy="140699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35240" y="3081528"/>
            <a:ext cx="242316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>
                <a:solidFill>
                  <a:srgbClr val="173657"/>
                </a:solidFill>
                <a:latin typeface="Microsoft YaHei"/>
              </a:rPr>
              <a:t>BokehDiff</a:t>
            </a:r>
          </a:p>
        </p:txBody>
      </p:sp>
      <p:pic>
        <p:nvPicPr>
          <p:cNvPr id="36" name="Picture 35" descr="00000.png"/>
          <p:cNvPicPr>
            <a:picLocks noChangeAspect="1"/>
          </p:cNvPicPr>
          <p:nvPr/>
        </p:nvPicPr>
        <p:blipFill>
          <a:blip r:embed="rId9"/>
          <a:srcRect l="33984" t="3299" r="41797" b="71701"/>
          <a:stretch>
            <a:fillRect/>
          </a:stretch>
        </p:blipFill>
        <p:spPr>
          <a:xfrm>
            <a:off x="7635240" y="3429000"/>
            <a:ext cx="2423160" cy="1406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399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0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接下来做什么</a:t>
            </a:r>
          </a:p>
        </p:txBody>
      </p:sp>
      <p:sp>
        <p:nvSpPr>
          <p:cNvPr id="5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E42CED-48F0-27B1-F792-FBF719457458}"/>
              </a:ext>
            </a:extLst>
          </p:cNvPr>
          <p:cNvSpPr txBox="1"/>
          <p:nvPr/>
        </p:nvSpPr>
        <p:spPr>
          <a:xfrm>
            <a:off x="787400" y="1651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调整局部输入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8C70B961-ED28-723F-31D3-EBEA66797499}"/>
              </a:ext>
            </a:extLst>
          </p:cNvPr>
          <p:cNvSpPr txBox="1"/>
          <p:nvPr/>
        </p:nvSpPr>
        <p:spPr>
          <a:xfrm>
            <a:off x="3619500" y="1651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模型保持不变，调整局部离焦量，看结果怎么变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8A5A8EE-964C-8EF7-37DE-F5CB50B59E4A}"/>
              </a:ext>
            </a:extLst>
          </p:cNvPr>
          <p:cNvSpPr txBox="1"/>
          <p:nvPr/>
        </p:nvSpPr>
        <p:spPr>
          <a:xfrm>
            <a:off x="787400" y="3175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换视频验证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4A6D852-BE32-8732-3844-665F09225A77}"/>
              </a:ext>
            </a:extLst>
          </p:cNvPr>
          <p:cNvSpPr txBox="1"/>
          <p:nvPr/>
        </p:nvSpPr>
        <p:spPr>
          <a:xfrm>
            <a:off x="3619500" y="3175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换一批视频，检查同样的调整是否有效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26F7EF0-503E-5FD5-BF3F-E81AE8170B81}"/>
              </a:ext>
            </a:extLst>
          </p:cNvPr>
          <p:cNvSpPr txBox="1"/>
          <p:nvPr/>
        </p:nvSpPr>
        <p:spPr>
          <a:xfrm>
            <a:off x="787400" y="4699000"/>
            <a:ext cx="22860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100" b="1">
                <a:solidFill>
                  <a:srgbClr val="0D569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设计改进方法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C302C507-3EBB-3E68-02FE-BAFF04D6322B}"/>
              </a:ext>
            </a:extLst>
          </p:cNvPr>
          <p:cNvSpPr txBox="1"/>
          <p:nvPr/>
        </p:nvSpPr>
        <p:spPr>
          <a:xfrm>
            <a:off x="3619500" y="4699000"/>
            <a:ext cx="762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000">
                <a:solidFill>
                  <a:srgbClr val="101F3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根据实验结果，确定具体改哪里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999</Words>
  <Application>Microsoft Office PowerPoint</Application>
  <DocSecurity>0</DocSecurity>
  <PresentationFormat>宽屏</PresentationFormat>
  <Paragraphs>277</Paragraphs>
  <Slides>13</Slides>
  <Notes>13</Notes>
  <HiddenSlides>0</HiddenSlides>
  <MMClips>4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9" baseType="lpstr">
      <vt:lpstr>等线</vt:lpstr>
      <vt:lpstr>Microsoft YaHei</vt:lpstr>
      <vt:lpstr>Microsoft YaHei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18</cp:revision>
  <dcterms:created xsi:type="dcterms:W3CDTF">2026-08-21T05:34:17Z</dcterms:created>
  <dcterms:modified xsi:type="dcterms:W3CDTF">2026-10-15T06:28:03Z</dcterms:modified>
</cp:coreProperties>
</file>