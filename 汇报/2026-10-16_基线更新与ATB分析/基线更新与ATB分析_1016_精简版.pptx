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99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来源：03_实验记录/当前实验进度与方法论.md；Benchmark与Baseline统一评价协议.md；records/any2bokeh-encoder-scale1-experiment-4090d-20261008.json。PSNR/LPIPS/FVD为Synthetic 200段×25帧；VEPI为DAVIS 50段，只衡量主体边缘保留，不代表整体虚化质量。E2E为给定输入下完整25帧处理时间（Table 3B），显存为峰值；DeepLens为CPU内存。Dr.Bokeh合成结果使用GT Alpha；MagicBokeh合成结果使用GT区域辅助选焦。耗时分布为带同步插桩的分阶段测量；优化后四个固定片段（K=4/8/16/32）输出逐位一致。原14页版本保留不变。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来源：records/any2bokeh-B36-causal-diagnosis-20261015.json、any2bokeh-B33-geometry-diagnosis-20261015.json、any2bokeh-B33-causal-diagnosis-20261015.json、any2bokeh-failure-analysis-20261009-human-review.json；MagicBokeh arXiv v2 §3.2–3.4。鸭头（B36）：把鸭头预测视差调到颈部代表值，原图、焦点、K、模型不变；同面积水面对照几乎无变化。颈部值是诊断参考，不是真实深度。细绳（B33）：离焦增长主要由跟焦驱动；只修第22帧细绳窄带，输出变化很小。伞绳（B19）：用户第0帧同ROI对照认为ATB相对最清楚，作为反向证据保留，尚未做局部修正。MagicBokeh三点为候选启发，尚未实现。“输入虚化强度”=K×|视差−焦点|，是输入控制量，不是实测输出模糊半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2026-10-15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34FCF1B0-383E-411C-AC5A-4680BA8F2732}"/>
              </a:ext>
            </a:extLst>
          </p:cNvPr>
          <p:cNvSpPr>
            <a:spLocks noGrp="1"/>
          </p:cNvSpPr>
          <p:nvPr/>
        </p:nvSpPr>
        <p:spPr>
          <a:xfrm>
            <a:off x="1524000" y="1764030"/>
            <a:ext cx="9144000" cy="1959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0202" tIns="46958" rIns="90202" bIns="46958" anchor="ctr">
            <a:noAutofit/>
          </a:bodyPr>
          <a:lstStyle/>
          <a:p>
            <a:pPr algn="ctr">
              <a:buNone/>
            </a:pP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视频虚化：基线更新</a:t>
            </a:r>
          </a:p>
          <a:p>
            <a:pPr algn="ctr">
              <a:buNone/>
            </a:pP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ATB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效率优化与案例分析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9E702C5D-B811-466D-87B9-4469F8E55496}"/>
              </a:ext>
            </a:extLst>
          </p:cNvPr>
          <p:cNvSpPr>
            <a:spLocks noGrp="1"/>
          </p:cNvSpPr>
          <p:nvPr/>
        </p:nvSpPr>
        <p:spPr>
          <a:xfrm>
            <a:off x="33356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cover-line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31597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汇报人：孟辰洋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A9B675D7-E24D-45A9-A92F-1E365CD38FDE}"/>
              </a:ext>
            </a:extLst>
          </p:cNvPr>
          <p:cNvSpPr>
            <a:spLocks noGrp="1"/>
          </p:cNvSpPr>
          <p:nvPr/>
        </p:nvSpPr>
        <p:spPr>
          <a:xfrm>
            <a:off x="63074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9ECF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B30BD35B-0B78-4147-8308-E7DBA3CFAF23}"/>
              </a:ext>
            </a:extLst>
          </p:cNvPr>
          <p:cNvSpPr>
            <a:spLocks noGrp="1"/>
          </p:cNvSpPr>
          <p:nvPr/>
        </p:nvSpPr>
        <p:spPr>
          <a:xfrm>
            <a:off x="61315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2026.10.16</a:t>
            </a:r>
            <a:endParaRPr lang="zh-CN" altLang="en-US" sz="1800" b="0">
              <a:solidFill>
                <a:srgbClr val="4874C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基线结果与 ATB 效率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914400"/>
          <a:ext cx="10817352" cy="300837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48840"/>
                <a:gridCol w="1188720"/>
                <a:gridCol w="1188720"/>
                <a:gridCol w="1188720"/>
                <a:gridCol w="1325880"/>
                <a:gridCol w="1325880"/>
                <a:gridCol w="1188720"/>
                <a:gridCol w="1261872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合成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PSNR ↑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合成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LPIPS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合成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FVD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真实视频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VEPI ↑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E2E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(s/25帧)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参数量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(M)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峰值显存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(GiB)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39.71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0.015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8.94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21.86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2457.8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42.14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33.33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18.55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31.62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0.028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24.96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0.930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7.54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41.5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2.18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555F6D"/>
                          </a:solidFill>
                          <a:latin typeface="Arial"/>
                          <a:ea typeface="Microsoft YaHei"/>
                        </a:rPr>
                        <a:t>GT Alpha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31.59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25.86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21.79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51.0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2.63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28.17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0.063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40.12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48.79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1.52 (CPU)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27.06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0.132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23.96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3493.4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17.57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555F6D"/>
                          </a:solidFill>
                          <a:latin typeface="Arial"/>
                          <a:ea typeface="Microsoft YaHei"/>
                        </a:rPr>
                        <a:t>GT区域辅助选焦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25.12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0.198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97.79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0.670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36.57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1398.6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6.79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85800" y="4069080"/>
            <a:ext cx="10817352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D569A"/>
                </a:solidFill>
                <a:latin typeface="Microsoft YaHei"/>
              </a:rPr>
              <a:t>ATB 合成质量最好、真实视频边缘保留接近最好，但峰值显存 42 GiB，是所有方法中最高的。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553712"/>
            <a:ext cx="5303520" cy="169164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553712"/>
            <a:ext cx="64008" cy="169164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626864"/>
            <a:ext cx="502920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01F37"/>
                </a:solidFill>
                <a:latin typeface="Microsoft YaHei"/>
              </a:rPr>
              <a:t>ATB 用时集中在 VAE 编解码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29200"/>
            <a:ext cx="5074920" cy="11887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01F37"/>
                </a:solidFill>
                <a:latin typeface="Microsoft YaHei"/>
              </a:rPr>
              <a:t>VAE 相关阶段占模型耗时 </a:t>
            </a:r>
            <a:r>
              <a:rPr sz="1250" b="1">
                <a:solidFill>
                  <a:srgbClr val="101F37"/>
                </a:solidFill>
                <a:latin typeface="Microsoft YaHei"/>
              </a:rPr>
              <a:t>80.36%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01F37"/>
                </a:solidFill>
                <a:latin typeface="Microsoft YaHei"/>
              </a:rPr>
              <a:t>时序解码 38.9%，RGB 编码 22.7%，CoC 编码 18.8%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01F37"/>
                </a:solidFill>
                <a:latin typeface="Microsoft YaHei"/>
              </a:rPr>
              <a:t>UNet 时空条件处理只占 18.6%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553712"/>
            <a:ext cx="5303520" cy="169164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4553712"/>
            <a:ext cx="64008" cy="169164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626864"/>
            <a:ext cx="502920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01F37"/>
                </a:solidFill>
                <a:latin typeface="Microsoft YaHei"/>
              </a:rPr>
              <a:t>去掉冗余计算：显存降低 10.7%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5029200"/>
            <a:ext cx="5074920" cy="11887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01F37"/>
                </a:solidFill>
                <a:latin typeface="Microsoft YaHei"/>
              </a:rPr>
              <a:t>VAE 编码器中 (残差 + 分支输出) ÷ 1 → 残差 + 分支输出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01F37"/>
                </a:solidFill>
                <a:latin typeface="Microsoft YaHei"/>
              </a:rPr>
              <a:t>峰值显存 42.12 → 37.62 GiB（</a:t>
            </a:r>
            <a:r>
              <a:rPr sz="1250" b="1">
                <a:solidFill>
                  <a:srgbClr val="101F37"/>
                </a:solidFill>
                <a:latin typeface="Microsoft YaHei"/>
              </a:rPr>
              <a:t>−4.50 GiB</a:t>
            </a:r>
            <a:r>
              <a:rPr sz="1250" b="0">
                <a:solidFill>
                  <a:srgbClr val="101F37"/>
                </a:solidFill>
                <a:latin typeface="Microsoft YaHei"/>
              </a:rPr>
              <a:t>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01F37"/>
                </a:solidFill>
                <a:latin typeface="Microsoft YaHei"/>
              </a:rPr>
              <a:t>耗时 −1.1%；4 个固定片段输出逐位一致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案例分析：细结构的局部深度偏差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5800" y="914400"/>
            <a:ext cx="3520440" cy="269748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960120"/>
            <a:ext cx="3337560" cy="34747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1F37"/>
                </a:solidFill>
                <a:latin typeface="Microsoft YaHei"/>
              </a:rPr>
              <a:t>鸭头：头比身体更模糊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1307592"/>
            <a:ext cx="1618488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55F6D"/>
                </a:solidFill>
                <a:latin typeface="Microsoft YaHei"/>
              </a:rPr>
              <a:t>原版 ATB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rcRect l="59570" r="22852" t="22569" b="56597"/>
          <a:stretch>
            <a:fillRect/>
          </a:stretch>
        </p:blipFill>
        <p:spPr>
          <a:xfrm>
            <a:off x="795528" y="1572768"/>
            <a:ext cx="1618488" cy="10790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78024" y="1307592"/>
            <a:ext cx="1618488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55F6D"/>
                </a:solidFill>
                <a:latin typeface="Microsoft YaHei"/>
              </a:rPr>
              <a:t>只调鸭头局部深度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rcRect l="59570" r="22852" t="22569" b="56597"/>
          <a:stretch>
            <a:fillRect/>
          </a:stretch>
        </p:blipFill>
        <p:spPr>
          <a:xfrm>
            <a:off x="2478024" y="1572768"/>
            <a:ext cx="1618488" cy="107903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2816352"/>
            <a:ext cx="3337560" cy="7772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F37"/>
                </a:solidFill>
                <a:latin typeface="Microsoft YaHei"/>
              </a:rPr>
              <a:t>输入虚化强度：头 2.40，身体 0.58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1F37"/>
                </a:solidFill>
                <a:latin typeface="Microsoft YaHei"/>
              </a:rPr>
              <a:t>局部调整后头部明显变清楚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34256" y="914400"/>
            <a:ext cx="3520440" cy="269748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5696" y="960120"/>
            <a:ext cx="3337560" cy="34747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1F37"/>
                </a:solidFill>
                <a:latin typeface="Microsoft YaHei"/>
              </a:rPr>
              <a:t>细绳：跟焦后变得更模糊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4" y="1307592"/>
            <a:ext cx="1618488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55F6D"/>
                </a:solidFill>
                <a:latin typeface="Microsoft YaHei"/>
              </a:rPr>
              <a:t>第 1 帧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rcRect l="47266" t="36806" b="16319"/>
          <a:stretch>
            <a:fillRect/>
          </a:stretch>
        </p:blipFill>
        <p:spPr>
          <a:xfrm>
            <a:off x="4443984" y="1572768"/>
            <a:ext cx="1618488" cy="8092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26480" y="1307592"/>
            <a:ext cx="1618488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55F6D"/>
                </a:solidFill>
                <a:latin typeface="Microsoft YaHei"/>
              </a:rPr>
              <a:t>第 22 帧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rcRect l="47266" t="36806" b="16319"/>
          <a:stretch>
            <a:fillRect/>
          </a:stretch>
        </p:blipFill>
        <p:spPr>
          <a:xfrm>
            <a:off x="6126480" y="1572768"/>
            <a:ext cx="1618488" cy="80924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425696" y="2816352"/>
            <a:ext cx="3337560" cy="7772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F37"/>
                </a:solidFill>
                <a:latin typeface="Microsoft YaHei"/>
              </a:rPr>
              <a:t>焦点随车移动，细绳离焦量被放大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F37"/>
                </a:solidFill>
                <a:latin typeface="Microsoft YaHei"/>
              </a:rPr>
              <a:t>只修细绳局部，变化很小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82712" y="914400"/>
            <a:ext cx="3520440" cy="269748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960120"/>
            <a:ext cx="3337560" cy="34747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1F37"/>
                </a:solidFill>
                <a:latin typeface="Microsoft YaHei"/>
              </a:rPr>
              <a:t>伞绳：多种方法都模糊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1307592"/>
            <a:ext cx="1618488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55F6D"/>
                </a:solidFill>
                <a:latin typeface="Microsoft YaHei"/>
              </a:rPr>
              <a:t>Any-to-Bokeh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rcRect l="33984" r="41797" t="3299" b="71701"/>
          <a:stretch>
            <a:fillRect/>
          </a:stretch>
        </p:blipFill>
        <p:spPr>
          <a:xfrm>
            <a:off x="8092440" y="1572768"/>
            <a:ext cx="1618488" cy="93975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774936" y="1307592"/>
            <a:ext cx="1618488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55F6D"/>
                </a:solidFill>
                <a:latin typeface="Microsoft YaHei"/>
              </a:rPr>
              <a:t>MPIB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rcRect l="33984" r="41797" t="3299" b="71701"/>
          <a:stretch>
            <a:fillRect/>
          </a:stretch>
        </p:blipFill>
        <p:spPr>
          <a:xfrm>
            <a:off x="9774936" y="1572768"/>
            <a:ext cx="1618488" cy="93975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074152" y="2816352"/>
            <a:ext cx="3337560" cy="7772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F37"/>
                </a:solidFill>
                <a:latin typeface="Microsoft YaHei"/>
              </a:rPr>
              <a:t>所有方法共用同一份深度输入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01F37"/>
                </a:solidFill>
                <a:latin typeface="Microsoft YaHei"/>
              </a:rPr>
              <a:t>ATB 相对最清楚</a:t>
            </a:r>
            <a:r>
              <a:rPr sz="1200" b="0">
                <a:solidFill>
                  <a:srgbClr val="101F37"/>
                </a:solidFill>
                <a:latin typeface="Microsoft YaHei"/>
              </a:rPr>
              <a:t>，细节仍有损失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730752"/>
            <a:ext cx="10817352" cy="38404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D569A"/>
                </a:solidFill>
                <a:latin typeface="Microsoft YaHei"/>
              </a:rPr>
              <a:t>初步判断：</a:t>
            </a:r>
            <a:r>
              <a:rPr sz="1500" b="0">
                <a:solidFill>
                  <a:srgbClr val="0D569A"/>
                </a:solidFill>
                <a:latin typeface="Microsoft YaHei"/>
              </a:rPr>
              <a:t>细结构的局部深度偏差会传到虚化结果。目前只有鸭头做了局部修正，另两例还需验证。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224528"/>
            <a:ext cx="5303520" cy="178308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" y="4224528"/>
            <a:ext cx="64008" cy="178308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4297680"/>
            <a:ext cx="502920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01F37"/>
                </a:solidFill>
                <a:latin typeface="Microsoft YaHei"/>
              </a:rPr>
              <a:t>MagicBokeh 可借鉴的思路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709160"/>
            <a:ext cx="5029200" cy="1508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F37"/>
                </a:solidFill>
                <a:latin typeface="Microsoft YaHei"/>
              </a:rPr>
              <a:t>教师蒸馏：</a:t>
            </a:r>
            <a:r>
              <a:rPr sz="1300" b="0">
                <a:solidFill>
                  <a:srgbClr val="101F37"/>
                </a:solidFill>
                <a:latin typeface="Microsoft YaHei"/>
              </a:rPr>
              <a:t>用清晰输入的深度指导低质量输入，提高深度鲁棒性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F37"/>
                </a:solidFill>
                <a:latin typeface="Microsoft YaHei"/>
              </a:rPr>
              <a:t>焦点感知注意力：</a:t>
            </a:r>
            <a:r>
              <a:rPr sz="1300" b="0">
                <a:solidFill>
                  <a:srgbClr val="101F37"/>
                </a:solidFill>
                <a:latin typeface="Microsoft YaHei"/>
              </a:rPr>
              <a:t>按清晰/模糊区域限制注意力，保护主体细节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F37"/>
                </a:solidFill>
                <a:latin typeface="Microsoft YaHei"/>
              </a:rPr>
              <a:t>交替训练：</a:t>
            </a:r>
            <a:r>
              <a:rPr sz="1300" b="0">
                <a:solidFill>
                  <a:srgbClr val="101F37"/>
                </a:solidFill>
                <a:latin typeface="Microsoft YaHei"/>
              </a:rPr>
              <a:t>恢复与虚化参数分开更新，减少两项任务互相干扰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4224528"/>
            <a:ext cx="5303520" cy="178308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9632" y="4224528"/>
            <a:ext cx="64008" cy="178308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4297680"/>
            <a:ext cx="502920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01F37"/>
                </a:solidFill>
                <a:latin typeface="Microsoft YaHei"/>
              </a:rPr>
              <a:t>下一步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4709160"/>
            <a:ext cx="5029200" cy="1508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F37"/>
                </a:solidFill>
                <a:latin typeface="Microsoft YaHei"/>
              </a:rPr>
              <a:t>1. 调整局部输入：</a:t>
            </a:r>
            <a:r>
              <a:rPr sz="1300" b="0">
                <a:solidFill>
                  <a:srgbClr val="101F37"/>
                </a:solidFill>
                <a:latin typeface="Microsoft YaHei"/>
              </a:rPr>
              <a:t>模型不变，只改选定位置的离焦量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F37"/>
                </a:solidFill>
                <a:latin typeface="Microsoft YaHei"/>
              </a:rPr>
              <a:t>2. 换视频验证：</a:t>
            </a:r>
            <a:r>
              <a:rPr sz="1300" b="0">
                <a:solidFill>
                  <a:srgbClr val="101F37"/>
                </a:solidFill>
                <a:latin typeface="Microsoft YaHei"/>
              </a:rPr>
              <a:t>检查同样的调整在其他视频上是否有效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F37"/>
                </a:solidFill>
                <a:latin typeface="Microsoft YaHei"/>
              </a:rPr>
              <a:t>3. 设计改进方法：</a:t>
            </a:r>
            <a:r>
              <a:rPr sz="1300" b="0">
                <a:solidFill>
                  <a:srgbClr val="101F37"/>
                </a:solidFill>
                <a:latin typeface="Microsoft YaHei"/>
              </a:rPr>
              <a:t>自动发现并修正不可靠的局部深度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1602</Words>
  <Application>Microsoft Office PowerPoint</Application>
  <DocSecurity>0</DocSecurity>
  <PresentationFormat>宽屏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Microsoft YaHei</vt:lpstr>
      <vt:lpstr>Microsoft YaHei</vt:lpstr>
      <vt:lpstr>微软雅黑 Light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20</cp:revision>
  <dcterms:created xsi:type="dcterms:W3CDTF">2026-08-21T05:34:17Z</dcterms:created>
  <dcterms:modified xsi:type="dcterms:W3CDTF">2026-10-15T13:12:09Z</dcterms:modified>
</cp:coreProperties>
</file>